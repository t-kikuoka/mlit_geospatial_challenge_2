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48" r:id="rId1"/>
  </p:sldMasterIdLst>
  <p:notesMasterIdLst>
    <p:notesMasterId r:id="rId29"/>
  </p:notesMasterIdLst>
  <p:sldIdLst>
    <p:sldId id="256" r:id="rId2"/>
    <p:sldId id="369" r:id="rId3"/>
    <p:sldId id="257" r:id="rId4"/>
    <p:sldId id="351" r:id="rId5"/>
    <p:sldId id="354" r:id="rId6"/>
    <p:sldId id="355" r:id="rId7"/>
    <p:sldId id="2141411763" r:id="rId8"/>
    <p:sldId id="360" r:id="rId9"/>
    <p:sldId id="368" r:id="rId10"/>
    <p:sldId id="2141411758" r:id="rId11"/>
    <p:sldId id="2141411759" r:id="rId12"/>
    <p:sldId id="2141411762" r:id="rId13"/>
    <p:sldId id="373" r:id="rId14"/>
    <p:sldId id="370" r:id="rId15"/>
    <p:sldId id="2141411760" r:id="rId16"/>
    <p:sldId id="2141411761" r:id="rId17"/>
    <p:sldId id="367" r:id="rId18"/>
    <p:sldId id="2141411757" r:id="rId19"/>
    <p:sldId id="356" r:id="rId20"/>
    <p:sldId id="358" r:id="rId21"/>
    <p:sldId id="371" r:id="rId22"/>
    <p:sldId id="352" r:id="rId23"/>
    <p:sldId id="353" r:id="rId24"/>
    <p:sldId id="363" r:id="rId25"/>
    <p:sldId id="366" r:id="rId26"/>
    <p:sldId id="376" r:id="rId27"/>
    <p:sldId id="377"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D015" initials="N" lastIdx="1" clrIdx="0">
    <p:extLst>
      <p:ext uri="{19B8F6BF-5375-455C-9EA6-DF929625EA0E}">
        <p15:presenceInfo xmlns:p15="http://schemas.microsoft.com/office/powerpoint/2012/main" userId="ND015"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71744" autoAdjust="0"/>
  </p:normalViewPr>
  <p:slideViewPr>
    <p:cSldViewPr snapToGrid="0" snapToObjects="1">
      <p:cViewPr varScale="1">
        <p:scale>
          <a:sx n="103" d="100"/>
          <a:sy n="103" d="100"/>
        </p:scale>
        <p:origin x="2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459292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7451550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8280723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590751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2894165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1395021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2415411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7798349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・価格帯確率予測モデルはどのようにして作ったか</a:t>
            </a:r>
            <a:endParaRPr lang="en-US" altLang="ja-JP" dirty="0"/>
          </a:p>
          <a:p>
            <a:r>
              <a:rPr lang="en-US" altLang="ja-JP" dirty="0" err="1"/>
              <a:t>LightGBM</a:t>
            </a:r>
            <a:endParaRPr lang="en-US" altLang="ja-JP" dirty="0"/>
          </a:p>
          <a:p>
            <a:r>
              <a:rPr lang="ja-JP" altLang="en-US" dirty="0"/>
              <a:t>より詳しく言うと、価格予測モデルは</a:t>
            </a:r>
            <a:r>
              <a:rPr lang="en-US" altLang="ja-JP" dirty="0" err="1"/>
              <a:t>LightGBM</a:t>
            </a:r>
            <a:r>
              <a:rPr lang="ja-JP" altLang="en-US" dirty="0"/>
              <a:t>の回帰モデル、価格帯確率予測モデルは</a:t>
            </a:r>
            <a:r>
              <a:rPr lang="en-US" altLang="ja-JP" dirty="0" err="1"/>
              <a:t>LightGBM</a:t>
            </a:r>
            <a:r>
              <a:rPr lang="ja-JP" altLang="en-US" dirty="0"/>
              <a:t>の分類モデルというものを使っている</a:t>
            </a:r>
            <a:endParaRPr lang="en-US" altLang="ja-JP" dirty="0"/>
          </a:p>
          <a:p>
            <a:endParaRPr lang="en-US" altLang="ja-JP" dirty="0"/>
          </a:p>
          <a:p>
            <a:r>
              <a:rPr lang="en-US" altLang="ja-JP" dirty="0" err="1"/>
              <a:t>softmax</a:t>
            </a:r>
            <a:r>
              <a:rPr lang="ja-JP" altLang="en-US" dirty="0"/>
              <a:t>関数、</a:t>
            </a:r>
            <a:r>
              <a:rPr lang="en-US" altLang="ja-JP" dirty="0"/>
              <a:t>Mixture of Experts</a:t>
            </a:r>
            <a:r>
              <a:rPr lang="ja-JP" altLang="en-US" dirty="0"/>
              <a:t>モデル</a:t>
            </a:r>
            <a:endParaRPr lang="en-US" altLang="ja-JP" dirty="0"/>
          </a:p>
          <a:p>
            <a:endParaRPr lang="en-US" altLang="ja-JP" dirty="0"/>
          </a:p>
          <a:p>
            <a:r>
              <a:rPr lang="ja-JP" altLang="en-US" dirty="0"/>
              <a:t>・</a:t>
            </a:r>
            <a:r>
              <a:rPr lang="en-US" altLang="ja-JP" dirty="0"/>
              <a:t>3</a:t>
            </a:r>
            <a:r>
              <a:rPr lang="ja-JP" altLang="en-US" dirty="0"/>
              <a:t>値の価格予測モデルはどのようにして作ったか</a:t>
            </a:r>
            <a:endParaRPr lang="en-US" altLang="ja-JP" dirty="0"/>
          </a:p>
          <a:p>
            <a:r>
              <a:rPr lang="en-US" altLang="ja-JP" dirty="0"/>
              <a:t>Train</a:t>
            </a:r>
            <a:r>
              <a:rPr lang="ja-JP" altLang="en-US" dirty="0"/>
              <a:t>データ</a:t>
            </a:r>
            <a:r>
              <a:rPr lang="en-US" altLang="ja-JP" dirty="0"/>
              <a:t>(</a:t>
            </a:r>
            <a:r>
              <a:rPr lang="ja-JP" altLang="en-US" dirty="0"/>
              <a:t>学習用データ</a:t>
            </a:r>
            <a:r>
              <a:rPr lang="en-US" altLang="ja-JP" dirty="0"/>
              <a:t>)</a:t>
            </a:r>
            <a:r>
              <a:rPr lang="ja-JP" altLang="en-US" dirty="0"/>
              <a:t>でまずは価格帯確率予測モデルを作る</a:t>
            </a:r>
            <a:endParaRPr lang="en-US" altLang="ja-JP" dirty="0"/>
          </a:p>
          <a:p>
            <a:r>
              <a:rPr lang="ja-JP" altLang="en-US" dirty="0"/>
              <a:t>同様に</a:t>
            </a:r>
            <a:r>
              <a:rPr lang="en-US" altLang="ja-JP" dirty="0"/>
              <a:t>train</a:t>
            </a:r>
            <a:r>
              <a:rPr lang="ja-JP" altLang="en-US" dirty="0"/>
              <a:t>データで価格帯確率を出力する</a:t>
            </a:r>
            <a:endParaRPr lang="en-US" altLang="ja-JP" dirty="0"/>
          </a:p>
          <a:p>
            <a:r>
              <a:rPr lang="ja-JP" altLang="en-US" dirty="0"/>
              <a:t>その出力された結果によって重みをつけて価格帯予測モデルを作成する</a:t>
            </a:r>
            <a:endParaRPr lang="en-US" altLang="ja-JP"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9534547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7006582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altLang="ja-JP" sz="1200" dirty="0"/>
              <a:t>Low &lt; 15,000,000</a:t>
            </a:r>
          </a:p>
          <a:p>
            <a:r>
              <a:rPr kumimoji="1" lang="en-US" altLang="ja-JP" sz="1200" dirty="0"/>
              <a:t>15,000,000 &lt;= Mid &lt; 30,000,000</a:t>
            </a:r>
          </a:p>
          <a:p>
            <a:r>
              <a:rPr kumimoji="1" lang="en-US" altLang="ja-JP" sz="1200" dirty="0"/>
              <a:t>30,000,000 &lt;= High</a:t>
            </a:r>
            <a:endParaRPr kumimoji="1" lang="ja-JP" alt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7713583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5450894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0301570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0233700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1900310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6737580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3869410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ここからは特徴量の作成についてご説明させていただきます。</a:t>
            </a:r>
            <a:endParaRPr lang="en-US" altLang="ja-JP" dirty="0"/>
          </a:p>
          <a:p>
            <a:r>
              <a:rPr lang="ja-JP" altLang="en-US" dirty="0"/>
              <a:t>先ほども少し言葉に出させていただきましたが、特徴量とはモデルの構築や、モデルが予測するために必要な情報です。</a:t>
            </a:r>
            <a:endParaRPr lang="en-US" altLang="ja-JP" dirty="0"/>
          </a:p>
          <a:p>
            <a:r>
              <a:rPr lang="ja-JP" altLang="en-US" dirty="0"/>
              <a:t>説明変数と似たような言葉ですが、説明変数は加工前のデータのことを言い</a:t>
            </a:r>
            <a:r>
              <a:rPr lang="en-US" altLang="ja-JP" dirty="0"/>
              <a:t>(</a:t>
            </a:r>
            <a:r>
              <a:rPr lang="ja-JP" altLang="en-US" dirty="0"/>
              <a:t>→</a:t>
            </a:r>
            <a:r>
              <a:rPr lang="en-US" altLang="ja-JP" dirty="0"/>
              <a:t>)</a:t>
            </a:r>
            <a:r>
              <a:rPr lang="ja-JP" altLang="en-US" dirty="0" err="1"/>
              <a:t>、</a:t>
            </a:r>
            <a:r>
              <a:rPr lang="ja-JP" altLang="en-US" dirty="0"/>
              <a:t>その説明変数をモデルが学習・予測しやすいように加工したものが特徴量となっています</a:t>
            </a:r>
            <a:r>
              <a:rPr lang="en-US" altLang="ja-JP" dirty="0"/>
              <a:t>(</a:t>
            </a:r>
            <a:r>
              <a:rPr lang="ja-JP" altLang="en-US" dirty="0"/>
              <a:t>→</a:t>
            </a:r>
            <a:r>
              <a:rPr lang="en-US" altLang="ja-JP" dirty="0"/>
              <a:t>)</a:t>
            </a:r>
          </a:p>
          <a:p>
            <a:r>
              <a:rPr lang="ja-JP" altLang="en-US" dirty="0"/>
              <a:t>そして機械学習では、この特徴量の設計がモデルの性能・予測結果に大きく影響していきます。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2620240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例としてどのように特徴量を作成しているのかというのをいくつか紹介させていただきます。</a:t>
            </a:r>
            <a:endParaRPr lang="en-US" altLang="ja-JP" dirty="0"/>
          </a:p>
          <a:p>
            <a:r>
              <a:rPr lang="ja-JP" altLang="en-US" dirty="0"/>
              <a:t>例えば、この</a:t>
            </a:r>
            <a:r>
              <a:rPr lang="en-US" altLang="ja-JP" dirty="0" err="1"/>
              <a:t>room_floor</a:t>
            </a:r>
            <a:r>
              <a:rPr lang="ja-JP" altLang="en-US" dirty="0"/>
              <a:t>と</a:t>
            </a:r>
            <a:r>
              <a:rPr lang="en-US" altLang="ja-JP" dirty="0" err="1"/>
              <a:t>room_kaisuu</a:t>
            </a:r>
            <a:r>
              <a:rPr lang="ja-JP" altLang="en-US" dirty="0"/>
              <a:t>というデータはそれぞれ所在階数、部屋階数という説明がされているデータだったのですが、</a:t>
            </a:r>
            <a:endParaRPr lang="en-US" altLang="ja-JP" dirty="0"/>
          </a:p>
          <a:p>
            <a:r>
              <a:rPr lang="ja-JP" altLang="en-US" dirty="0"/>
              <a:t>中を確認すると同じ値が入っておりました。</a:t>
            </a:r>
            <a:endParaRPr lang="en-US" altLang="ja-JP" dirty="0"/>
          </a:p>
          <a:p>
            <a:r>
              <a:rPr lang="ja-JP" altLang="en-US" dirty="0"/>
              <a:t>こちらを両方とも使ってしまうのはあまり良くないので、右側の</a:t>
            </a:r>
            <a:r>
              <a:rPr lang="en-US" altLang="ja-JP" dirty="0" err="1"/>
              <a:t>room_kaisuu</a:t>
            </a:r>
            <a:r>
              <a:rPr lang="ja-JP" altLang="en-US" dirty="0"/>
              <a:t>の方が</a:t>
            </a:r>
            <a:r>
              <a:rPr lang="en-US" altLang="ja-JP" dirty="0" err="1"/>
              <a:t>NaN</a:t>
            </a:r>
            <a:r>
              <a:rPr lang="ja-JP" altLang="en-US" dirty="0"/>
              <a:t>という欠損値が少なくなっているので</a:t>
            </a:r>
            <a:r>
              <a:rPr lang="en-US" altLang="ja-JP" dirty="0" err="1"/>
              <a:t>room_kaisuu</a:t>
            </a:r>
            <a:r>
              <a:rPr lang="ja-JP" altLang="en-US" dirty="0"/>
              <a:t>の方を採用しております。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1960539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また、外部データを組み込んでいるものもあります</a:t>
            </a:r>
            <a:endParaRPr lang="en-US" altLang="ja-JP" dirty="0"/>
          </a:p>
          <a:p>
            <a:r>
              <a:rPr lang="en-US" dirty="0"/>
              <a:t>OpenStreetMap</a:t>
            </a:r>
            <a:r>
              <a:rPr lang="ja-JP" altLang="en-US" dirty="0"/>
              <a:t>という世界中の地図のデータベースがあるのですが、そちらから日本各地の駅のデータを持ってきました。</a:t>
            </a:r>
            <a:endParaRPr lang="en-US" altLang="ja-JP" dirty="0"/>
          </a:p>
          <a:p>
            <a:r>
              <a:rPr lang="ja-JP" altLang="en-US" dirty="0"/>
              <a:t>そこには駅の経度、緯度の情報があるので、物件の経度、緯度と合わせて、</a:t>
            </a:r>
            <a:r>
              <a:rPr lang="en-US" altLang="ja-JP" dirty="0" err="1"/>
              <a:t>station_distance</a:t>
            </a:r>
            <a:r>
              <a:rPr lang="ja-JP" altLang="en-US" dirty="0"/>
              <a:t>という最寄駅からの距離というデータを作成したりもしています。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5769282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2333280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8773516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085013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4178529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42596651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3250462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E6AE884F-2295-4574-8507-8694FFE917A7}"/>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solidFill>
              </a:defRPr>
            </a:lvl1pPr>
          </a:lstStyle>
          <a:p>
            <a:fld id="{9136B200-2C9D-451D-B277-5F6E13C22E5F}" type="slidenum">
              <a:rPr kumimoji="1" lang="ja-JP" altLang="en-US" smtClean="0"/>
              <a:pPr/>
              <a:t>‹#›</a:t>
            </a:fld>
            <a:endParaRPr kumimoji="1" lang="ja-JP" altLang="en-US" dirty="0"/>
          </a:p>
        </p:txBody>
      </p:sp>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428625" y="1163566"/>
            <a:ext cx="4357688" cy="1005818"/>
          </a:xfrm>
          <a:prstGeom prst="rect">
            <a:avLst/>
          </a:prstGeom>
          <a:noFill/>
          <a:ln/>
        </p:spPr>
        <p:txBody>
          <a:bodyPr wrap="square" lIns="0" tIns="0" rIns="0" bIns="0" rtlCol="0" anchor="t">
            <a:spAutoFit/>
          </a:bodyPr>
          <a:lstStyle/>
          <a:p>
            <a:pPr marL="0" indent="0" algn="l">
              <a:lnSpc>
                <a:spcPts val="4000"/>
              </a:lnSpc>
              <a:buNone/>
            </a:pPr>
            <a:r>
              <a:rPr lang="ja-JP" altLang="en-US" sz="3294" b="1" dirty="0">
                <a:solidFill>
                  <a:srgbClr val="1A1A1A"/>
                </a:solidFill>
              </a:rPr>
              <a:t>不動産</a:t>
            </a:r>
            <a:r>
              <a:rPr lang="en-US" sz="3294" b="1" dirty="0" err="1">
                <a:solidFill>
                  <a:srgbClr val="1A1A1A"/>
                </a:solidFill>
              </a:rPr>
              <a:t>売買価格</a:t>
            </a:r>
            <a:r>
              <a:rPr lang="en-US" sz="3294" b="1" dirty="0">
                <a:solidFill>
                  <a:srgbClr val="1A1A1A"/>
                </a:solidFill>
              </a:rPr>
              <a:t>
予測モデルの構築</a:t>
            </a:r>
            <a:endParaRPr lang="en-US" sz="3294" dirty="0"/>
          </a:p>
        </p:txBody>
      </p:sp>
      <p:sp>
        <p:nvSpPr>
          <p:cNvPr id="5" name="Text 2"/>
          <p:cNvSpPr/>
          <p:nvPr/>
        </p:nvSpPr>
        <p:spPr>
          <a:xfrm>
            <a:off x="428625" y="3405253"/>
            <a:ext cx="65" cy="170175"/>
          </a:xfrm>
          <a:prstGeom prst="rect">
            <a:avLst/>
          </a:prstGeom>
          <a:noFill/>
          <a:ln/>
        </p:spPr>
        <p:txBody>
          <a:bodyPr wrap="none" lIns="0" tIns="0" rIns="0" bIns="0" rtlCol="0" anchor="t">
            <a:spAutoFit/>
          </a:bodyPr>
          <a:lstStyle/>
          <a:p>
            <a:pPr marL="0" indent="0" algn="l">
              <a:lnSpc>
                <a:spcPts val="1400"/>
              </a:lnSpc>
              <a:buNone/>
            </a:pPr>
            <a:endParaRPr lang="en-US" sz="1050" dirty="0"/>
          </a:p>
        </p:txBody>
      </p:sp>
      <p:sp>
        <p:nvSpPr>
          <p:cNvPr id="7" name="Shape 4"/>
          <p:cNvSpPr/>
          <p:nvPr/>
        </p:nvSpPr>
        <p:spPr>
          <a:xfrm>
            <a:off x="6477862" y="730062"/>
            <a:ext cx="2461287" cy="2838965"/>
          </a:xfrm>
          <a:prstGeom prst="rect">
            <a:avLst/>
          </a:prstGeom>
          <a:solidFill>
            <a:srgbClr val="1A1A1A"/>
          </a:solidFill>
          <a:ln/>
        </p:spPr>
      </p:sp>
      <p:pic>
        <p:nvPicPr>
          <p:cNvPr id="8" name="Image 1" descr="preencoded.png"/>
          <p:cNvPicPr>
            <a:picLocks noChangeAspect="1"/>
          </p:cNvPicPr>
          <p:nvPr/>
        </p:nvPicPr>
        <p:blipFill>
          <a:blip r:embed="rId4"/>
          <a:stretch>
            <a:fillRect/>
          </a:stretch>
        </p:blipFill>
        <p:spPr>
          <a:xfrm>
            <a:off x="5293519" y="900113"/>
            <a:ext cx="3343275" cy="3343275"/>
          </a:xfrm>
          <a:prstGeom prst="rect">
            <a:avLst/>
          </a:prstGeom>
        </p:spPr>
      </p:pic>
      <p:sp>
        <p:nvSpPr>
          <p:cNvPr id="9" name="正方形/長方形 8">
            <a:extLst>
              <a:ext uri="{FF2B5EF4-FFF2-40B4-BE49-F238E27FC236}">
                <a16:creationId xmlns:a16="http://schemas.microsoft.com/office/drawing/2014/main" id="{9BF36DC5-D2F2-4BCD-B1BE-92D15C7019DF}"/>
              </a:ext>
            </a:extLst>
          </p:cNvPr>
          <p:cNvSpPr/>
          <p:nvPr/>
        </p:nvSpPr>
        <p:spPr>
          <a:xfrm>
            <a:off x="4572000" y="8216"/>
            <a:ext cx="4559904" cy="51352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descr="real_estate_pop_illustration.png">
            <a:extLst>
              <a:ext uri="{FF2B5EF4-FFF2-40B4-BE49-F238E27FC236}">
                <a16:creationId xmlns:a16="http://schemas.microsoft.com/office/drawing/2014/main" id="{1C0FE8B5-6011-45D7-811E-C4ED6CD24E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930273"/>
            <a:ext cx="4578047" cy="3282953"/>
          </a:xfrm>
          <a:prstGeom prst="rect">
            <a:avLst/>
          </a:prstGeom>
          <a:noFill/>
          <a:extLst>
            <a:ext uri="{909E8E84-426E-40DD-AFC4-6F175D3DCCD1}">
              <a14:hiddenFill xmlns:a14="http://schemas.microsoft.com/office/drawing/2010/main">
                <a:solidFill>
                  <a:srgbClr val="FFFFFF"/>
                </a:solidFill>
              </a14:hiddenFill>
            </a:ext>
          </a:extLst>
        </p:spPr>
      </p:pic>
      <p:sp>
        <p:nvSpPr>
          <p:cNvPr id="13" name="Text 1">
            <a:extLst>
              <a:ext uri="{FF2B5EF4-FFF2-40B4-BE49-F238E27FC236}">
                <a16:creationId xmlns:a16="http://schemas.microsoft.com/office/drawing/2014/main" id="{E81F5E23-2CAE-444F-B6B9-3441503DBE47}"/>
              </a:ext>
            </a:extLst>
          </p:cNvPr>
          <p:cNvSpPr/>
          <p:nvPr/>
        </p:nvSpPr>
        <p:spPr>
          <a:xfrm>
            <a:off x="2779395" y="3396594"/>
            <a:ext cx="1081023" cy="272254"/>
          </a:xfrm>
          <a:prstGeom prst="rect">
            <a:avLst/>
          </a:prstGeom>
          <a:noFill/>
          <a:ln/>
        </p:spPr>
        <p:txBody>
          <a:bodyPr wrap="square" lIns="0" tIns="0" rIns="0" bIns="0" rtlCol="0" anchor="t">
            <a:spAutoFit/>
          </a:bodyPr>
          <a:lstStyle/>
          <a:p>
            <a:pPr marL="0" indent="0" algn="l">
              <a:lnSpc>
                <a:spcPts val="2200"/>
              </a:lnSpc>
              <a:buNone/>
            </a:pPr>
            <a:r>
              <a:rPr lang="ja-JP" altLang="en-US" sz="1704" b="1" dirty="0"/>
              <a:t>菊岡 達也</a:t>
            </a:r>
            <a:endParaRPr lang="en-US" sz="1704"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500" y="618353"/>
            <a:ext cx="1967814" cy="310406"/>
          </a:xfrm>
          <a:prstGeom prst="rect">
            <a:avLst/>
          </a:prstGeom>
          <a:noFill/>
          <a:ln/>
        </p:spPr>
        <p:txBody>
          <a:bodyPr wrap="square" lIns="0" tIns="0" rIns="0" bIns="0" rtlCol="0" anchor="t">
            <a:spAutoFit/>
          </a:bodyPr>
          <a:lstStyle/>
          <a:p>
            <a:pPr marL="0" indent="0" algn="l">
              <a:lnSpc>
                <a:spcPts val="2200"/>
              </a:lnSpc>
              <a:buNone/>
            </a:pPr>
            <a:r>
              <a:rPr lang="ja-JP" altLang="en-US" sz="2800" b="1" dirty="0">
                <a:solidFill>
                  <a:srgbClr val="0070C0"/>
                </a:solidFill>
              </a:rPr>
              <a:t>目次</a:t>
            </a:r>
            <a:endParaRPr lang="en-US" sz="2800" b="1" dirty="0">
              <a:solidFill>
                <a:srgbClr val="0070C0"/>
              </a:solidFill>
            </a:endParaRPr>
          </a:p>
        </p:txBody>
      </p:sp>
      <p:sp>
        <p:nvSpPr>
          <p:cNvPr id="2" name="テキスト ボックス 1">
            <a:extLst>
              <a:ext uri="{FF2B5EF4-FFF2-40B4-BE49-F238E27FC236}">
                <a16:creationId xmlns:a16="http://schemas.microsoft.com/office/drawing/2014/main" id="{FD557017-0360-4817-B67F-3B605064F9C7}"/>
              </a:ext>
            </a:extLst>
          </p:cNvPr>
          <p:cNvSpPr txBox="1"/>
          <p:nvPr/>
        </p:nvSpPr>
        <p:spPr>
          <a:xfrm>
            <a:off x="881963" y="1309817"/>
            <a:ext cx="1346887" cy="369332"/>
          </a:xfrm>
          <a:prstGeom prst="rect">
            <a:avLst/>
          </a:prstGeom>
          <a:noFill/>
        </p:spPr>
        <p:txBody>
          <a:bodyPr wrap="square" rtlCol="0">
            <a:spAutoFit/>
          </a:bodyPr>
          <a:lstStyle/>
          <a:p>
            <a:r>
              <a:rPr kumimoji="1" lang="ja-JP" altLang="en-US" dirty="0"/>
              <a:t>自己紹介</a:t>
            </a:r>
          </a:p>
        </p:txBody>
      </p:sp>
      <p:sp>
        <p:nvSpPr>
          <p:cNvPr id="30" name="テキスト ボックス 29">
            <a:extLst>
              <a:ext uri="{FF2B5EF4-FFF2-40B4-BE49-F238E27FC236}">
                <a16:creationId xmlns:a16="http://schemas.microsoft.com/office/drawing/2014/main" id="{158CA6CB-6AFB-4940-8DF8-681550F1D686}"/>
              </a:ext>
            </a:extLst>
          </p:cNvPr>
          <p:cNvSpPr txBox="1"/>
          <p:nvPr/>
        </p:nvSpPr>
        <p:spPr>
          <a:xfrm>
            <a:off x="881962" y="1779374"/>
            <a:ext cx="1346887" cy="369332"/>
          </a:xfrm>
          <a:prstGeom prst="rect">
            <a:avLst/>
          </a:prstGeom>
          <a:noFill/>
        </p:spPr>
        <p:txBody>
          <a:bodyPr wrap="square" rtlCol="0">
            <a:spAutoFit/>
          </a:bodyPr>
          <a:lstStyle/>
          <a:p>
            <a:r>
              <a:rPr kumimoji="1" lang="ja-JP" altLang="en-US" dirty="0"/>
              <a:t>背景</a:t>
            </a:r>
          </a:p>
        </p:txBody>
      </p:sp>
      <p:sp>
        <p:nvSpPr>
          <p:cNvPr id="32" name="テキスト ボックス 31">
            <a:extLst>
              <a:ext uri="{FF2B5EF4-FFF2-40B4-BE49-F238E27FC236}">
                <a16:creationId xmlns:a16="http://schemas.microsoft.com/office/drawing/2014/main" id="{F8201FF4-43DD-4C5F-8C6B-69A76253D3C5}"/>
              </a:ext>
            </a:extLst>
          </p:cNvPr>
          <p:cNvSpPr txBox="1"/>
          <p:nvPr/>
        </p:nvSpPr>
        <p:spPr>
          <a:xfrm>
            <a:off x="881961" y="2248931"/>
            <a:ext cx="1346887" cy="369332"/>
          </a:xfrm>
          <a:prstGeom prst="rect">
            <a:avLst/>
          </a:prstGeom>
          <a:noFill/>
        </p:spPr>
        <p:txBody>
          <a:bodyPr wrap="square" rtlCol="0">
            <a:spAutoFit/>
          </a:bodyPr>
          <a:lstStyle/>
          <a:p>
            <a:r>
              <a:rPr kumimoji="1" lang="ja-JP" altLang="en-US" dirty="0"/>
              <a:t>目的</a:t>
            </a:r>
          </a:p>
        </p:txBody>
      </p:sp>
      <p:sp>
        <p:nvSpPr>
          <p:cNvPr id="33" name="テキスト ボックス 32">
            <a:extLst>
              <a:ext uri="{FF2B5EF4-FFF2-40B4-BE49-F238E27FC236}">
                <a16:creationId xmlns:a16="http://schemas.microsoft.com/office/drawing/2014/main" id="{E5442D08-DDB9-48EC-B891-321AD83BF5CB}"/>
              </a:ext>
            </a:extLst>
          </p:cNvPr>
          <p:cNvSpPr txBox="1"/>
          <p:nvPr/>
        </p:nvSpPr>
        <p:spPr>
          <a:xfrm>
            <a:off x="881960" y="2718488"/>
            <a:ext cx="2051214" cy="369332"/>
          </a:xfrm>
          <a:prstGeom prst="rect">
            <a:avLst/>
          </a:prstGeom>
          <a:noFill/>
        </p:spPr>
        <p:txBody>
          <a:bodyPr wrap="square" rtlCol="0">
            <a:spAutoFit/>
          </a:bodyPr>
          <a:lstStyle/>
          <a:p>
            <a:r>
              <a:rPr kumimoji="1" lang="ja-JP" altLang="en-US" dirty="0"/>
              <a:t>データについて</a:t>
            </a:r>
          </a:p>
        </p:txBody>
      </p:sp>
      <p:sp>
        <p:nvSpPr>
          <p:cNvPr id="34" name="テキスト ボックス 33">
            <a:extLst>
              <a:ext uri="{FF2B5EF4-FFF2-40B4-BE49-F238E27FC236}">
                <a16:creationId xmlns:a16="http://schemas.microsoft.com/office/drawing/2014/main" id="{581F5412-F98B-4A77-982D-D0483801B4AC}"/>
              </a:ext>
            </a:extLst>
          </p:cNvPr>
          <p:cNvSpPr txBox="1"/>
          <p:nvPr/>
        </p:nvSpPr>
        <p:spPr>
          <a:xfrm>
            <a:off x="881959" y="3188045"/>
            <a:ext cx="1830349" cy="369332"/>
          </a:xfrm>
          <a:prstGeom prst="rect">
            <a:avLst/>
          </a:prstGeom>
          <a:noFill/>
        </p:spPr>
        <p:txBody>
          <a:bodyPr wrap="square" rtlCol="0">
            <a:spAutoFit/>
          </a:bodyPr>
          <a:lstStyle/>
          <a:p>
            <a:r>
              <a:rPr kumimoji="1" lang="ja-JP" altLang="en-US" dirty="0"/>
              <a:t>学習手法</a:t>
            </a:r>
          </a:p>
        </p:txBody>
      </p:sp>
      <p:sp>
        <p:nvSpPr>
          <p:cNvPr id="35" name="テキスト ボックス 34">
            <a:extLst>
              <a:ext uri="{FF2B5EF4-FFF2-40B4-BE49-F238E27FC236}">
                <a16:creationId xmlns:a16="http://schemas.microsoft.com/office/drawing/2014/main" id="{951291C1-C2BB-4ECB-8E2B-82056FE5E172}"/>
              </a:ext>
            </a:extLst>
          </p:cNvPr>
          <p:cNvSpPr txBox="1"/>
          <p:nvPr/>
        </p:nvSpPr>
        <p:spPr>
          <a:xfrm>
            <a:off x="881958" y="3662411"/>
            <a:ext cx="1830349" cy="369332"/>
          </a:xfrm>
          <a:prstGeom prst="rect">
            <a:avLst/>
          </a:prstGeom>
          <a:noFill/>
        </p:spPr>
        <p:txBody>
          <a:bodyPr wrap="square" rtlCol="0">
            <a:spAutoFit/>
          </a:bodyPr>
          <a:lstStyle/>
          <a:p>
            <a:r>
              <a:rPr kumimoji="1" lang="ja-JP" altLang="en-US" dirty="0"/>
              <a:t>特徴量の作成</a:t>
            </a:r>
          </a:p>
        </p:txBody>
      </p:sp>
      <p:sp>
        <p:nvSpPr>
          <p:cNvPr id="36" name="テキスト ボックス 35">
            <a:extLst>
              <a:ext uri="{FF2B5EF4-FFF2-40B4-BE49-F238E27FC236}">
                <a16:creationId xmlns:a16="http://schemas.microsoft.com/office/drawing/2014/main" id="{27434BEA-34E9-4473-BFF2-4CF12F870CB0}"/>
              </a:ext>
            </a:extLst>
          </p:cNvPr>
          <p:cNvSpPr txBox="1"/>
          <p:nvPr/>
        </p:nvSpPr>
        <p:spPr>
          <a:xfrm>
            <a:off x="4910261" y="1309817"/>
            <a:ext cx="1830349" cy="369332"/>
          </a:xfrm>
          <a:prstGeom prst="rect">
            <a:avLst/>
          </a:prstGeom>
          <a:noFill/>
        </p:spPr>
        <p:txBody>
          <a:bodyPr wrap="square" rtlCol="0">
            <a:spAutoFit/>
          </a:bodyPr>
          <a:lstStyle/>
          <a:p>
            <a:r>
              <a:rPr kumimoji="1" lang="ja-JP" altLang="en-US" dirty="0"/>
              <a:t>モデルについて</a:t>
            </a:r>
          </a:p>
        </p:txBody>
      </p:sp>
      <p:sp>
        <p:nvSpPr>
          <p:cNvPr id="37" name="テキスト ボックス 36">
            <a:extLst>
              <a:ext uri="{FF2B5EF4-FFF2-40B4-BE49-F238E27FC236}">
                <a16:creationId xmlns:a16="http://schemas.microsoft.com/office/drawing/2014/main" id="{306C6C6F-62BC-4FFE-B769-80A486A1CAAF}"/>
              </a:ext>
            </a:extLst>
          </p:cNvPr>
          <p:cNvSpPr txBox="1"/>
          <p:nvPr/>
        </p:nvSpPr>
        <p:spPr>
          <a:xfrm>
            <a:off x="4910261" y="1779374"/>
            <a:ext cx="1830349" cy="369332"/>
          </a:xfrm>
          <a:prstGeom prst="rect">
            <a:avLst/>
          </a:prstGeom>
          <a:noFill/>
        </p:spPr>
        <p:txBody>
          <a:bodyPr wrap="square" rtlCol="0">
            <a:spAutoFit/>
          </a:bodyPr>
          <a:lstStyle/>
          <a:p>
            <a:r>
              <a:rPr kumimoji="1" lang="ja-JP" altLang="en-US" dirty="0"/>
              <a:t>結果</a:t>
            </a:r>
          </a:p>
        </p:txBody>
      </p:sp>
      <p:sp>
        <p:nvSpPr>
          <p:cNvPr id="38" name="テキスト ボックス 37">
            <a:extLst>
              <a:ext uri="{FF2B5EF4-FFF2-40B4-BE49-F238E27FC236}">
                <a16:creationId xmlns:a16="http://schemas.microsoft.com/office/drawing/2014/main" id="{9927B318-3838-4809-B887-7973A7EA308A}"/>
              </a:ext>
            </a:extLst>
          </p:cNvPr>
          <p:cNvSpPr txBox="1"/>
          <p:nvPr/>
        </p:nvSpPr>
        <p:spPr>
          <a:xfrm>
            <a:off x="4910260" y="2248931"/>
            <a:ext cx="1830349" cy="369332"/>
          </a:xfrm>
          <a:prstGeom prst="rect">
            <a:avLst/>
          </a:prstGeom>
          <a:noFill/>
        </p:spPr>
        <p:txBody>
          <a:bodyPr wrap="square" rtlCol="0">
            <a:spAutoFit/>
          </a:bodyPr>
          <a:lstStyle/>
          <a:p>
            <a:r>
              <a:rPr kumimoji="1" lang="ja-JP" altLang="en-US" dirty="0"/>
              <a:t>結論</a:t>
            </a:r>
          </a:p>
        </p:txBody>
      </p:sp>
      <p:sp>
        <p:nvSpPr>
          <p:cNvPr id="39" name="テキスト ボックス 38">
            <a:extLst>
              <a:ext uri="{FF2B5EF4-FFF2-40B4-BE49-F238E27FC236}">
                <a16:creationId xmlns:a16="http://schemas.microsoft.com/office/drawing/2014/main" id="{E615792E-6FC5-4C7E-8576-AD5BC2F4B980}"/>
              </a:ext>
            </a:extLst>
          </p:cNvPr>
          <p:cNvSpPr txBox="1"/>
          <p:nvPr/>
        </p:nvSpPr>
        <p:spPr>
          <a:xfrm>
            <a:off x="4910262" y="3197663"/>
            <a:ext cx="1830349" cy="369332"/>
          </a:xfrm>
          <a:prstGeom prst="rect">
            <a:avLst/>
          </a:prstGeom>
          <a:noFill/>
        </p:spPr>
        <p:txBody>
          <a:bodyPr wrap="square" rtlCol="0">
            <a:spAutoFit/>
          </a:bodyPr>
          <a:lstStyle/>
          <a:p>
            <a:r>
              <a:rPr kumimoji="1" lang="ja-JP" altLang="en-US" dirty="0"/>
              <a:t>今後</a:t>
            </a:r>
          </a:p>
        </p:txBody>
      </p:sp>
      <p:sp>
        <p:nvSpPr>
          <p:cNvPr id="40" name="テキスト ボックス 39">
            <a:extLst>
              <a:ext uri="{FF2B5EF4-FFF2-40B4-BE49-F238E27FC236}">
                <a16:creationId xmlns:a16="http://schemas.microsoft.com/office/drawing/2014/main" id="{04498604-BCA2-42D7-AD83-431B9708E8C7}"/>
              </a:ext>
            </a:extLst>
          </p:cNvPr>
          <p:cNvSpPr txBox="1"/>
          <p:nvPr/>
        </p:nvSpPr>
        <p:spPr>
          <a:xfrm>
            <a:off x="2933180" y="1309817"/>
            <a:ext cx="1830349" cy="369332"/>
          </a:xfrm>
          <a:prstGeom prst="rect">
            <a:avLst/>
          </a:prstGeom>
          <a:noFill/>
        </p:spPr>
        <p:txBody>
          <a:bodyPr wrap="square" rtlCol="0">
            <a:spAutoFit/>
          </a:bodyPr>
          <a:lstStyle/>
          <a:p>
            <a:r>
              <a:rPr kumimoji="1" lang="en-US" altLang="ja-JP" dirty="0"/>
              <a:t>…… 2</a:t>
            </a:r>
            <a:endParaRPr kumimoji="1" lang="ja-JP" altLang="en-US" dirty="0"/>
          </a:p>
        </p:txBody>
      </p:sp>
      <p:sp>
        <p:nvSpPr>
          <p:cNvPr id="41" name="テキスト ボックス 40">
            <a:extLst>
              <a:ext uri="{FF2B5EF4-FFF2-40B4-BE49-F238E27FC236}">
                <a16:creationId xmlns:a16="http://schemas.microsoft.com/office/drawing/2014/main" id="{363DE7E1-E192-4A58-AC15-6CFB2DAA74C9}"/>
              </a:ext>
            </a:extLst>
          </p:cNvPr>
          <p:cNvSpPr txBox="1"/>
          <p:nvPr/>
        </p:nvSpPr>
        <p:spPr>
          <a:xfrm>
            <a:off x="2933179" y="1779374"/>
            <a:ext cx="1830349" cy="369332"/>
          </a:xfrm>
          <a:prstGeom prst="rect">
            <a:avLst/>
          </a:prstGeom>
          <a:noFill/>
        </p:spPr>
        <p:txBody>
          <a:bodyPr wrap="square" rtlCol="0">
            <a:spAutoFit/>
          </a:bodyPr>
          <a:lstStyle/>
          <a:p>
            <a:r>
              <a:rPr kumimoji="1" lang="en-US" altLang="ja-JP" dirty="0"/>
              <a:t>…… 3</a:t>
            </a:r>
            <a:endParaRPr kumimoji="1" lang="ja-JP" altLang="en-US" dirty="0"/>
          </a:p>
        </p:txBody>
      </p:sp>
      <p:sp>
        <p:nvSpPr>
          <p:cNvPr id="42" name="テキスト ボックス 41">
            <a:extLst>
              <a:ext uri="{FF2B5EF4-FFF2-40B4-BE49-F238E27FC236}">
                <a16:creationId xmlns:a16="http://schemas.microsoft.com/office/drawing/2014/main" id="{C221F323-AD76-49AD-B296-45A64D4F6DB0}"/>
              </a:ext>
            </a:extLst>
          </p:cNvPr>
          <p:cNvSpPr txBox="1"/>
          <p:nvPr/>
        </p:nvSpPr>
        <p:spPr>
          <a:xfrm>
            <a:off x="2933178" y="2248931"/>
            <a:ext cx="1830349" cy="369332"/>
          </a:xfrm>
          <a:prstGeom prst="rect">
            <a:avLst/>
          </a:prstGeom>
          <a:noFill/>
        </p:spPr>
        <p:txBody>
          <a:bodyPr wrap="square" rtlCol="0">
            <a:spAutoFit/>
          </a:bodyPr>
          <a:lstStyle/>
          <a:p>
            <a:r>
              <a:rPr kumimoji="1" lang="en-US" altLang="ja-JP" dirty="0"/>
              <a:t>…… 4</a:t>
            </a:r>
            <a:endParaRPr kumimoji="1" lang="ja-JP" altLang="en-US" dirty="0"/>
          </a:p>
        </p:txBody>
      </p:sp>
      <p:sp>
        <p:nvSpPr>
          <p:cNvPr id="43" name="テキスト ボックス 42">
            <a:extLst>
              <a:ext uri="{FF2B5EF4-FFF2-40B4-BE49-F238E27FC236}">
                <a16:creationId xmlns:a16="http://schemas.microsoft.com/office/drawing/2014/main" id="{3FA1D3D3-2478-4FAA-B33F-66D39F6710FE}"/>
              </a:ext>
            </a:extLst>
          </p:cNvPr>
          <p:cNvSpPr txBox="1"/>
          <p:nvPr/>
        </p:nvSpPr>
        <p:spPr>
          <a:xfrm>
            <a:off x="2933177" y="2718488"/>
            <a:ext cx="1830349" cy="369332"/>
          </a:xfrm>
          <a:prstGeom prst="rect">
            <a:avLst/>
          </a:prstGeom>
          <a:noFill/>
        </p:spPr>
        <p:txBody>
          <a:bodyPr wrap="square" rtlCol="0">
            <a:spAutoFit/>
          </a:bodyPr>
          <a:lstStyle/>
          <a:p>
            <a:r>
              <a:rPr kumimoji="1" lang="en-US" altLang="ja-JP" dirty="0"/>
              <a:t>…… 5</a:t>
            </a:r>
            <a:endParaRPr kumimoji="1" lang="ja-JP" altLang="en-US" dirty="0"/>
          </a:p>
        </p:txBody>
      </p:sp>
      <p:sp>
        <p:nvSpPr>
          <p:cNvPr id="44" name="テキスト ボックス 43">
            <a:extLst>
              <a:ext uri="{FF2B5EF4-FFF2-40B4-BE49-F238E27FC236}">
                <a16:creationId xmlns:a16="http://schemas.microsoft.com/office/drawing/2014/main" id="{1C8C483F-C4B6-4BB1-86AD-301683CE023C}"/>
              </a:ext>
            </a:extLst>
          </p:cNvPr>
          <p:cNvSpPr txBox="1"/>
          <p:nvPr/>
        </p:nvSpPr>
        <p:spPr>
          <a:xfrm>
            <a:off x="2933176" y="3188045"/>
            <a:ext cx="1830349" cy="369332"/>
          </a:xfrm>
          <a:prstGeom prst="rect">
            <a:avLst/>
          </a:prstGeom>
          <a:noFill/>
        </p:spPr>
        <p:txBody>
          <a:bodyPr wrap="square" rtlCol="0">
            <a:spAutoFit/>
          </a:bodyPr>
          <a:lstStyle/>
          <a:p>
            <a:r>
              <a:rPr kumimoji="1" lang="en-US" altLang="ja-JP" dirty="0"/>
              <a:t>…… 6</a:t>
            </a:r>
            <a:endParaRPr kumimoji="1" lang="ja-JP" altLang="en-US" dirty="0"/>
          </a:p>
        </p:txBody>
      </p:sp>
      <p:sp>
        <p:nvSpPr>
          <p:cNvPr id="45" name="テキスト ボックス 44">
            <a:extLst>
              <a:ext uri="{FF2B5EF4-FFF2-40B4-BE49-F238E27FC236}">
                <a16:creationId xmlns:a16="http://schemas.microsoft.com/office/drawing/2014/main" id="{03F42D18-7D63-4D45-A177-CEEA0C13BA6C}"/>
              </a:ext>
            </a:extLst>
          </p:cNvPr>
          <p:cNvSpPr txBox="1"/>
          <p:nvPr/>
        </p:nvSpPr>
        <p:spPr>
          <a:xfrm>
            <a:off x="2933175" y="3662411"/>
            <a:ext cx="1830349" cy="369332"/>
          </a:xfrm>
          <a:prstGeom prst="rect">
            <a:avLst/>
          </a:prstGeom>
          <a:noFill/>
        </p:spPr>
        <p:txBody>
          <a:bodyPr wrap="square" rtlCol="0">
            <a:spAutoFit/>
          </a:bodyPr>
          <a:lstStyle/>
          <a:p>
            <a:r>
              <a:rPr kumimoji="1" lang="en-US" altLang="ja-JP" dirty="0"/>
              <a:t>…… 7~10</a:t>
            </a:r>
            <a:endParaRPr kumimoji="1" lang="ja-JP" altLang="en-US" dirty="0"/>
          </a:p>
        </p:txBody>
      </p:sp>
      <p:sp>
        <p:nvSpPr>
          <p:cNvPr id="46" name="テキスト ボックス 45">
            <a:extLst>
              <a:ext uri="{FF2B5EF4-FFF2-40B4-BE49-F238E27FC236}">
                <a16:creationId xmlns:a16="http://schemas.microsoft.com/office/drawing/2014/main" id="{58B7547C-9FB8-47ED-8D4E-1C97C4BD485A}"/>
              </a:ext>
            </a:extLst>
          </p:cNvPr>
          <p:cNvSpPr txBox="1"/>
          <p:nvPr/>
        </p:nvSpPr>
        <p:spPr>
          <a:xfrm>
            <a:off x="6740610" y="1309817"/>
            <a:ext cx="1830349" cy="369332"/>
          </a:xfrm>
          <a:prstGeom prst="rect">
            <a:avLst/>
          </a:prstGeom>
          <a:noFill/>
        </p:spPr>
        <p:txBody>
          <a:bodyPr wrap="square" rtlCol="0">
            <a:spAutoFit/>
          </a:bodyPr>
          <a:lstStyle/>
          <a:p>
            <a:r>
              <a:rPr kumimoji="1" lang="en-US" altLang="ja-JP" dirty="0"/>
              <a:t>…… 11,12 </a:t>
            </a:r>
            <a:endParaRPr kumimoji="1" lang="ja-JP" altLang="en-US" dirty="0"/>
          </a:p>
        </p:txBody>
      </p:sp>
      <p:sp>
        <p:nvSpPr>
          <p:cNvPr id="47" name="テキスト ボックス 46">
            <a:extLst>
              <a:ext uri="{FF2B5EF4-FFF2-40B4-BE49-F238E27FC236}">
                <a16:creationId xmlns:a16="http://schemas.microsoft.com/office/drawing/2014/main" id="{4B8077E0-1DB7-45AD-A2DB-472A8CA663BE}"/>
              </a:ext>
            </a:extLst>
          </p:cNvPr>
          <p:cNvSpPr txBox="1"/>
          <p:nvPr/>
        </p:nvSpPr>
        <p:spPr>
          <a:xfrm>
            <a:off x="6740608" y="1829486"/>
            <a:ext cx="1830349" cy="369332"/>
          </a:xfrm>
          <a:prstGeom prst="rect">
            <a:avLst/>
          </a:prstGeom>
          <a:noFill/>
        </p:spPr>
        <p:txBody>
          <a:bodyPr wrap="square" rtlCol="0">
            <a:spAutoFit/>
          </a:bodyPr>
          <a:lstStyle/>
          <a:p>
            <a:r>
              <a:rPr kumimoji="1" lang="en-US" altLang="ja-JP" dirty="0"/>
              <a:t>…… 13~15</a:t>
            </a:r>
            <a:endParaRPr kumimoji="1" lang="ja-JP" altLang="en-US" dirty="0"/>
          </a:p>
        </p:txBody>
      </p:sp>
      <p:sp>
        <p:nvSpPr>
          <p:cNvPr id="48" name="テキスト ボックス 47">
            <a:extLst>
              <a:ext uri="{FF2B5EF4-FFF2-40B4-BE49-F238E27FC236}">
                <a16:creationId xmlns:a16="http://schemas.microsoft.com/office/drawing/2014/main" id="{1D33A4D9-8450-407C-8D93-A07C659C60C7}"/>
              </a:ext>
            </a:extLst>
          </p:cNvPr>
          <p:cNvSpPr txBox="1"/>
          <p:nvPr/>
        </p:nvSpPr>
        <p:spPr>
          <a:xfrm>
            <a:off x="6740610" y="2299044"/>
            <a:ext cx="1830349" cy="369332"/>
          </a:xfrm>
          <a:prstGeom prst="rect">
            <a:avLst/>
          </a:prstGeom>
          <a:noFill/>
        </p:spPr>
        <p:txBody>
          <a:bodyPr wrap="square" rtlCol="0">
            <a:spAutoFit/>
          </a:bodyPr>
          <a:lstStyle/>
          <a:p>
            <a:r>
              <a:rPr kumimoji="1" lang="en-US" altLang="ja-JP" dirty="0"/>
              <a:t>…… 16</a:t>
            </a:r>
            <a:endParaRPr kumimoji="1" lang="ja-JP" altLang="en-US" dirty="0"/>
          </a:p>
        </p:txBody>
      </p:sp>
      <p:sp>
        <p:nvSpPr>
          <p:cNvPr id="49" name="テキスト ボックス 48">
            <a:extLst>
              <a:ext uri="{FF2B5EF4-FFF2-40B4-BE49-F238E27FC236}">
                <a16:creationId xmlns:a16="http://schemas.microsoft.com/office/drawing/2014/main" id="{CDF31B6A-3028-45B5-BBE7-1586EA61083A}"/>
              </a:ext>
            </a:extLst>
          </p:cNvPr>
          <p:cNvSpPr txBox="1"/>
          <p:nvPr/>
        </p:nvSpPr>
        <p:spPr>
          <a:xfrm>
            <a:off x="6740613" y="3197663"/>
            <a:ext cx="1830349" cy="369332"/>
          </a:xfrm>
          <a:prstGeom prst="rect">
            <a:avLst/>
          </a:prstGeom>
          <a:noFill/>
        </p:spPr>
        <p:txBody>
          <a:bodyPr wrap="square" rtlCol="0">
            <a:spAutoFit/>
          </a:bodyPr>
          <a:lstStyle/>
          <a:p>
            <a:r>
              <a:rPr kumimoji="1" lang="en-US" altLang="ja-JP" dirty="0"/>
              <a:t>…… 18</a:t>
            </a:r>
            <a:endParaRPr kumimoji="1" lang="ja-JP" altLang="en-US" dirty="0"/>
          </a:p>
        </p:txBody>
      </p:sp>
      <p:sp>
        <p:nvSpPr>
          <p:cNvPr id="23" name="Text 3">
            <a:extLst>
              <a:ext uri="{FF2B5EF4-FFF2-40B4-BE49-F238E27FC236}">
                <a16:creationId xmlns:a16="http://schemas.microsoft.com/office/drawing/2014/main" id="{9C50A5D5-EF0A-4014-ACB3-D36563A175FF}"/>
              </a:ext>
            </a:extLst>
          </p:cNvPr>
          <p:cNvSpPr/>
          <p:nvPr/>
        </p:nvSpPr>
        <p:spPr>
          <a:xfrm>
            <a:off x="8530242" y="385788"/>
            <a:ext cx="296556" cy="194284"/>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0288D1"/>
                </a:solidFill>
              </a:rPr>
              <a:t>1/1</a:t>
            </a:r>
            <a:r>
              <a:rPr lang="en-US" altLang="ja-JP" sz="1193" b="1" dirty="0">
                <a:solidFill>
                  <a:srgbClr val="0288D1"/>
                </a:solidFill>
              </a:rPr>
              <a:t>6</a:t>
            </a:r>
            <a:endParaRPr lang="en-US" sz="1193" dirty="0">
              <a:solidFill>
                <a:srgbClr val="0288D1"/>
              </a:solidFill>
            </a:endParaRPr>
          </a:p>
        </p:txBody>
      </p:sp>
      <p:sp>
        <p:nvSpPr>
          <p:cNvPr id="26" name="テキスト ボックス 25">
            <a:extLst>
              <a:ext uri="{FF2B5EF4-FFF2-40B4-BE49-F238E27FC236}">
                <a16:creationId xmlns:a16="http://schemas.microsoft.com/office/drawing/2014/main" id="{8E2425D0-0AB2-482B-BACB-8CC0675CA979}"/>
              </a:ext>
            </a:extLst>
          </p:cNvPr>
          <p:cNvSpPr txBox="1"/>
          <p:nvPr/>
        </p:nvSpPr>
        <p:spPr>
          <a:xfrm>
            <a:off x="4910264" y="2723296"/>
            <a:ext cx="1830343" cy="369332"/>
          </a:xfrm>
          <a:prstGeom prst="rect">
            <a:avLst/>
          </a:prstGeom>
          <a:noFill/>
        </p:spPr>
        <p:txBody>
          <a:bodyPr wrap="square" rtlCol="0">
            <a:spAutoFit/>
          </a:bodyPr>
          <a:lstStyle/>
          <a:p>
            <a:r>
              <a:rPr kumimoji="1" lang="ja-JP" altLang="en-US" dirty="0"/>
              <a:t>苦労点・工夫点</a:t>
            </a:r>
          </a:p>
        </p:txBody>
      </p:sp>
      <p:sp>
        <p:nvSpPr>
          <p:cNvPr id="27" name="テキスト ボックス 26">
            <a:extLst>
              <a:ext uri="{FF2B5EF4-FFF2-40B4-BE49-F238E27FC236}">
                <a16:creationId xmlns:a16="http://schemas.microsoft.com/office/drawing/2014/main" id="{DC2BE701-7B74-43E2-823B-5F0EBD303C64}"/>
              </a:ext>
            </a:extLst>
          </p:cNvPr>
          <p:cNvSpPr txBox="1"/>
          <p:nvPr/>
        </p:nvSpPr>
        <p:spPr>
          <a:xfrm>
            <a:off x="6740613" y="2723296"/>
            <a:ext cx="1830349" cy="369332"/>
          </a:xfrm>
          <a:prstGeom prst="rect">
            <a:avLst/>
          </a:prstGeom>
          <a:noFill/>
        </p:spPr>
        <p:txBody>
          <a:bodyPr wrap="square" rtlCol="0">
            <a:spAutoFit/>
          </a:bodyPr>
          <a:lstStyle/>
          <a:p>
            <a:r>
              <a:rPr kumimoji="1" lang="en-US" altLang="ja-JP" dirty="0"/>
              <a:t>…… 17 </a:t>
            </a:r>
            <a:endParaRPr kumimoji="1" lang="ja-JP" altLang="en-US" dirty="0"/>
          </a:p>
        </p:txBody>
      </p:sp>
    </p:spTree>
    <p:extLst>
      <p:ext uri="{BB962C8B-B14F-4D97-AF65-F5344CB8AC3E}">
        <p14:creationId xmlns:p14="http://schemas.microsoft.com/office/powerpoint/2010/main" val="971360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571500" y="618353"/>
            <a:ext cx="1967814" cy="310406"/>
          </a:xfrm>
          <a:prstGeom prst="rect">
            <a:avLst/>
          </a:prstGeom>
          <a:noFill/>
          <a:ln/>
        </p:spPr>
        <p:txBody>
          <a:bodyPr wrap="square" lIns="0" tIns="0" rIns="0" bIns="0" rtlCol="0" anchor="t">
            <a:spAutoFit/>
          </a:bodyPr>
          <a:lstStyle/>
          <a:p>
            <a:pPr marL="0" indent="0" algn="l">
              <a:lnSpc>
                <a:spcPts val="2200"/>
              </a:lnSpc>
              <a:buNone/>
            </a:pPr>
            <a:r>
              <a:rPr lang="ja-JP" altLang="en-US" sz="2800" b="1" dirty="0">
                <a:solidFill>
                  <a:srgbClr val="0070C0"/>
                </a:solidFill>
              </a:rPr>
              <a:t>背景</a:t>
            </a:r>
            <a:endParaRPr lang="en-US" sz="2800" b="1" dirty="0">
              <a:solidFill>
                <a:srgbClr val="0070C0"/>
              </a:solidFill>
            </a:endParaRPr>
          </a:p>
        </p:txBody>
      </p:sp>
      <p:sp>
        <p:nvSpPr>
          <p:cNvPr id="13" name="テキスト ボックス 12">
            <a:extLst>
              <a:ext uri="{FF2B5EF4-FFF2-40B4-BE49-F238E27FC236}">
                <a16:creationId xmlns:a16="http://schemas.microsoft.com/office/drawing/2014/main" id="{E528BA52-2094-4C86-83AC-4D18D6B26DAD}"/>
              </a:ext>
            </a:extLst>
          </p:cNvPr>
          <p:cNvSpPr txBox="1"/>
          <p:nvPr/>
        </p:nvSpPr>
        <p:spPr>
          <a:xfrm>
            <a:off x="2839737" y="1075947"/>
            <a:ext cx="3464526" cy="369332"/>
          </a:xfrm>
          <a:prstGeom prst="rect">
            <a:avLst/>
          </a:prstGeom>
          <a:noFill/>
        </p:spPr>
        <p:txBody>
          <a:bodyPr wrap="square" rtlCol="0">
            <a:spAutoFit/>
          </a:bodyPr>
          <a:lstStyle/>
          <a:p>
            <a:r>
              <a:rPr kumimoji="1" lang="ja-JP" altLang="en-US" b="1" dirty="0"/>
              <a:t>不動産価格決定プロセスの変化</a:t>
            </a:r>
          </a:p>
        </p:txBody>
      </p:sp>
      <p:sp>
        <p:nvSpPr>
          <p:cNvPr id="14" name="テキスト ボックス 13">
            <a:extLst>
              <a:ext uri="{FF2B5EF4-FFF2-40B4-BE49-F238E27FC236}">
                <a16:creationId xmlns:a16="http://schemas.microsoft.com/office/drawing/2014/main" id="{E0F0ADBF-50F9-4D67-BB3B-B197AAA6B4A9}"/>
              </a:ext>
            </a:extLst>
          </p:cNvPr>
          <p:cNvSpPr txBox="1"/>
          <p:nvPr/>
        </p:nvSpPr>
        <p:spPr>
          <a:xfrm>
            <a:off x="1961636" y="1723768"/>
            <a:ext cx="756851" cy="369332"/>
          </a:xfrm>
          <a:prstGeom prst="rect">
            <a:avLst/>
          </a:prstGeom>
          <a:noFill/>
        </p:spPr>
        <p:txBody>
          <a:bodyPr wrap="square" rtlCol="0">
            <a:spAutoFit/>
          </a:bodyPr>
          <a:lstStyle/>
          <a:p>
            <a:r>
              <a:rPr kumimoji="1" lang="ja-JP" altLang="en-US" b="1" dirty="0">
                <a:solidFill>
                  <a:srgbClr val="002060"/>
                </a:solidFill>
              </a:rPr>
              <a:t>現在</a:t>
            </a:r>
          </a:p>
        </p:txBody>
      </p:sp>
      <p:sp>
        <p:nvSpPr>
          <p:cNvPr id="15" name="四角形: 角を丸くする 14">
            <a:extLst>
              <a:ext uri="{FF2B5EF4-FFF2-40B4-BE49-F238E27FC236}">
                <a16:creationId xmlns:a16="http://schemas.microsoft.com/office/drawing/2014/main" id="{379AFFF8-5257-4910-9046-FF3BA3D7AB8F}"/>
              </a:ext>
            </a:extLst>
          </p:cNvPr>
          <p:cNvSpPr/>
          <p:nvPr/>
        </p:nvSpPr>
        <p:spPr>
          <a:xfrm>
            <a:off x="1357699" y="2238117"/>
            <a:ext cx="1865870" cy="310406"/>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物件データ</a:t>
            </a:r>
          </a:p>
        </p:txBody>
      </p:sp>
      <p:sp>
        <p:nvSpPr>
          <p:cNvPr id="16" name="四角形: 角を丸くする 15">
            <a:extLst>
              <a:ext uri="{FF2B5EF4-FFF2-40B4-BE49-F238E27FC236}">
                <a16:creationId xmlns:a16="http://schemas.microsoft.com/office/drawing/2014/main" id="{70558960-3705-4BE7-8C36-9E6653B66F7A}"/>
              </a:ext>
            </a:extLst>
          </p:cNvPr>
          <p:cNvSpPr/>
          <p:nvPr/>
        </p:nvSpPr>
        <p:spPr>
          <a:xfrm>
            <a:off x="1128325" y="3264447"/>
            <a:ext cx="2324615" cy="310406"/>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人の経験・勘・記憶</a:t>
            </a:r>
          </a:p>
        </p:txBody>
      </p:sp>
      <p:sp>
        <p:nvSpPr>
          <p:cNvPr id="17" name="四角形: 角を丸くする 16">
            <a:extLst>
              <a:ext uri="{FF2B5EF4-FFF2-40B4-BE49-F238E27FC236}">
                <a16:creationId xmlns:a16="http://schemas.microsoft.com/office/drawing/2014/main" id="{1F1C57D4-D2D7-42DC-96FE-403B55B38294}"/>
              </a:ext>
            </a:extLst>
          </p:cNvPr>
          <p:cNvSpPr/>
          <p:nvPr/>
        </p:nvSpPr>
        <p:spPr>
          <a:xfrm>
            <a:off x="1357699" y="4270803"/>
            <a:ext cx="1865870" cy="310406"/>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価格決定</a:t>
            </a:r>
          </a:p>
        </p:txBody>
      </p:sp>
      <p:sp>
        <p:nvSpPr>
          <p:cNvPr id="19" name="矢印: 下 18">
            <a:extLst>
              <a:ext uri="{FF2B5EF4-FFF2-40B4-BE49-F238E27FC236}">
                <a16:creationId xmlns:a16="http://schemas.microsoft.com/office/drawing/2014/main" id="{CFE56F68-29C2-475E-98A7-FF0B635496D3}"/>
              </a:ext>
            </a:extLst>
          </p:cNvPr>
          <p:cNvSpPr/>
          <p:nvPr/>
        </p:nvSpPr>
        <p:spPr>
          <a:xfrm>
            <a:off x="1837295" y="3722728"/>
            <a:ext cx="906677" cy="46003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矢印: 下 19">
            <a:extLst>
              <a:ext uri="{FF2B5EF4-FFF2-40B4-BE49-F238E27FC236}">
                <a16:creationId xmlns:a16="http://schemas.microsoft.com/office/drawing/2014/main" id="{EADD6871-BDA7-4B4D-8040-14AF9F106805}"/>
              </a:ext>
            </a:extLst>
          </p:cNvPr>
          <p:cNvSpPr/>
          <p:nvPr/>
        </p:nvSpPr>
        <p:spPr>
          <a:xfrm>
            <a:off x="1837295" y="2695656"/>
            <a:ext cx="906677" cy="46003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6AEF0DA2-68C4-483B-AA7C-D2FDDFADB7C5}"/>
              </a:ext>
            </a:extLst>
          </p:cNvPr>
          <p:cNvSpPr txBox="1"/>
          <p:nvPr/>
        </p:nvSpPr>
        <p:spPr>
          <a:xfrm>
            <a:off x="6200003" y="1723768"/>
            <a:ext cx="756851" cy="369332"/>
          </a:xfrm>
          <a:prstGeom prst="rect">
            <a:avLst/>
          </a:prstGeom>
          <a:noFill/>
        </p:spPr>
        <p:txBody>
          <a:bodyPr wrap="square" rtlCol="0">
            <a:spAutoFit/>
          </a:bodyPr>
          <a:lstStyle/>
          <a:p>
            <a:r>
              <a:rPr kumimoji="1" lang="ja-JP" altLang="en-US" b="1" dirty="0">
                <a:solidFill>
                  <a:srgbClr val="002060"/>
                </a:solidFill>
              </a:rPr>
              <a:t>将来</a:t>
            </a:r>
          </a:p>
        </p:txBody>
      </p:sp>
      <p:sp>
        <p:nvSpPr>
          <p:cNvPr id="22" name="四角形: 角を丸くする 21">
            <a:extLst>
              <a:ext uri="{FF2B5EF4-FFF2-40B4-BE49-F238E27FC236}">
                <a16:creationId xmlns:a16="http://schemas.microsoft.com/office/drawing/2014/main" id="{1FF09497-6F3E-4D2B-B0D0-E73060302644}"/>
              </a:ext>
            </a:extLst>
          </p:cNvPr>
          <p:cNvSpPr/>
          <p:nvPr/>
        </p:nvSpPr>
        <p:spPr>
          <a:xfrm>
            <a:off x="5596066" y="2238117"/>
            <a:ext cx="1865870" cy="310406"/>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物件データ</a:t>
            </a:r>
          </a:p>
        </p:txBody>
      </p:sp>
      <p:sp>
        <p:nvSpPr>
          <p:cNvPr id="23" name="四角形: 角を丸くする 22">
            <a:extLst>
              <a:ext uri="{FF2B5EF4-FFF2-40B4-BE49-F238E27FC236}">
                <a16:creationId xmlns:a16="http://schemas.microsoft.com/office/drawing/2014/main" id="{3B78C9C4-A093-4339-8A07-35F635156CDF}"/>
              </a:ext>
            </a:extLst>
          </p:cNvPr>
          <p:cNvSpPr/>
          <p:nvPr/>
        </p:nvSpPr>
        <p:spPr>
          <a:xfrm>
            <a:off x="5596066" y="3589615"/>
            <a:ext cx="1865870" cy="310406"/>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rPr>
              <a:t>価格予測</a:t>
            </a:r>
          </a:p>
        </p:txBody>
      </p:sp>
      <p:sp>
        <p:nvSpPr>
          <p:cNvPr id="25" name="矢印: 下 24">
            <a:extLst>
              <a:ext uri="{FF2B5EF4-FFF2-40B4-BE49-F238E27FC236}">
                <a16:creationId xmlns:a16="http://schemas.microsoft.com/office/drawing/2014/main" id="{26B6AFFE-427A-487D-A749-DF75BB3E7D71}"/>
              </a:ext>
            </a:extLst>
          </p:cNvPr>
          <p:cNvSpPr/>
          <p:nvPr/>
        </p:nvSpPr>
        <p:spPr>
          <a:xfrm>
            <a:off x="6075662" y="2637340"/>
            <a:ext cx="906677" cy="19158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四角形: 角を丸くする 25">
            <a:extLst>
              <a:ext uri="{FF2B5EF4-FFF2-40B4-BE49-F238E27FC236}">
                <a16:creationId xmlns:a16="http://schemas.microsoft.com/office/drawing/2014/main" id="{E01B6273-511C-4FDF-9CBF-55123E341472}"/>
              </a:ext>
            </a:extLst>
          </p:cNvPr>
          <p:cNvSpPr/>
          <p:nvPr/>
        </p:nvSpPr>
        <p:spPr>
          <a:xfrm>
            <a:off x="5366691" y="2920715"/>
            <a:ext cx="2324615" cy="310406"/>
          </a:xfrm>
          <a:prstGeom prst="round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rPr>
              <a:t>機械学習モデル</a:t>
            </a:r>
          </a:p>
        </p:txBody>
      </p:sp>
      <p:sp>
        <p:nvSpPr>
          <p:cNvPr id="27" name="矢印: 右 26">
            <a:extLst>
              <a:ext uri="{FF2B5EF4-FFF2-40B4-BE49-F238E27FC236}">
                <a16:creationId xmlns:a16="http://schemas.microsoft.com/office/drawing/2014/main" id="{61DB6CEF-0390-472B-A1A9-5CF101A634F1}"/>
              </a:ext>
            </a:extLst>
          </p:cNvPr>
          <p:cNvSpPr/>
          <p:nvPr/>
        </p:nvSpPr>
        <p:spPr>
          <a:xfrm>
            <a:off x="3965551" y="3183537"/>
            <a:ext cx="906677" cy="460033"/>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BD9902EA-579A-4927-AAEE-69812C627813}"/>
              </a:ext>
            </a:extLst>
          </p:cNvPr>
          <p:cNvSpPr/>
          <p:nvPr/>
        </p:nvSpPr>
        <p:spPr>
          <a:xfrm>
            <a:off x="1051093" y="2093099"/>
            <a:ext cx="2489118" cy="272603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四角形: 角を丸くする 28">
            <a:extLst>
              <a:ext uri="{FF2B5EF4-FFF2-40B4-BE49-F238E27FC236}">
                <a16:creationId xmlns:a16="http://schemas.microsoft.com/office/drawing/2014/main" id="{B2461C1D-72C8-4431-A6C9-5EA2B51291F1}"/>
              </a:ext>
            </a:extLst>
          </p:cNvPr>
          <p:cNvSpPr/>
          <p:nvPr/>
        </p:nvSpPr>
        <p:spPr>
          <a:xfrm>
            <a:off x="5284440" y="2093099"/>
            <a:ext cx="2489118" cy="272603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descr="困った顔で働く会社員のイラスト（男性）">
            <a:extLst>
              <a:ext uri="{FF2B5EF4-FFF2-40B4-BE49-F238E27FC236}">
                <a16:creationId xmlns:a16="http://schemas.microsoft.com/office/drawing/2014/main" id="{9713D038-ADC8-40E4-A3C3-C0D8C0896C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6877" y="3546307"/>
            <a:ext cx="849649" cy="849649"/>
          </a:xfrm>
          <a:prstGeom prst="rect">
            <a:avLst/>
          </a:prstGeom>
          <a:noFill/>
          <a:extLst>
            <a:ext uri="{909E8E84-426E-40DD-AFC4-6F175D3DCCD1}">
              <a14:hiddenFill xmlns:a14="http://schemas.microsoft.com/office/drawing/2010/main">
                <a:solidFill>
                  <a:srgbClr val="FFFFFF"/>
                </a:solidFill>
              </a14:hiddenFill>
            </a:ext>
          </a:extLst>
        </p:spPr>
      </p:pic>
      <p:pic>
        <p:nvPicPr>
          <p:cNvPr id="31" name="図 30">
            <a:extLst>
              <a:ext uri="{FF2B5EF4-FFF2-40B4-BE49-F238E27FC236}">
                <a16:creationId xmlns:a16="http://schemas.microsoft.com/office/drawing/2014/main" id="{D51B1287-ACA8-473D-AD6C-F3F431E2CA37}"/>
              </a:ext>
            </a:extLst>
          </p:cNvPr>
          <p:cNvPicPr>
            <a:picLocks noChangeAspect="1"/>
          </p:cNvPicPr>
          <p:nvPr/>
        </p:nvPicPr>
        <p:blipFill>
          <a:blip r:embed="rId4"/>
          <a:stretch>
            <a:fillRect/>
          </a:stretch>
        </p:blipFill>
        <p:spPr>
          <a:xfrm>
            <a:off x="4724029" y="3541333"/>
            <a:ext cx="859595" cy="859595"/>
          </a:xfrm>
          <a:prstGeom prst="rect">
            <a:avLst/>
          </a:prstGeom>
        </p:spPr>
      </p:pic>
      <p:sp>
        <p:nvSpPr>
          <p:cNvPr id="30" name="Text 3">
            <a:extLst>
              <a:ext uri="{FF2B5EF4-FFF2-40B4-BE49-F238E27FC236}">
                <a16:creationId xmlns:a16="http://schemas.microsoft.com/office/drawing/2014/main" id="{5C2DCFE8-073B-40F5-9AE1-CEAC1A10E220}"/>
              </a:ext>
            </a:extLst>
          </p:cNvPr>
          <p:cNvSpPr/>
          <p:nvPr/>
        </p:nvSpPr>
        <p:spPr>
          <a:xfrm>
            <a:off x="8530242" y="385788"/>
            <a:ext cx="296556" cy="194284"/>
          </a:xfrm>
          <a:prstGeom prst="rect">
            <a:avLst/>
          </a:prstGeom>
          <a:noFill/>
          <a:ln/>
        </p:spPr>
        <p:txBody>
          <a:bodyPr wrap="none" lIns="0" tIns="0" rIns="0" bIns="0" rtlCol="0" anchor="t">
            <a:spAutoFit/>
          </a:bodyPr>
          <a:lstStyle/>
          <a:p>
            <a:pPr>
              <a:lnSpc>
                <a:spcPts val="1600"/>
              </a:lnSpc>
            </a:pPr>
            <a:r>
              <a:rPr lang="en-US" altLang="ja-JP" sz="1193" b="1" dirty="0">
                <a:solidFill>
                  <a:srgbClr val="0288D1"/>
                </a:solidFill>
              </a:rPr>
              <a:t>3/16</a:t>
            </a:r>
            <a:endParaRPr lang="en-US" altLang="ja-JP" sz="1193" dirty="0">
              <a:solidFill>
                <a:srgbClr val="0288D1"/>
              </a:solidFill>
            </a:endParaRPr>
          </a:p>
        </p:txBody>
      </p:sp>
      <p:sp>
        <p:nvSpPr>
          <p:cNvPr id="32" name="四角形: 角を丸くする 31">
            <a:extLst>
              <a:ext uri="{FF2B5EF4-FFF2-40B4-BE49-F238E27FC236}">
                <a16:creationId xmlns:a16="http://schemas.microsoft.com/office/drawing/2014/main" id="{A891B8FB-158C-4E46-BCBD-E45D13156E2B}"/>
              </a:ext>
            </a:extLst>
          </p:cNvPr>
          <p:cNvSpPr/>
          <p:nvPr/>
        </p:nvSpPr>
        <p:spPr>
          <a:xfrm>
            <a:off x="5596066" y="4270803"/>
            <a:ext cx="1865870" cy="310406"/>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価格決定</a:t>
            </a:r>
          </a:p>
        </p:txBody>
      </p:sp>
      <p:sp>
        <p:nvSpPr>
          <p:cNvPr id="33" name="矢印: 下 32">
            <a:extLst>
              <a:ext uri="{FF2B5EF4-FFF2-40B4-BE49-F238E27FC236}">
                <a16:creationId xmlns:a16="http://schemas.microsoft.com/office/drawing/2014/main" id="{AA1A2A39-529E-4856-B985-E72DFCB5DABA}"/>
              </a:ext>
            </a:extLst>
          </p:cNvPr>
          <p:cNvSpPr/>
          <p:nvPr/>
        </p:nvSpPr>
        <p:spPr>
          <a:xfrm>
            <a:off x="6075659" y="3314577"/>
            <a:ext cx="906677" cy="19158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矢印: 下 33">
            <a:extLst>
              <a:ext uri="{FF2B5EF4-FFF2-40B4-BE49-F238E27FC236}">
                <a16:creationId xmlns:a16="http://schemas.microsoft.com/office/drawing/2014/main" id="{F58B176F-3962-4AA5-9E97-C57B00EA4CED}"/>
              </a:ext>
            </a:extLst>
          </p:cNvPr>
          <p:cNvSpPr/>
          <p:nvPr/>
        </p:nvSpPr>
        <p:spPr>
          <a:xfrm>
            <a:off x="6075659" y="3983478"/>
            <a:ext cx="906677" cy="19158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3" grpId="0" animBg="1"/>
      <p:bldP spid="2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500" y="618353"/>
            <a:ext cx="1967814" cy="310406"/>
          </a:xfrm>
          <a:prstGeom prst="rect">
            <a:avLst/>
          </a:prstGeom>
          <a:noFill/>
          <a:ln/>
        </p:spPr>
        <p:txBody>
          <a:bodyPr wrap="square" lIns="0" tIns="0" rIns="0" bIns="0" rtlCol="0" anchor="t">
            <a:spAutoFit/>
          </a:bodyPr>
          <a:lstStyle/>
          <a:p>
            <a:pPr marL="0" indent="0" algn="l">
              <a:lnSpc>
                <a:spcPts val="2200"/>
              </a:lnSpc>
              <a:buNone/>
            </a:pPr>
            <a:r>
              <a:rPr lang="ja-JP" altLang="en-US" sz="2800" b="1" dirty="0">
                <a:solidFill>
                  <a:srgbClr val="0070C0"/>
                </a:solidFill>
              </a:rPr>
              <a:t>目的</a:t>
            </a:r>
            <a:endParaRPr lang="en-US" sz="2800" b="1" dirty="0">
              <a:solidFill>
                <a:srgbClr val="0070C0"/>
              </a:solidFill>
            </a:endParaRPr>
          </a:p>
        </p:txBody>
      </p:sp>
      <p:sp>
        <p:nvSpPr>
          <p:cNvPr id="13" name="テキスト ボックス 12">
            <a:extLst>
              <a:ext uri="{FF2B5EF4-FFF2-40B4-BE49-F238E27FC236}">
                <a16:creationId xmlns:a16="http://schemas.microsoft.com/office/drawing/2014/main" id="{E528BA52-2094-4C86-83AC-4D18D6B26DAD}"/>
              </a:ext>
            </a:extLst>
          </p:cNvPr>
          <p:cNvSpPr txBox="1"/>
          <p:nvPr/>
        </p:nvSpPr>
        <p:spPr>
          <a:xfrm>
            <a:off x="1107473" y="1804995"/>
            <a:ext cx="7369261" cy="369332"/>
          </a:xfrm>
          <a:prstGeom prst="rect">
            <a:avLst/>
          </a:prstGeom>
          <a:noFill/>
        </p:spPr>
        <p:txBody>
          <a:bodyPr wrap="square" rtlCol="0">
            <a:spAutoFit/>
          </a:bodyPr>
          <a:lstStyle/>
          <a:p>
            <a:r>
              <a:rPr kumimoji="1" lang="ja-JP" altLang="en-US" b="1" dirty="0"/>
              <a:t>・機械学習によって不動産売買価格をどの程度予測できるかを示す</a:t>
            </a:r>
          </a:p>
        </p:txBody>
      </p:sp>
      <p:sp>
        <p:nvSpPr>
          <p:cNvPr id="5" name="Text 3">
            <a:extLst>
              <a:ext uri="{FF2B5EF4-FFF2-40B4-BE49-F238E27FC236}">
                <a16:creationId xmlns:a16="http://schemas.microsoft.com/office/drawing/2014/main" id="{8A4EF44E-6839-48AA-8430-BC5F9E31F6BB}"/>
              </a:ext>
            </a:extLst>
          </p:cNvPr>
          <p:cNvSpPr/>
          <p:nvPr/>
        </p:nvSpPr>
        <p:spPr>
          <a:xfrm>
            <a:off x="8530242" y="385788"/>
            <a:ext cx="296556" cy="194284"/>
          </a:xfrm>
          <a:prstGeom prst="rect">
            <a:avLst/>
          </a:prstGeom>
          <a:noFill/>
          <a:ln/>
        </p:spPr>
        <p:txBody>
          <a:bodyPr wrap="none" lIns="0" tIns="0" rIns="0" bIns="0" rtlCol="0" anchor="t">
            <a:spAutoFit/>
          </a:bodyPr>
          <a:lstStyle/>
          <a:p>
            <a:pPr>
              <a:lnSpc>
                <a:spcPts val="1600"/>
              </a:lnSpc>
            </a:pPr>
            <a:r>
              <a:rPr lang="en-US" altLang="ja-JP" sz="1193" b="1" dirty="0">
                <a:solidFill>
                  <a:srgbClr val="0288D1"/>
                </a:solidFill>
              </a:rPr>
              <a:t>4/16</a:t>
            </a:r>
            <a:endParaRPr lang="en-US" sz="1193" dirty="0">
              <a:solidFill>
                <a:srgbClr val="0288D1"/>
              </a:solidFill>
            </a:endParaRPr>
          </a:p>
        </p:txBody>
      </p:sp>
      <p:sp>
        <p:nvSpPr>
          <p:cNvPr id="6" name="テキスト ボックス 5">
            <a:extLst>
              <a:ext uri="{FF2B5EF4-FFF2-40B4-BE49-F238E27FC236}">
                <a16:creationId xmlns:a16="http://schemas.microsoft.com/office/drawing/2014/main" id="{1F6E6C29-1D07-49EB-99E6-F23D0ABC1034}"/>
              </a:ext>
            </a:extLst>
          </p:cNvPr>
          <p:cNvSpPr txBox="1"/>
          <p:nvPr/>
        </p:nvSpPr>
        <p:spPr>
          <a:xfrm>
            <a:off x="1107472" y="2478438"/>
            <a:ext cx="7369261" cy="369332"/>
          </a:xfrm>
          <a:prstGeom prst="rect">
            <a:avLst/>
          </a:prstGeom>
          <a:noFill/>
        </p:spPr>
        <p:txBody>
          <a:bodyPr wrap="square" rtlCol="0">
            <a:spAutoFit/>
          </a:bodyPr>
          <a:lstStyle/>
          <a:p>
            <a:r>
              <a:rPr kumimoji="1" lang="ja-JP" altLang="en-US" b="1" dirty="0"/>
              <a:t>・実運用可能なレベルにまで予測精度を高める</a:t>
            </a:r>
          </a:p>
        </p:txBody>
      </p:sp>
    </p:spTree>
    <p:extLst>
      <p:ext uri="{BB962C8B-B14F-4D97-AF65-F5344CB8AC3E}">
        <p14:creationId xmlns:p14="http://schemas.microsoft.com/office/powerpoint/2010/main" val="446931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499" y="618353"/>
            <a:ext cx="2554759" cy="310406"/>
          </a:xfrm>
          <a:prstGeom prst="rect">
            <a:avLst/>
          </a:prstGeom>
          <a:noFill/>
          <a:ln/>
        </p:spPr>
        <p:txBody>
          <a:bodyPr wrap="square" lIns="0" tIns="0" rIns="0" bIns="0" rtlCol="0" anchor="t">
            <a:spAutoFit/>
          </a:bodyPr>
          <a:lstStyle/>
          <a:p>
            <a:pPr marL="0" indent="0" algn="l">
              <a:lnSpc>
                <a:spcPts val="2200"/>
              </a:lnSpc>
              <a:buNone/>
            </a:pPr>
            <a:r>
              <a:rPr lang="ja-JP" altLang="en-US" sz="2800" b="1" dirty="0">
                <a:solidFill>
                  <a:srgbClr val="0070C0"/>
                </a:solidFill>
              </a:rPr>
              <a:t>データについて</a:t>
            </a:r>
            <a:endParaRPr lang="en-US" sz="2800" b="1" dirty="0">
              <a:solidFill>
                <a:srgbClr val="0070C0"/>
              </a:solidFill>
            </a:endParaRPr>
          </a:p>
        </p:txBody>
      </p:sp>
      <p:sp>
        <p:nvSpPr>
          <p:cNvPr id="6" name="テキスト ボックス 5">
            <a:extLst>
              <a:ext uri="{FF2B5EF4-FFF2-40B4-BE49-F238E27FC236}">
                <a16:creationId xmlns:a16="http://schemas.microsoft.com/office/drawing/2014/main" id="{D413A1EF-ABC0-4EC1-827B-99A0CFF900BC}"/>
              </a:ext>
            </a:extLst>
          </p:cNvPr>
          <p:cNvSpPr txBox="1"/>
          <p:nvPr/>
        </p:nvSpPr>
        <p:spPr>
          <a:xfrm>
            <a:off x="1550773" y="2405452"/>
            <a:ext cx="5758249" cy="1200329"/>
          </a:xfrm>
          <a:prstGeom prst="rect">
            <a:avLst/>
          </a:prstGeom>
          <a:noFill/>
        </p:spPr>
        <p:txBody>
          <a:bodyPr wrap="square" rtlCol="0">
            <a:spAutoFit/>
          </a:bodyPr>
          <a:lstStyle/>
          <a:p>
            <a:r>
              <a:rPr kumimoji="1" lang="ja-JP" altLang="en-US" dirty="0"/>
              <a:t>データ件数：約</a:t>
            </a:r>
            <a:r>
              <a:rPr kumimoji="1" lang="en-US" altLang="ja-JP" dirty="0"/>
              <a:t>36</a:t>
            </a:r>
            <a:r>
              <a:rPr kumimoji="1" lang="ja-JP" altLang="en-US" dirty="0"/>
              <a:t>万件</a:t>
            </a:r>
            <a:r>
              <a:rPr kumimoji="1" lang="en-US" altLang="ja-JP" dirty="0"/>
              <a:t>(</a:t>
            </a:r>
            <a:r>
              <a:rPr kumimoji="1" lang="ja-JP" altLang="en-US" dirty="0"/>
              <a:t>大規模なデータ</a:t>
            </a:r>
            <a:r>
              <a:rPr kumimoji="1" lang="en-US" altLang="ja-JP" dirty="0"/>
              <a:t>)</a:t>
            </a:r>
          </a:p>
          <a:p>
            <a:r>
              <a:rPr kumimoji="1" lang="ja-JP" altLang="en-US" dirty="0"/>
              <a:t>目的変数：物件の売買価格</a:t>
            </a:r>
            <a:endParaRPr kumimoji="1" lang="en-US" altLang="ja-JP" dirty="0"/>
          </a:p>
          <a:p>
            <a:r>
              <a:rPr kumimoji="1" lang="ja-JP" altLang="en-US" dirty="0"/>
              <a:t>主な説明変数：面積、間取り、築年数など</a:t>
            </a:r>
            <a:endParaRPr kumimoji="1" lang="en-US" altLang="ja-JP" dirty="0"/>
          </a:p>
          <a:p>
            <a:r>
              <a:rPr kumimoji="1" lang="ja-JP" altLang="en-US" dirty="0"/>
              <a:t>                              </a:t>
            </a:r>
          </a:p>
        </p:txBody>
      </p:sp>
      <p:sp>
        <p:nvSpPr>
          <p:cNvPr id="7" name="吹き出し: 円形 6">
            <a:extLst>
              <a:ext uri="{FF2B5EF4-FFF2-40B4-BE49-F238E27FC236}">
                <a16:creationId xmlns:a16="http://schemas.microsoft.com/office/drawing/2014/main" id="{F901F939-A668-4FC7-AE85-8FA2AD42F09D}"/>
              </a:ext>
            </a:extLst>
          </p:cNvPr>
          <p:cNvSpPr/>
          <p:nvPr/>
        </p:nvSpPr>
        <p:spPr>
          <a:xfrm>
            <a:off x="2934730" y="3611960"/>
            <a:ext cx="3571102" cy="1083607"/>
          </a:xfrm>
          <a:prstGeom prst="wedgeEllipseCallout">
            <a:avLst>
              <a:gd name="adj1" fmla="val 59310"/>
              <a:gd name="adj2" fmla="val 28564"/>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rPr>
              <a:t>面積、間取り、築年数などの</a:t>
            </a:r>
            <a:endParaRPr kumimoji="1" lang="en-US" altLang="ja-JP" sz="1400" b="1" dirty="0">
              <a:solidFill>
                <a:schemeClr val="tx1"/>
              </a:solidFill>
            </a:endParaRPr>
          </a:p>
          <a:p>
            <a:pPr algn="ctr"/>
            <a:r>
              <a:rPr kumimoji="1" lang="ja-JP" altLang="en-US" sz="1400" b="1" dirty="0">
                <a:solidFill>
                  <a:schemeClr val="tx1"/>
                </a:solidFill>
              </a:rPr>
              <a:t>物件情報から売買価格を</a:t>
            </a:r>
            <a:endParaRPr kumimoji="1" lang="en-US" altLang="ja-JP" sz="1400" b="1" dirty="0">
              <a:solidFill>
                <a:schemeClr val="tx1"/>
              </a:solidFill>
            </a:endParaRPr>
          </a:p>
          <a:p>
            <a:pPr algn="ctr"/>
            <a:r>
              <a:rPr kumimoji="1" lang="ja-JP" altLang="en-US" sz="1400" b="1" dirty="0">
                <a:solidFill>
                  <a:schemeClr val="tx1"/>
                </a:solidFill>
              </a:rPr>
              <a:t>予測するよ</a:t>
            </a:r>
          </a:p>
        </p:txBody>
      </p:sp>
      <p:pic>
        <p:nvPicPr>
          <p:cNvPr id="32" name="図 31">
            <a:extLst>
              <a:ext uri="{FF2B5EF4-FFF2-40B4-BE49-F238E27FC236}">
                <a16:creationId xmlns:a16="http://schemas.microsoft.com/office/drawing/2014/main" id="{AA00FC8A-D610-434F-85CA-D2DB5620E418}"/>
              </a:ext>
            </a:extLst>
          </p:cNvPr>
          <p:cNvPicPr>
            <a:picLocks noChangeAspect="1"/>
          </p:cNvPicPr>
          <p:nvPr/>
        </p:nvPicPr>
        <p:blipFill>
          <a:blip r:embed="rId3"/>
          <a:stretch>
            <a:fillRect/>
          </a:stretch>
        </p:blipFill>
        <p:spPr>
          <a:xfrm>
            <a:off x="7030194" y="4041781"/>
            <a:ext cx="859595" cy="859595"/>
          </a:xfrm>
          <a:prstGeom prst="rect">
            <a:avLst/>
          </a:prstGeom>
        </p:spPr>
      </p:pic>
      <p:sp>
        <p:nvSpPr>
          <p:cNvPr id="13" name="テキスト ボックス 12">
            <a:extLst>
              <a:ext uri="{FF2B5EF4-FFF2-40B4-BE49-F238E27FC236}">
                <a16:creationId xmlns:a16="http://schemas.microsoft.com/office/drawing/2014/main" id="{5BFC8D89-D9D1-4CD7-AAE5-9DA49628B22D}"/>
              </a:ext>
            </a:extLst>
          </p:cNvPr>
          <p:cNvSpPr txBox="1"/>
          <p:nvPr/>
        </p:nvSpPr>
        <p:spPr>
          <a:xfrm>
            <a:off x="1467365" y="1143000"/>
            <a:ext cx="5925064" cy="1200329"/>
          </a:xfrm>
          <a:prstGeom prst="rect">
            <a:avLst/>
          </a:prstGeom>
          <a:noFill/>
        </p:spPr>
        <p:txBody>
          <a:bodyPr wrap="square" rtlCol="0">
            <a:spAutoFit/>
          </a:bodyPr>
          <a:lstStyle/>
          <a:p>
            <a:r>
              <a:rPr kumimoji="1" lang="ja-JP" altLang="en-US" dirty="0"/>
              <a:t>今回は</a:t>
            </a:r>
            <a:r>
              <a:rPr kumimoji="1" lang="en-US" altLang="ja-JP" dirty="0"/>
              <a:t>SIGNATE</a:t>
            </a:r>
            <a:r>
              <a:rPr kumimoji="1" lang="ja-JP" altLang="en-US" dirty="0"/>
              <a:t>のコンペ</a:t>
            </a:r>
            <a:endParaRPr kumimoji="1" lang="en-US" altLang="ja-JP" dirty="0"/>
          </a:p>
          <a:p>
            <a:r>
              <a:rPr kumimoji="1" lang="en-US" altLang="ja-JP" b="1" dirty="0"/>
              <a:t>『</a:t>
            </a:r>
            <a:r>
              <a:rPr lang="ja-JP" altLang="en-US" b="1" dirty="0"/>
              <a:t>第</a:t>
            </a:r>
            <a:r>
              <a:rPr lang="en-US" altLang="ja-JP" b="1" dirty="0"/>
              <a:t>2</a:t>
            </a:r>
            <a:r>
              <a:rPr lang="ja-JP" altLang="en-US" b="1" dirty="0"/>
              <a:t>回 国土交通省 地理空間情報データチャレンジ</a:t>
            </a:r>
            <a:r>
              <a:rPr lang="en-US" altLang="ja-JP" b="1" dirty="0"/>
              <a:t>』</a:t>
            </a:r>
          </a:p>
          <a:p>
            <a:r>
              <a:rPr lang="ja-JP" altLang="en-US" dirty="0"/>
              <a:t>のデータセットを使用した。</a:t>
            </a:r>
          </a:p>
          <a:p>
            <a:endParaRPr kumimoji="1" lang="ja-JP" altLang="en-US" dirty="0"/>
          </a:p>
        </p:txBody>
      </p:sp>
      <p:sp>
        <p:nvSpPr>
          <p:cNvPr id="8" name="Text 3">
            <a:extLst>
              <a:ext uri="{FF2B5EF4-FFF2-40B4-BE49-F238E27FC236}">
                <a16:creationId xmlns:a16="http://schemas.microsoft.com/office/drawing/2014/main" id="{7F5093EB-1DF9-4786-B188-5B55D5AEE68B}"/>
              </a:ext>
            </a:extLst>
          </p:cNvPr>
          <p:cNvSpPr/>
          <p:nvPr/>
        </p:nvSpPr>
        <p:spPr>
          <a:xfrm>
            <a:off x="8530242" y="385788"/>
            <a:ext cx="296556" cy="194284"/>
          </a:xfrm>
          <a:prstGeom prst="rect">
            <a:avLst/>
          </a:prstGeom>
          <a:noFill/>
          <a:ln/>
        </p:spPr>
        <p:txBody>
          <a:bodyPr wrap="none" lIns="0" tIns="0" rIns="0" bIns="0" rtlCol="0" anchor="t">
            <a:spAutoFit/>
          </a:bodyPr>
          <a:lstStyle/>
          <a:p>
            <a:pPr>
              <a:lnSpc>
                <a:spcPts val="1600"/>
              </a:lnSpc>
            </a:pPr>
            <a:r>
              <a:rPr lang="en-US" altLang="ja-JP" sz="1193" b="1" dirty="0">
                <a:solidFill>
                  <a:srgbClr val="0288D1"/>
                </a:solidFill>
              </a:rPr>
              <a:t>5/16</a:t>
            </a:r>
            <a:endParaRPr lang="en-US" sz="1193" dirty="0">
              <a:solidFill>
                <a:srgbClr val="0288D1"/>
              </a:solidFill>
            </a:endParaRPr>
          </a:p>
        </p:txBody>
      </p:sp>
    </p:spTree>
    <p:extLst>
      <p:ext uri="{BB962C8B-B14F-4D97-AF65-F5344CB8AC3E}">
        <p14:creationId xmlns:p14="http://schemas.microsoft.com/office/powerpoint/2010/main" val="688080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499" y="618353"/>
            <a:ext cx="3289987" cy="310406"/>
          </a:xfrm>
          <a:prstGeom prst="rect">
            <a:avLst/>
          </a:prstGeom>
          <a:noFill/>
          <a:ln/>
        </p:spPr>
        <p:txBody>
          <a:bodyPr wrap="square" lIns="0" tIns="0" rIns="0" bIns="0" rtlCol="0" anchor="t">
            <a:spAutoFit/>
          </a:bodyPr>
          <a:lstStyle/>
          <a:p>
            <a:pPr marL="0" indent="0" algn="l">
              <a:lnSpc>
                <a:spcPts val="2200"/>
              </a:lnSpc>
              <a:buNone/>
            </a:pPr>
            <a:r>
              <a:rPr lang="ja-JP" altLang="en-US" sz="2800" b="1" dirty="0">
                <a:solidFill>
                  <a:srgbClr val="0070C0"/>
                </a:solidFill>
              </a:rPr>
              <a:t>学習手法</a:t>
            </a:r>
            <a:endParaRPr lang="en-US" sz="2800" b="1" dirty="0">
              <a:solidFill>
                <a:srgbClr val="0070C0"/>
              </a:solidFill>
            </a:endParaRPr>
          </a:p>
        </p:txBody>
      </p:sp>
      <p:sp>
        <p:nvSpPr>
          <p:cNvPr id="6" name="テキスト ボックス 5">
            <a:extLst>
              <a:ext uri="{FF2B5EF4-FFF2-40B4-BE49-F238E27FC236}">
                <a16:creationId xmlns:a16="http://schemas.microsoft.com/office/drawing/2014/main" id="{D413A1EF-ABC0-4EC1-827B-99A0CFF900BC}"/>
              </a:ext>
            </a:extLst>
          </p:cNvPr>
          <p:cNvSpPr txBox="1"/>
          <p:nvPr/>
        </p:nvSpPr>
        <p:spPr>
          <a:xfrm>
            <a:off x="1085849" y="1213993"/>
            <a:ext cx="5758249" cy="369332"/>
          </a:xfrm>
          <a:prstGeom prst="rect">
            <a:avLst/>
          </a:prstGeom>
          <a:noFill/>
        </p:spPr>
        <p:txBody>
          <a:bodyPr wrap="square" rtlCol="0">
            <a:spAutoFit/>
          </a:bodyPr>
          <a:lstStyle/>
          <a:p>
            <a:r>
              <a:rPr kumimoji="1" lang="ja-JP" altLang="en-US" dirty="0"/>
              <a:t>使用した手法：</a:t>
            </a:r>
            <a:r>
              <a:rPr kumimoji="1" lang="en-US" altLang="ja-JP" b="1" dirty="0" err="1">
                <a:solidFill>
                  <a:srgbClr val="FF0000"/>
                </a:solidFill>
              </a:rPr>
              <a:t>LightGBM</a:t>
            </a:r>
            <a:r>
              <a:rPr kumimoji="1" lang="ja-JP" altLang="en-US" b="1" dirty="0">
                <a:solidFill>
                  <a:srgbClr val="FF0000"/>
                </a:solidFill>
              </a:rPr>
              <a:t>  </a:t>
            </a:r>
            <a:r>
              <a:rPr kumimoji="1" lang="ja-JP" altLang="en-US" dirty="0"/>
              <a:t>                            </a:t>
            </a:r>
          </a:p>
        </p:txBody>
      </p:sp>
      <p:sp>
        <p:nvSpPr>
          <p:cNvPr id="9" name="四角形: 角を丸くする 8">
            <a:extLst>
              <a:ext uri="{FF2B5EF4-FFF2-40B4-BE49-F238E27FC236}">
                <a16:creationId xmlns:a16="http://schemas.microsoft.com/office/drawing/2014/main" id="{77F12C6D-6306-48F1-AD5C-067EFAE594A3}"/>
              </a:ext>
            </a:extLst>
          </p:cNvPr>
          <p:cNvSpPr/>
          <p:nvPr/>
        </p:nvSpPr>
        <p:spPr>
          <a:xfrm>
            <a:off x="1283558" y="2559764"/>
            <a:ext cx="1865870" cy="310406"/>
          </a:xfrm>
          <a:prstGeom prst="roundRect">
            <a:avLst/>
          </a:prstGeom>
          <a:solidFill>
            <a:schemeClr val="accent2">
              <a:lumMod val="40000"/>
              <a:lumOff val="6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表形式のデータ</a:t>
            </a:r>
          </a:p>
        </p:txBody>
      </p:sp>
      <p:sp>
        <p:nvSpPr>
          <p:cNvPr id="10" name="四角形: 角を丸くする 9">
            <a:extLst>
              <a:ext uri="{FF2B5EF4-FFF2-40B4-BE49-F238E27FC236}">
                <a16:creationId xmlns:a16="http://schemas.microsoft.com/office/drawing/2014/main" id="{1A99D874-D74B-4741-84EF-A17EBD43A3C9}"/>
              </a:ext>
            </a:extLst>
          </p:cNvPr>
          <p:cNvSpPr/>
          <p:nvPr/>
        </p:nvSpPr>
        <p:spPr>
          <a:xfrm>
            <a:off x="1320628" y="3172366"/>
            <a:ext cx="1865870" cy="310406"/>
          </a:xfrm>
          <a:prstGeom prst="roundRect">
            <a:avLst/>
          </a:prstGeom>
          <a:solidFill>
            <a:schemeClr val="accent2">
              <a:lumMod val="40000"/>
              <a:lumOff val="6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説明変数が多い</a:t>
            </a:r>
          </a:p>
        </p:txBody>
      </p:sp>
      <p:sp>
        <p:nvSpPr>
          <p:cNvPr id="11" name="四角形: 角を丸くする 10">
            <a:extLst>
              <a:ext uri="{FF2B5EF4-FFF2-40B4-BE49-F238E27FC236}">
                <a16:creationId xmlns:a16="http://schemas.microsoft.com/office/drawing/2014/main" id="{8A7020AF-EEE1-4423-A4AF-C846820A1702}"/>
              </a:ext>
            </a:extLst>
          </p:cNvPr>
          <p:cNvSpPr/>
          <p:nvPr/>
        </p:nvSpPr>
        <p:spPr>
          <a:xfrm>
            <a:off x="946064" y="3776759"/>
            <a:ext cx="2614998" cy="310406"/>
          </a:xfrm>
          <a:prstGeom prst="roundRect">
            <a:avLst/>
          </a:prstGeom>
          <a:solidFill>
            <a:schemeClr val="accent2">
              <a:lumMod val="40000"/>
              <a:lumOff val="6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非線形な関係が多い</a:t>
            </a:r>
          </a:p>
        </p:txBody>
      </p:sp>
      <p:sp>
        <p:nvSpPr>
          <p:cNvPr id="12" name="四角形: 角を丸くする 11">
            <a:extLst>
              <a:ext uri="{FF2B5EF4-FFF2-40B4-BE49-F238E27FC236}">
                <a16:creationId xmlns:a16="http://schemas.microsoft.com/office/drawing/2014/main" id="{F9530A3C-EF33-4187-BB0E-EFB69F054A70}"/>
              </a:ext>
            </a:extLst>
          </p:cNvPr>
          <p:cNvSpPr/>
          <p:nvPr/>
        </p:nvSpPr>
        <p:spPr>
          <a:xfrm>
            <a:off x="571500" y="4409527"/>
            <a:ext cx="3289986" cy="310406"/>
          </a:xfrm>
          <a:prstGeom prst="roundRect">
            <a:avLst/>
          </a:prstGeom>
          <a:solidFill>
            <a:schemeClr val="accent2">
              <a:lumMod val="40000"/>
              <a:lumOff val="6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欠損値・カテゴリ変数が多い</a:t>
            </a:r>
          </a:p>
        </p:txBody>
      </p:sp>
      <p:sp>
        <p:nvSpPr>
          <p:cNvPr id="13" name="四角形: 角を丸くする 12">
            <a:extLst>
              <a:ext uri="{FF2B5EF4-FFF2-40B4-BE49-F238E27FC236}">
                <a16:creationId xmlns:a16="http://schemas.microsoft.com/office/drawing/2014/main" id="{A53BEB72-6998-4643-A0BE-EE8D11573DE5}"/>
              </a:ext>
            </a:extLst>
          </p:cNvPr>
          <p:cNvSpPr/>
          <p:nvPr/>
        </p:nvSpPr>
        <p:spPr>
          <a:xfrm>
            <a:off x="420130" y="2113005"/>
            <a:ext cx="3620529" cy="288530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四角形: 角を丸くする 1">
            <a:extLst>
              <a:ext uri="{FF2B5EF4-FFF2-40B4-BE49-F238E27FC236}">
                <a16:creationId xmlns:a16="http://schemas.microsoft.com/office/drawing/2014/main" id="{DF972E0D-B1CC-428C-A601-524EC8984B4D}"/>
              </a:ext>
            </a:extLst>
          </p:cNvPr>
          <p:cNvSpPr/>
          <p:nvPr/>
        </p:nvSpPr>
        <p:spPr>
          <a:xfrm>
            <a:off x="1550773" y="1937178"/>
            <a:ext cx="1442652" cy="36933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rgbClr val="0070C0"/>
                </a:solidFill>
              </a:rPr>
              <a:t>物件データ</a:t>
            </a:r>
          </a:p>
        </p:txBody>
      </p:sp>
      <p:sp>
        <p:nvSpPr>
          <p:cNvPr id="14" name="四角形: 角を丸くする 13">
            <a:extLst>
              <a:ext uri="{FF2B5EF4-FFF2-40B4-BE49-F238E27FC236}">
                <a16:creationId xmlns:a16="http://schemas.microsoft.com/office/drawing/2014/main" id="{C80EDF3A-99B0-4658-B1B9-89305C6C1A31}"/>
              </a:ext>
            </a:extLst>
          </p:cNvPr>
          <p:cNvSpPr/>
          <p:nvPr/>
        </p:nvSpPr>
        <p:spPr>
          <a:xfrm>
            <a:off x="5423070" y="2559764"/>
            <a:ext cx="2842056" cy="310406"/>
          </a:xfrm>
          <a:prstGeom prst="round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rPr>
              <a:t>表形式のデータに強い！</a:t>
            </a:r>
          </a:p>
        </p:txBody>
      </p:sp>
      <p:sp>
        <p:nvSpPr>
          <p:cNvPr id="15" name="四角形: 角を丸くする 14">
            <a:extLst>
              <a:ext uri="{FF2B5EF4-FFF2-40B4-BE49-F238E27FC236}">
                <a16:creationId xmlns:a16="http://schemas.microsoft.com/office/drawing/2014/main" id="{D229E40E-3D32-480A-ABCF-97C925B3CB91}"/>
              </a:ext>
            </a:extLst>
          </p:cNvPr>
          <p:cNvSpPr/>
          <p:nvPr/>
        </p:nvSpPr>
        <p:spPr>
          <a:xfrm>
            <a:off x="5297957" y="3172366"/>
            <a:ext cx="3008871" cy="310406"/>
          </a:xfrm>
          <a:prstGeom prst="round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rPr>
              <a:t>特徴量が多くても高速！</a:t>
            </a:r>
          </a:p>
        </p:txBody>
      </p:sp>
      <p:sp>
        <p:nvSpPr>
          <p:cNvPr id="16" name="四角形: 角を丸くする 15">
            <a:extLst>
              <a:ext uri="{FF2B5EF4-FFF2-40B4-BE49-F238E27FC236}">
                <a16:creationId xmlns:a16="http://schemas.microsoft.com/office/drawing/2014/main" id="{2119BFEC-2C10-4E25-A448-629311A22D82}"/>
              </a:ext>
            </a:extLst>
          </p:cNvPr>
          <p:cNvSpPr/>
          <p:nvPr/>
        </p:nvSpPr>
        <p:spPr>
          <a:xfrm>
            <a:off x="5115697" y="3774328"/>
            <a:ext cx="3414545" cy="310406"/>
          </a:xfrm>
          <a:prstGeom prst="round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rPr>
              <a:t>非線形な関係でも学習できる！</a:t>
            </a:r>
          </a:p>
        </p:txBody>
      </p:sp>
      <p:sp>
        <p:nvSpPr>
          <p:cNvPr id="17" name="四角形: 角を丸くする 16">
            <a:extLst>
              <a:ext uri="{FF2B5EF4-FFF2-40B4-BE49-F238E27FC236}">
                <a16:creationId xmlns:a16="http://schemas.microsoft.com/office/drawing/2014/main" id="{922BF326-C590-45D2-88A8-3BF30909B9E0}"/>
              </a:ext>
            </a:extLst>
          </p:cNvPr>
          <p:cNvSpPr/>
          <p:nvPr/>
        </p:nvSpPr>
        <p:spPr>
          <a:xfrm>
            <a:off x="5748978" y="4405347"/>
            <a:ext cx="2106827" cy="310406"/>
          </a:xfrm>
          <a:prstGeom prst="round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rPr>
              <a:t>前処理が最小限！</a:t>
            </a:r>
          </a:p>
        </p:txBody>
      </p:sp>
      <p:sp>
        <p:nvSpPr>
          <p:cNvPr id="18" name="四角形: 角を丸くする 17">
            <a:extLst>
              <a:ext uri="{FF2B5EF4-FFF2-40B4-BE49-F238E27FC236}">
                <a16:creationId xmlns:a16="http://schemas.microsoft.com/office/drawing/2014/main" id="{2A311D39-A632-471C-B2A5-6847C3C704CE}"/>
              </a:ext>
            </a:extLst>
          </p:cNvPr>
          <p:cNvSpPr/>
          <p:nvPr/>
        </p:nvSpPr>
        <p:spPr>
          <a:xfrm>
            <a:off x="4992129" y="2113005"/>
            <a:ext cx="3620529" cy="288530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 角を丸くする 18">
            <a:extLst>
              <a:ext uri="{FF2B5EF4-FFF2-40B4-BE49-F238E27FC236}">
                <a16:creationId xmlns:a16="http://schemas.microsoft.com/office/drawing/2014/main" id="{D34642AE-B02C-4706-BFEF-D63A3E743EF3}"/>
              </a:ext>
            </a:extLst>
          </p:cNvPr>
          <p:cNvSpPr/>
          <p:nvPr/>
        </p:nvSpPr>
        <p:spPr>
          <a:xfrm>
            <a:off x="6122772" y="1937178"/>
            <a:ext cx="1442652" cy="36933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solidFill>
                  <a:srgbClr val="0070C0"/>
                </a:solidFill>
              </a:rPr>
              <a:t>LightGBM</a:t>
            </a:r>
            <a:endParaRPr kumimoji="1" lang="ja-JP" altLang="en-US" dirty="0">
              <a:solidFill>
                <a:srgbClr val="0070C0"/>
              </a:solidFill>
            </a:endParaRPr>
          </a:p>
        </p:txBody>
      </p:sp>
      <p:sp>
        <p:nvSpPr>
          <p:cNvPr id="4" name="矢印: 右 3">
            <a:extLst>
              <a:ext uri="{FF2B5EF4-FFF2-40B4-BE49-F238E27FC236}">
                <a16:creationId xmlns:a16="http://schemas.microsoft.com/office/drawing/2014/main" id="{B6A1D384-2DEB-48F0-8A1A-B064F469B5C7}"/>
              </a:ext>
            </a:extLst>
          </p:cNvPr>
          <p:cNvSpPr/>
          <p:nvPr/>
        </p:nvSpPr>
        <p:spPr>
          <a:xfrm>
            <a:off x="4137968" y="3287324"/>
            <a:ext cx="803189" cy="424462"/>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Text 3">
            <a:extLst>
              <a:ext uri="{FF2B5EF4-FFF2-40B4-BE49-F238E27FC236}">
                <a16:creationId xmlns:a16="http://schemas.microsoft.com/office/drawing/2014/main" id="{BD593B8C-103F-4D0B-9A8D-71607D7A4C63}"/>
              </a:ext>
            </a:extLst>
          </p:cNvPr>
          <p:cNvSpPr/>
          <p:nvPr/>
        </p:nvSpPr>
        <p:spPr>
          <a:xfrm>
            <a:off x="8530242" y="385788"/>
            <a:ext cx="296556" cy="194284"/>
          </a:xfrm>
          <a:prstGeom prst="rect">
            <a:avLst/>
          </a:prstGeom>
          <a:noFill/>
          <a:ln/>
        </p:spPr>
        <p:txBody>
          <a:bodyPr wrap="none" lIns="0" tIns="0" rIns="0" bIns="0" rtlCol="0" anchor="t">
            <a:spAutoFit/>
          </a:bodyPr>
          <a:lstStyle/>
          <a:p>
            <a:pPr>
              <a:lnSpc>
                <a:spcPts val="1600"/>
              </a:lnSpc>
            </a:pPr>
            <a:r>
              <a:rPr lang="en-US" altLang="ja-JP" sz="1193" b="1" dirty="0">
                <a:solidFill>
                  <a:srgbClr val="0288D1"/>
                </a:solidFill>
              </a:rPr>
              <a:t>6/16</a:t>
            </a:r>
            <a:endParaRPr lang="en-US" sz="1193" dirty="0">
              <a:solidFill>
                <a:srgbClr val="0288D1"/>
              </a:solidFill>
            </a:endParaRPr>
          </a:p>
        </p:txBody>
      </p:sp>
    </p:spTree>
    <p:extLst>
      <p:ext uri="{BB962C8B-B14F-4D97-AF65-F5344CB8AC3E}">
        <p14:creationId xmlns:p14="http://schemas.microsoft.com/office/powerpoint/2010/main" val="416554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499" y="618353"/>
            <a:ext cx="3289987" cy="310406"/>
          </a:xfrm>
          <a:prstGeom prst="rect">
            <a:avLst/>
          </a:prstGeom>
          <a:noFill/>
          <a:ln/>
        </p:spPr>
        <p:txBody>
          <a:bodyPr wrap="square" lIns="0" tIns="0" rIns="0" bIns="0" rtlCol="0" anchor="t">
            <a:spAutoFit/>
          </a:bodyPr>
          <a:lstStyle/>
          <a:p>
            <a:pPr marL="0" indent="0" algn="l">
              <a:lnSpc>
                <a:spcPts val="2200"/>
              </a:lnSpc>
              <a:buNone/>
            </a:pPr>
            <a:r>
              <a:rPr lang="ja-JP" altLang="en-US" sz="2800" b="1" dirty="0">
                <a:solidFill>
                  <a:srgbClr val="0070C0"/>
                </a:solidFill>
              </a:rPr>
              <a:t>特徴量の作成①</a:t>
            </a:r>
            <a:endParaRPr lang="en-US" sz="2800" b="1" dirty="0">
              <a:solidFill>
                <a:srgbClr val="0070C0"/>
              </a:solidFill>
            </a:endParaRPr>
          </a:p>
        </p:txBody>
      </p:sp>
      <p:sp>
        <p:nvSpPr>
          <p:cNvPr id="9" name="Text 3">
            <a:extLst>
              <a:ext uri="{FF2B5EF4-FFF2-40B4-BE49-F238E27FC236}">
                <a16:creationId xmlns:a16="http://schemas.microsoft.com/office/drawing/2014/main" id="{15FDCBAF-0614-40DD-8792-F9346E67A8F6}"/>
              </a:ext>
            </a:extLst>
          </p:cNvPr>
          <p:cNvSpPr/>
          <p:nvPr/>
        </p:nvSpPr>
        <p:spPr>
          <a:xfrm>
            <a:off x="8530242" y="385788"/>
            <a:ext cx="296556" cy="194284"/>
          </a:xfrm>
          <a:prstGeom prst="rect">
            <a:avLst/>
          </a:prstGeom>
          <a:noFill/>
          <a:ln/>
        </p:spPr>
        <p:txBody>
          <a:bodyPr wrap="none" lIns="0" tIns="0" rIns="0" bIns="0" rtlCol="0" anchor="t">
            <a:spAutoFit/>
          </a:bodyPr>
          <a:lstStyle/>
          <a:p>
            <a:pPr>
              <a:lnSpc>
                <a:spcPts val="1600"/>
              </a:lnSpc>
            </a:pPr>
            <a:r>
              <a:rPr lang="en-US" altLang="ja-JP" sz="1193" b="1" dirty="0">
                <a:solidFill>
                  <a:srgbClr val="0288D1"/>
                </a:solidFill>
              </a:rPr>
              <a:t>7/16</a:t>
            </a:r>
            <a:endParaRPr lang="en-US" sz="1193" dirty="0">
              <a:solidFill>
                <a:srgbClr val="0288D1"/>
              </a:solidFill>
            </a:endParaRPr>
          </a:p>
        </p:txBody>
      </p:sp>
      <p:sp>
        <p:nvSpPr>
          <p:cNvPr id="4" name="四角形: 角を丸くする 3">
            <a:extLst>
              <a:ext uri="{FF2B5EF4-FFF2-40B4-BE49-F238E27FC236}">
                <a16:creationId xmlns:a16="http://schemas.microsoft.com/office/drawing/2014/main" id="{6E2785A2-488D-4B03-B109-96C73C28873E}"/>
              </a:ext>
            </a:extLst>
          </p:cNvPr>
          <p:cNvSpPr/>
          <p:nvPr/>
        </p:nvSpPr>
        <p:spPr>
          <a:xfrm>
            <a:off x="1046910" y="2166010"/>
            <a:ext cx="1956391" cy="815163"/>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説明変数が多い</a:t>
            </a:r>
          </a:p>
        </p:txBody>
      </p:sp>
      <p:sp>
        <p:nvSpPr>
          <p:cNvPr id="10" name="四角形: 角を丸くする 9">
            <a:extLst>
              <a:ext uri="{FF2B5EF4-FFF2-40B4-BE49-F238E27FC236}">
                <a16:creationId xmlns:a16="http://schemas.microsoft.com/office/drawing/2014/main" id="{D92B2C9C-02A2-4B89-8379-1B8C93683B68}"/>
              </a:ext>
            </a:extLst>
          </p:cNvPr>
          <p:cNvSpPr/>
          <p:nvPr/>
        </p:nvSpPr>
        <p:spPr>
          <a:xfrm>
            <a:off x="3593804" y="2166012"/>
            <a:ext cx="1956391" cy="815163"/>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非線形データが多い</a:t>
            </a:r>
          </a:p>
        </p:txBody>
      </p:sp>
      <p:sp>
        <p:nvSpPr>
          <p:cNvPr id="11" name="四角形: 角を丸くする 10">
            <a:extLst>
              <a:ext uri="{FF2B5EF4-FFF2-40B4-BE49-F238E27FC236}">
                <a16:creationId xmlns:a16="http://schemas.microsoft.com/office/drawing/2014/main" id="{23EFA25F-43E0-42EC-BD6A-6CD253497B3C}"/>
              </a:ext>
            </a:extLst>
          </p:cNvPr>
          <p:cNvSpPr/>
          <p:nvPr/>
        </p:nvSpPr>
        <p:spPr>
          <a:xfrm>
            <a:off x="6140699" y="2166011"/>
            <a:ext cx="1956391" cy="815163"/>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dirty="0">
                <a:solidFill>
                  <a:schemeClr val="tx1"/>
                </a:solidFill>
              </a:rPr>
              <a:t>欠損値</a:t>
            </a:r>
            <a:r>
              <a:rPr kumimoji="1" lang="en-US" altLang="ja-JP" dirty="0">
                <a:solidFill>
                  <a:schemeClr val="tx1"/>
                </a:solidFill>
              </a:rPr>
              <a:t>(</a:t>
            </a:r>
            <a:r>
              <a:rPr kumimoji="1" lang="ja-JP" altLang="en-US" dirty="0">
                <a:solidFill>
                  <a:schemeClr val="tx1"/>
                </a:solidFill>
              </a:rPr>
              <a:t>データの抜け落ち</a:t>
            </a:r>
            <a:r>
              <a:rPr kumimoji="1" lang="en-US" altLang="ja-JP" dirty="0">
                <a:solidFill>
                  <a:schemeClr val="tx1"/>
                </a:solidFill>
              </a:rPr>
              <a:t>)</a:t>
            </a:r>
            <a:r>
              <a:rPr kumimoji="1" lang="ja-JP" altLang="en-US" dirty="0">
                <a:solidFill>
                  <a:schemeClr val="tx1"/>
                </a:solidFill>
              </a:rPr>
              <a:t>が多い</a:t>
            </a:r>
          </a:p>
        </p:txBody>
      </p:sp>
      <p:sp>
        <p:nvSpPr>
          <p:cNvPr id="13" name="四角形: 角を丸くする 12">
            <a:extLst>
              <a:ext uri="{FF2B5EF4-FFF2-40B4-BE49-F238E27FC236}">
                <a16:creationId xmlns:a16="http://schemas.microsoft.com/office/drawing/2014/main" id="{50E59AD8-1806-4CE0-9927-301F8D2A37DB}"/>
              </a:ext>
            </a:extLst>
          </p:cNvPr>
          <p:cNvSpPr/>
          <p:nvPr/>
        </p:nvSpPr>
        <p:spPr>
          <a:xfrm>
            <a:off x="1046910" y="3753806"/>
            <a:ext cx="1956391" cy="815163"/>
          </a:xfrm>
          <a:prstGeom prst="round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データの</a:t>
            </a:r>
            <a:endParaRPr kumimoji="1" lang="en-US" altLang="ja-JP" dirty="0">
              <a:solidFill>
                <a:schemeClr val="tx1"/>
              </a:solidFill>
            </a:endParaRPr>
          </a:p>
          <a:p>
            <a:pPr algn="ctr"/>
            <a:r>
              <a:rPr kumimoji="1" lang="ja-JP" altLang="en-US" dirty="0">
                <a:solidFill>
                  <a:schemeClr val="tx1"/>
                </a:solidFill>
              </a:rPr>
              <a:t>取捨選択</a:t>
            </a:r>
          </a:p>
        </p:txBody>
      </p:sp>
      <p:sp>
        <p:nvSpPr>
          <p:cNvPr id="14" name="四角形: 角を丸くする 13">
            <a:extLst>
              <a:ext uri="{FF2B5EF4-FFF2-40B4-BE49-F238E27FC236}">
                <a16:creationId xmlns:a16="http://schemas.microsoft.com/office/drawing/2014/main" id="{BDACE9D4-C74E-4762-A9CA-8AE5B427347B}"/>
              </a:ext>
            </a:extLst>
          </p:cNvPr>
          <p:cNvSpPr/>
          <p:nvPr/>
        </p:nvSpPr>
        <p:spPr>
          <a:xfrm>
            <a:off x="3591344" y="3753805"/>
            <a:ext cx="1956391" cy="815163"/>
          </a:xfrm>
          <a:prstGeom prst="round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データの変形</a:t>
            </a:r>
          </a:p>
        </p:txBody>
      </p:sp>
      <p:sp>
        <p:nvSpPr>
          <p:cNvPr id="15" name="四角形: 角を丸くする 14">
            <a:extLst>
              <a:ext uri="{FF2B5EF4-FFF2-40B4-BE49-F238E27FC236}">
                <a16:creationId xmlns:a16="http://schemas.microsoft.com/office/drawing/2014/main" id="{7769768F-2E3D-4283-9B2C-20FEDF814C64}"/>
              </a:ext>
            </a:extLst>
          </p:cNvPr>
          <p:cNvSpPr/>
          <p:nvPr/>
        </p:nvSpPr>
        <p:spPr>
          <a:xfrm>
            <a:off x="6135778" y="3753804"/>
            <a:ext cx="1956391" cy="815163"/>
          </a:xfrm>
          <a:prstGeom prst="round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データを埋める</a:t>
            </a:r>
          </a:p>
        </p:txBody>
      </p:sp>
      <p:sp>
        <p:nvSpPr>
          <p:cNvPr id="16" name="矢印: 下 15">
            <a:extLst>
              <a:ext uri="{FF2B5EF4-FFF2-40B4-BE49-F238E27FC236}">
                <a16:creationId xmlns:a16="http://schemas.microsoft.com/office/drawing/2014/main" id="{AFD8BF93-06F3-4EA7-B663-38440E629263}"/>
              </a:ext>
            </a:extLst>
          </p:cNvPr>
          <p:cNvSpPr/>
          <p:nvPr/>
        </p:nvSpPr>
        <p:spPr>
          <a:xfrm>
            <a:off x="1734236" y="3101677"/>
            <a:ext cx="596900" cy="531628"/>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矢印: 下 16">
            <a:extLst>
              <a:ext uri="{FF2B5EF4-FFF2-40B4-BE49-F238E27FC236}">
                <a16:creationId xmlns:a16="http://schemas.microsoft.com/office/drawing/2014/main" id="{A0D3A452-22BE-4E5D-9DB1-232A405B7F35}"/>
              </a:ext>
            </a:extLst>
          </p:cNvPr>
          <p:cNvSpPr/>
          <p:nvPr/>
        </p:nvSpPr>
        <p:spPr>
          <a:xfrm>
            <a:off x="4271089" y="3101677"/>
            <a:ext cx="596900" cy="531628"/>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矢印: 下 17">
            <a:extLst>
              <a:ext uri="{FF2B5EF4-FFF2-40B4-BE49-F238E27FC236}">
                <a16:creationId xmlns:a16="http://schemas.microsoft.com/office/drawing/2014/main" id="{D431EEC9-AB91-4416-B357-950A31A377BB}"/>
              </a:ext>
            </a:extLst>
          </p:cNvPr>
          <p:cNvSpPr/>
          <p:nvPr/>
        </p:nvSpPr>
        <p:spPr>
          <a:xfrm>
            <a:off x="6815523" y="3101677"/>
            <a:ext cx="596900" cy="531628"/>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00D741CB-FC08-44CA-A409-62EDE3173EA3}"/>
              </a:ext>
            </a:extLst>
          </p:cNvPr>
          <p:cNvSpPr txBox="1"/>
          <p:nvPr/>
        </p:nvSpPr>
        <p:spPr>
          <a:xfrm>
            <a:off x="737886" y="1336841"/>
            <a:ext cx="6376087" cy="400110"/>
          </a:xfrm>
          <a:prstGeom prst="rect">
            <a:avLst/>
          </a:prstGeom>
          <a:noFill/>
        </p:spPr>
        <p:txBody>
          <a:bodyPr wrap="square" rtlCol="0">
            <a:spAutoFit/>
          </a:bodyPr>
          <a:lstStyle/>
          <a:p>
            <a:r>
              <a:rPr kumimoji="1" lang="ja-JP" altLang="en-US" sz="2000" b="1" dirty="0"/>
              <a:t>特徴量</a:t>
            </a:r>
            <a:r>
              <a:rPr kumimoji="1" lang="ja-JP" altLang="en-US" sz="2000" dirty="0"/>
              <a:t>：モデルが学習するために整形されたデータ</a:t>
            </a:r>
          </a:p>
        </p:txBody>
      </p:sp>
    </p:spTree>
    <p:extLst>
      <p:ext uri="{BB962C8B-B14F-4D97-AF65-F5344CB8AC3E}">
        <p14:creationId xmlns:p14="http://schemas.microsoft.com/office/powerpoint/2010/main" val="2902943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499" y="618353"/>
            <a:ext cx="3289987" cy="310406"/>
          </a:xfrm>
          <a:prstGeom prst="rect">
            <a:avLst/>
          </a:prstGeom>
          <a:noFill/>
          <a:ln/>
        </p:spPr>
        <p:txBody>
          <a:bodyPr wrap="square" lIns="0" tIns="0" rIns="0" bIns="0" rtlCol="0" anchor="t">
            <a:spAutoFit/>
          </a:bodyPr>
          <a:lstStyle/>
          <a:p>
            <a:pPr marL="0" indent="0" algn="l">
              <a:lnSpc>
                <a:spcPts val="2200"/>
              </a:lnSpc>
              <a:buNone/>
            </a:pPr>
            <a:r>
              <a:rPr lang="ja-JP" altLang="en-US" sz="2800" b="1" dirty="0">
                <a:solidFill>
                  <a:srgbClr val="0070C0"/>
                </a:solidFill>
              </a:rPr>
              <a:t>特徴量の作成②</a:t>
            </a:r>
            <a:endParaRPr lang="en-US" sz="2800" b="1" dirty="0">
              <a:solidFill>
                <a:srgbClr val="0070C0"/>
              </a:solidFill>
            </a:endParaRPr>
          </a:p>
        </p:txBody>
      </p:sp>
      <p:sp>
        <p:nvSpPr>
          <p:cNvPr id="6" name="テキスト ボックス 5">
            <a:extLst>
              <a:ext uri="{FF2B5EF4-FFF2-40B4-BE49-F238E27FC236}">
                <a16:creationId xmlns:a16="http://schemas.microsoft.com/office/drawing/2014/main" id="{D413A1EF-ABC0-4EC1-827B-99A0CFF900BC}"/>
              </a:ext>
            </a:extLst>
          </p:cNvPr>
          <p:cNvSpPr txBox="1"/>
          <p:nvPr/>
        </p:nvSpPr>
        <p:spPr>
          <a:xfrm>
            <a:off x="803188" y="1236971"/>
            <a:ext cx="2730843" cy="369332"/>
          </a:xfrm>
          <a:prstGeom prst="rect">
            <a:avLst/>
          </a:prstGeom>
          <a:noFill/>
        </p:spPr>
        <p:txBody>
          <a:bodyPr wrap="square" rtlCol="0">
            <a:spAutoFit/>
          </a:bodyPr>
          <a:lstStyle/>
          <a:p>
            <a:r>
              <a:rPr kumimoji="1" lang="en-US" altLang="ja-JP" dirty="0"/>
              <a:t>(</a:t>
            </a:r>
            <a:r>
              <a:rPr kumimoji="1" lang="ja-JP" altLang="en-US" dirty="0"/>
              <a:t>例</a:t>
            </a:r>
            <a:r>
              <a:rPr kumimoji="1" lang="en-US" altLang="ja-JP" dirty="0"/>
              <a:t>)</a:t>
            </a:r>
            <a:r>
              <a:rPr kumimoji="1" lang="ja-JP" altLang="en-US" dirty="0"/>
              <a:t>欠損値の扱い</a:t>
            </a:r>
          </a:p>
        </p:txBody>
      </p:sp>
      <p:sp>
        <p:nvSpPr>
          <p:cNvPr id="12" name="四角形: 角を丸くする 11">
            <a:extLst>
              <a:ext uri="{FF2B5EF4-FFF2-40B4-BE49-F238E27FC236}">
                <a16:creationId xmlns:a16="http://schemas.microsoft.com/office/drawing/2014/main" id="{83F1AF9E-7745-421A-8455-3A34EF2A40D8}"/>
              </a:ext>
            </a:extLst>
          </p:cNvPr>
          <p:cNvSpPr/>
          <p:nvPr/>
        </p:nvSpPr>
        <p:spPr>
          <a:xfrm>
            <a:off x="639462" y="1927654"/>
            <a:ext cx="3289987" cy="210682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正方形/長方形 13">
            <a:extLst>
              <a:ext uri="{FF2B5EF4-FFF2-40B4-BE49-F238E27FC236}">
                <a16:creationId xmlns:a16="http://schemas.microsoft.com/office/drawing/2014/main" id="{790F3B10-FD13-42A2-A290-9D8CE3407237}"/>
              </a:ext>
            </a:extLst>
          </p:cNvPr>
          <p:cNvSpPr/>
          <p:nvPr/>
        </p:nvSpPr>
        <p:spPr>
          <a:xfrm>
            <a:off x="1521425" y="1770753"/>
            <a:ext cx="1526059" cy="31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t>unit_area</a:t>
            </a:r>
            <a:endParaRPr kumimoji="1" lang="ja-JP" altLang="en-US" dirty="0"/>
          </a:p>
        </p:txBody>
      </p:sp>
      <p:sp>
        <p:nvSpPr>
          <p:cNvPr id="15" name="テキスト ボックス 14">
            <a:extLst>
              <a:ext uri="{FF2B5EF4-FFF2-40B4-BE49-F238E27FC236}">
                <a16:creationId xmlns:a16="http://schemas.microsoft.com/office/drawing/2014/main" id="{D3CA6459-7A49-4BF0-BEA5-1C317CA333EE}"/>
              </a:ext>
            </a:extLst>
          </p:cNvPr>
          <p:cNvSpPr txBox="1"/>
          <p:nvPr/>
        </p:nvSpPr>
        <p:spPr>
          <a:xfrm>
            <a:off x="650273" y="2235866"/>
            <a:ext cx="2397211" cy="369332"/>
          </a:xfrm>
          <a:prstGeom prst="rect">
            <a:avLst/>
          </a:prstGeom>
          <a:noFill/>
        </p:spPr>
        <p:txBody>
          <a:bodyPr wrap="square" rtlCol="0">
            <a:spAutoFit/>
          </a:bodyPr>
          <a:lstStyle/>
          <a:p>
            <a:r>
              <a:rPr kumimoji="1" lang="en-US" altLang="ja-JP" dirty="0"/>
              <a:t>【</a:t>
            </a:r>
            <a:r>
              <a:rPr kumimoji="1" lang="ja-JP" altLang="en-US" dirty="0"/>
              <a:t>内容</a:t>
            </a:r>
            <a:r>
              <a:rPr kumimoji="1" lang="en-US" altLang="ja-JP" dirty="0"/>
              <a:t>】</a:t>
            </a:r>
            <a:r>
              <a:rPr kumimoji="1" lang="ja-JP" altLang="en-US" dirty="0"/>
              <a:t>専有面積</a:t>
            </a:r>
          </a:p>
        </p:txBody>
      </p:sp>
      <p:sp>
        <p:nvSpPr>
          <p:cNvPr id="16" name="テキスト ボックス 15">
            <a:extLst>
              <a:ext uri="{FF2B5EF4-FFF2-40B4-BE49-F238E27FC236}">
                <a16:creationId xmlns:a16="http://schemas.microsoft.com/office/drawing/2014/main" id="{568A142A-BBCD-48EF-A2B4-70096401F9FF}"/>
              </a:ext>
            </a:extLst>
          </p:cNvPr>
          <p:cNvSpPr txBox="1"/>
          <p:nvPr/>
        </p:nvSpPr>
        <p:spPr>
          <a:xfrm>
            <a:off x="803188" y="3229231"/>
            <a:ext cx="3058297" cy="369332"/>
          </a:xfrm>
          <a:prstGeom prst="rect">
            <a:avLst/>
          </a:prstGeom>
          <a:noFill/>
        </p:spPr>
        <p:txBody>
          <a:bodyPr wrap="square" rtlCol="0">
            <a:spAutoFit/>
          </a:bodyPr>
          <a:lstStyle/>
          <a:p>
            <a:r>
              <a:rPr kumimoji="1" lang="ja-JP" altLang="en-US" dirty="0"/>
              <a:t>→  </a:t>
            </a:r>
            <a:r>
              <a:rPr kumimoji="1" lang="ja-JP" altLang="en-US" dirty="0">
                <a:solidFill>
                  <a:srgbClr val="FF0000"/>
                </a:solidFill>
              </a:rPr>
              <a:t>欠損値は中央値で埋める</a:t>
            </a:r>
          </a:p>
        </p:txBody>
      </p:sp>
      <p:sp>
        <p:nvSpPr>
          <p:cNvPr id="17" name="テキスト ボックス 16">
            <a:extLst>
              <a:ext uri="{FF2B5EF4-FFF2-40B4-BE49-F238E27FC236}">
                <a16:creationId xmlns:a16="http://schemas.microsoft.com/office/drawing/2014/main" id="{A9132F93-B309-493E-A09A-F813938A451F}"/>
              </a:ext>
            </a:extLst>
          </p:cNvPr>
          <p:cNvSpPr txBox="1"/>
          <p:nvPr/>
        </p:nvSpPr>
        <p:spPr>
          <a:xfrm>
            <a:off x="882734" y="2730487"/>
            <a:ext cx="2667516" cy="369332"/>
          </a:xfrm>
          <a:prstGeom prst="rect">
            <a:avLst/>
          </a:prstGeom>
          <a:noFill/>
        </p:spPr>
        <p:txBody>
          <a:bodyPr wrap="square" rtlCol="0">
            <a:spAutoFit/>
          </a:bodyPr>
          <a:lstStyle/>
          <a:p>
            <a:r>
              <a:rPr kumimoji="1" lang="ja-JP" altLang="en-US" dirty="0"/>
              <a:t>値をそのまま使いたい</a:t>
            </a:r>
          </a:p>
        </p:txBody>
      </p:sp>
      <p:sp>
        <p:nvSpPr>
          <p:cNvPr id="18" name="四角形: 角を丸くする 17">
            <a:extLst>
              <a:ext uri="{FF2B5EF4-FFF2-40B4-BE49-F238E27FC236}">
                <a16:creationId xmlns:a16="http://schemas.microsoft.com/office/drawing/2014/main" id="{BDC0567E-87A7-4FE2-AD15-8260DFA026A6}"/>
              </a:ext>
            </a:extLst>
          </p:cNvPr>
          <p:cNvSpPr/>
          <p:nvPr/>
        </p:nvSpPr>
        <p:spPr>
          <a:xfrm>
            <a:off x="5214555" y="1927654"/>
            <a:ext cx="3289987" cy="210682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正方形/長方形 18">
            <a:extLst>
              <a:ext uri="{FF2B5EF4-FFF2-40B4-BE49-F238E27FC236}">
                <a16:creationId xmlns:a16="http://schemas.microsoft.com/office/drawing/2014/main" id="{F990C41E-11F4-4418-9CEB-5A6D917A7FDC}"/>
              </a:ext>
            </a:extLst>
          </p:cNvPr>
          <p:cNvSpPr/>
          <p:nvPr/>
        </p:nvSpPr>
        <p:spPr>
          <a:xfrm>
            <a:off x="5677930" y="1770753"/>
            <a:ext cx="2447413" cy="31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err="1"/>
              <a:t>building_land_chimoku</a:t>
            </a:r>
            <a:endParaRPr kumimoji="1" lang="ja-JP" altLang="en-US" dirty="0"/>
          </a:p>
        </p:txBody>
      </p:sp>
      <p:sp>
        <p:nvSpPr>
          <p:cNvPr id="20" name="テキスト ボックス 19">
            <a:extLst>
              <a:ext uri="{FF2B5EF4-FFF2-40B4-BE49-F238E27FC236}">
                <a16:creationId xmlns:a16="http://schemas.microsoft.com/office/drawing/2014/main" id="{2E971309-A787-4057-9CDB-19898D2008D5}"/>
              </a:ext>
            </a:extLst>
          </p:cNvPr>
          <p:cNvSpPr txBox="1"/>
          <p:nvPr/>
        </p:nvSpPr>
        <p:spPr>
          <a:xfrm>
            <a:off x="5169764" y="2235866"/>
            <a:ext cx="3449077" cy="369332"/>
          </a:xfrm>
          <a:prstGeom prst="rect">
            <a:avLst/>
          </a:prstGeom>
          <a:noFill/>
        </p:spPr>
        <p:txBody>
          <a:bodyPr wrap="square" rtlCol="0">
            <a:spAutoFit/>
          </a:bodyPr>
          <a:lstStyle/>
          <a:p>
            <a:r>
              <a:rPr kumimoji="1" lang="en-US" altLang="ja-JP" dirty="0"/>
              <a:t>【</a:t>
            </a:r>
            <a:r>
              <a:rPr kumimoji="1" lang="ja-JP" altLang="en-US" dirty="0"/>
              <a:t>内容</a:t>
            </a:r>
            <a:r>
              <a:rPr kumimoji="1" lang="en-US" altLang="ja-JP" dirty="0"/>
              <a:t>】</a:t>
            </a:r>
            <a:r>
              <a:rPr kumimoji="1" lang="ja-JP" altLang="en-US" dirty="0"/>
              <a:t>地目</a:t>
            </a:r>
            <a:r>
              <a:rPr kumimoji="1" lang="en-US" altLang="ja-JP" dirty="0"/>
              <a:t>(</a:t>
            </a:r>
            <a:r>
              <a:rPr kumimoji="1" lang="ja-JP" altLang="en-US" dirty="0"/>
              <a:t>宅地</a:t>
            </a:r>
            <a:r>
              <a:rPr kumimoji="1" lang="en-US" altLang="ja-JP" dirty="0"/>
              <a:t>,</a:t>
            </a:r>
            <a:r>
              <a:rPr kumimoji="1" lang="ja-JP" altLang="en-US" dirty="0"/>
              <a:t>畑</a:t>
            </a:r>
            <a:r>
              <a:rPr kumimoji="1" lang="en-US" altLang="ja-JP" dirty="0"/>
              <a:t>,</a:t>
            </a:r>
            <a:r>
              <a:rPr kumimoji="1" lang="ja-JP" altLang="en-US" dirty="0"/>
              <a:t>山林など</a:t>
            </a:r>
            <a:r>
              <a:rPr kumimoji="1" lang="en-US" altLang="ja-JP" dirty="0"/>
              <a:t>)</a:t>
            </a:r>
            <a:endParaRPr kumimoji="1" lang="ja-JP" altLang="en-US" dirty="0"/>
          </a:p>
        </p:txBody>
      </p:sp>
      <p:sp>
        <p:nvSpPr>
          <p:cNvPr id="21" name="テキスト ボックス 20">
            <a:extLst>
              <a:ext uri="{FF2B5EF4-FFF2-40B4-BE49-F238E27FC236}">
                <a16:creationId xmlns:a16="http://schemas.microsoft.com/office/drawing/2014/main" id="{67BC15D8-DC04-4E09-BB26-9D306E047087}"/>
              </a:ext>
            </a:extLst>
          </p:cNvPr>
          <p:cNvSpPr txBox="1"/>
          <p:nvPr/>
        </p:nvSpPr>
        <p:spPr>
          <a:xfrm>
            <a:off x="5378282" y="3229231"/>
            <a:ext cx="3055204" cy="369332"/>
          </a:xfrm>
          <a:prstGeom prst="rect">
            <a:avLst/>
          </a:prstGeom>
          <a:noFill/>
        </p:spPr>
        <p:txBody>
          <a:bodyPr wrap="square" rtlCol="0">
            <a:spAutoFit/>
          </a:bodyPr>
          <a:lstStyle/>
          <a:p>
            <a:r>
              <a:rPr kumimoji="1" lang="ja-JP" altLang="en-US" dirty="0"/>
              <a:t>→  </a:t>
            </a:r>
            <a:r>
              <a:rPr kumimoji="1" lang="ja-JP" altLang="en-US" dirty="0">
                <a:solidFill>
                  <a:srgbClr val="FF0000"/>
                </a:solidFill>
              </a:rPr>
              <a:t>欠損値は全て宅地に変換</a:t>
            </a:r>
          </a:p>
        </p:txBody>
      </p:sp>
      <p:sp>
        <p:nvSpPr>
          <p:cNvPr id="23" name="テキスト ボックス 22">
            <a:extLst>
              <a:ext uri="{FF2B5EF4-FFF2-40B4-BE49-F238E27FC236}">
                <a16:creationId xmlns:a16="http://schemas.microsoft.com/office/drawing/2014/main" id="{E65E8416-30F7-4FDB-8C7D-AFD9BA9B293A}"/>
              </a:ext>
            </a:extLst>
          </p:cNvPr>
          <p:cNvSpPr txBox="1"/>
          <p:nvPr/>
        </p:nvSpPr>
        <p:spPr>
          <a:xfrm>
            <a:off x="5457827" y="2730487"/>
            <a:ext cx="2667516" cy="369332"/>
          </a:xfrm>
          <a:prstGeom prst="rect">
            <a:avLst/>
          </a:prstGeom>
          <a:noFill/>
        </p:spPr>
        <p:txBody>
          <a:bodyPr wrap="square" rtlCol="0">
            <a:spAutoFit/>
          </a:bodyPr>
          <a:lstStyle/>
          <a:p>
            <a:r>
              <a:rPr kumimoji="1" lang="ja-JP" altLang="en-US" dirty="0"/>
              <a:t>宅地が圧倒的に多い</a:t>
            </a:r>
          </a:p>
        </p:txBody>
      </p:sp>
      <p:sp>
        <p:nvSpPr>
          <p:cNvPr id="4" name="テキスト ボックス 3">
            <a:extLst>
              <a:ext uri="{FF2B5EF4-FFF2-40B4-BE49-F238E27FC236}">
                <a16:creationId xmlns:a16="http://schemas.microsoft.com/office/drawing/2014/main" id="{4EE2A815-BA2B-4173-BF66-C7D702E183B3}"/>
              </a:ext>
            </a:extLst>
          </p:cNvPr>
          <p:cNvSpPr txBox="1"/>
          <p:nvPr/>
        </p:nvSpPr>
        <p:spPr>
          <a:xfrm>
            <a:off x="1544600" y="4330337"/>
            <a:ext cx="6603918" cy="369332"/>
          </a:xfrm>
          <a:prstGeom prst="rect">
            <a:avLst/>
          </a:prstGeom>
          <a:noFill/>
        </p:spPr>
        <p:txBody>
          <a:bodyPr wrap="square" rtlCol="0">
            <a:spAutoFit/>
          </a:bodyPr>
          <a:lstStyle/>
          <a:p>
            <a:r>
              <a:rPr kumimoji="1" lang="ja-JP" altLang="en-US" dirty="0"/>
              <a:t>他にも、欠損値を欠損値のまま保持するなどの処理も有り</a:t>
            </a:r>
          </a:p>
        </p:txBody>
      </p:sp>
      <p:sp>
        <p:nvSpPr>
          <p:cNvPr id="22" name="Text 3">
            <a:extLst>
              <a:ext uri="{FF2B5EF4-FFF2-40B4-BE49-F238E27FC236}">
                <a16:creationId xmlns:a16="http://schemas.microsoft.com/office/drawing/2014/main" id="{7E651278-7309-4D21-BE50-C74116A1B82C}"/>
              </a:ext>
            </a:extLst>
          </p:cNvPr>
          <p:cNvSpPr/>
          <p:nvPr/>
        </p:nvSpPr>
        <p:spPr>
          <a:xfrm>
            <a:off x="8530242" y="385788"/>
            <a:ext cx="296556" cy="194284"/>
          </a:xfrm>
          <a:prstGeom prst="rect">
            <a:avLst/>
          </a:prstGeom>
          <a:noFill/>
          <a:ln/>
        </p:spPr>
        <p:txBody>
          <a:bodyPr wrap="none" lIns="0" tIns="0" rIns="0" bIns="0" rtlCol="0" anchor="t">
            <a:spAutoFit/>
          </a:bodyPr>
          <a:lstStyle/>
          <a:p>
            <a:pPr>
              <a:lnSpc>
                <a:spcPts val="1600"/>
              </a:lnSpc>
            </a:pPr>
            <a:r>
              <a:rPr lang="en-US" altLang="ja-JP" sz="1193" b="1" dirty="0">
                <a:solidFill>
                  <a:srgbClr val="0288D1"/>
                </a:solidFill>
              </a:rPr>
              <a:t>8/16</a:t>
            </a:r>
            <a:endParaRPr lang="en-US" sz="1193" dirty="0">
              <a:solidFill>
                <a:srgbClr val="0288D1"/>
              </a:solidFill>
            </a:endParaRPr>
          </a:p>
        </p:txBody>
      </p:sp>
    </p:spTree>
    <p:extLst>
      <p:ext uri="{BB962C8B-B14F-4D97-AF65-F5344CB8AC3E}">
        <p14:creationId xmlns:p14="http://schemas.microsoft.com/office/powerpoint/2010/main" val="25680750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499" y="618353"/>
            <a:ext cx="3289987" cy="310406"/>
          </a:xfrm>
          <a:prstGeom prst="rect">
            <a:avLst/>
          </a:prstGeom>
          <a:noFill/>
          <a:ln/>
        </p:spPr>
        <p:txBody>
          <a:bodyPr wrap="square" lIns="0" tIns="0" rIns="0" bIns="0" rtlCol="0" anchor="t">
            <a:spAutoFit/>
          </a:bodyPr>
          <a:lstStyle/>
          <a:p>
            <a:pPr marL="0" indent="0" algn="l">
              <a:lnSpc>
                <a:spcPts val="2200"/>
              </a:lnSpc>
              <a:buNone/>
            </a:pPr>
            <a:r>
              <a:rPr lang="ja-JP" altLang="en-US" sz="2800" b="1" dirty="0">
                <a:solidFill>
                  <a:srgbClr val="0070C0"/>
                </a:solidFill>
              </a:rPr>
              <a:t>特徴量の作成③</a:t>
            </a:r>
            <a:endParaRPr lang="en-US" sz="2800" b="1" dirty="0">
              <a:solidFill>
                <a:srgbClr val="0070C0"/>
              </a:solidFill>
            </a:endParaRPr>
          </a:p>
        </p:txBody>
      </p:sp>
      <p:sp>
        <p:nvSpPr>
          <p:cNvPr id="28" name="四角形: 角を丸くする 27">
            <a:extLst>
              <a:ext uri="{FF2B5EF4-FFF2-40B4-BE49-F238E27FC236}">
                <a16:creationId xmlns:a16="http://schemas.microsoft.com/office/drawing/2014/main" id="{0DE0D713-8D70-4A95-817E-D6EA6785F7C4}"/>
              </a:ext>
            </a:extLst>
          </p:cNvPr>
          <p:cNvSpPr/>
          <p:nvPr/>
        </p:nvSpPr>
        <p:spPr>
          <a:xfrm>
            <a:off x="6936913" y="3920086"/>
            <a:ext cx="2066263" cy="545810"/>
          </a:xfrm>
          <a:prstGeom prst="round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tx1"/>
                </a:solidFill>
              </a:rPr>
              <a:t>価格予測モデル</a:t>
            </a:r>
          </a:p>
        </p:txBody>
      </p:sp>
      <p:sp>
        <p:nvSpPr>
          <p:cNvPr id="11" name="Text 3">
            <a:extLst>
              <a:ext uri="{FF2B5EF4-FFF2-40B4-BE49-F238E27FC236}">
                <a16:creationId xmlns:a16="http://schemas.microsoft.com/office/drawing/2014/main" id="{C51AB799-265C-4E44-B5FA-92C821E84DD3}"/>
              </a:ext>
            </a:extLst>
          </p:cNvPr>
          <p:cNvSpPr/>
          <p:nvPr/>
        </p:nvSpPr>
        <p:spPr>
          <a:xfrm>
            <a:off x="8530242" y="385788"/>
            <a:ext cx="296556" cy="194284"/>
          </a:xfrm>
          <a:prstGeom prst="rect">
            <a:avLst/>
          </a:prstGeom>
          <a:noFill/>
          <a:ln/>
        </p:spPr>
        <p:txBody>
          <a:bodyPr wrap="none" lIns="0" tIns="0" rIns="0" bIns="0" rtlCol="0" anchor="t">
            <a:spAutoFit/>
          </a:bodyPr>
          <a:lstStyle/>
          <a:p>
            <a:pPr>
              <a:lnSpc>
                <a:spcPts val="1600"/>
              </a:lnSpc>
            </a:pPr>
            <a:r>
              <a:rPr lang="en-US" altLang="ja-JP" sz="1193" b="1" dirty="0">
                <a:solidFill>
                  <a:srgbClr val="0288D1"/>
                </a:solidFill>
              </a:rPr>
              <a:t>9/16</a:t>
            </a:r>
            <a:endParaRPr lang="en-US" sz="1193" dirty="0">
              <a:solidFill>
                <a:srgbClr val="0288D1"/>
              </a:solidFill>
            </a:endParaRPr>
          </a:p>
        </p:txBody>
      </p:sp>
      <p:sp>
        <p:nvSpPr>
          <p:cNvPr id="14" name="矢印: 下 13">
            <a:extLst>
              <a:ext uri="{FF2B5EF4-FFF2-40B4-BE49-F238E27FC236}">
                <a16:creationId xmlns:a16="http://schemas.microsoft.com/office/drawing/2014/main" id="{67FF9E78-CEE9-406D-A2E6-71B792B3B213}"/>
              </a:ext>
            </a:extLst>
          </p:cNvPr>
          <p:cNvSpPr/>
          <p:nvPr/>
        </p:nvSpPr>
        <p:spPr>
          <a:xfrm>
            <a:off x="1734236" y="1786544"/>
            <a:ext cx="596900" cy="269849"/>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矢印: 折線 1">
            <a:extLst>
              <a:ext uri="{FF2B5EF4-FFF2-40B4-BE49-F238E27FC236}">
                <a16:creationId xmlns:a16="http://schemas.microsoft.com/office/drawing/2014/main" id="{12AF4144-A692-4E51-A5FE-6F79C179B093}"/>
              </a:ext>
            </a:extLst>
          </p:cNvPr>
          <p:cNvSpPr/>
          <p:nvPr/>
        </p:nvSpPr>
        <p:spPr>
          <a:xfrm rot="10800000">
            <a:off x="3651440" y="2741378"/>
            <a:ext cx="1628003" cy="749300"/>
          </a:xfrm>
          <a:prstGeom prst="bentArrow">
            <a:avLst>
              <a:gd name="adj1" fmla="val 25000"/>
              <a:gd name="adj2" fmla="val 26649"/>
              <a:gd name="adj3" fmla="val 25000"/>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 name="矢印: 下 16">
            <a:extLst>
              <a:ext uri="{FF2B5EF4-FFF2-40B4-BE49-F238E27FC236}">
                <a16:creationId xmlns:a16="http://schemas.microsoft.com/office/drawing/2014/main" id="{7C8D439B-CF62-4FF0-83D4-F622D35142E5}"/>
              </a:ext>
            </a:extLst>
          </p:cNvPr>
          <p:cNvSpPr/>
          <p:nvPr/>
        </p:nvSpPr>
        <p:spPr>
          <a:xfrm>
            <a:off x="1701456" y="2686109"/>
            <a:ext cx="596900" cy="269849"/>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矢印: 下 17">
            <a:extLst>
              <a:ext uri="{FF2B5EF4-FFF2-40B4-BE49-F238E27FC236}">
                <a16:creationId xmlns:a16="http://schemas.microsoft.com/office/drawing/2014/main" id="{F8C4AEE4-2396-4F8F-97A6-073C94EAFECA}"/>
              </a:ext>
            </a:extLst>
          </p:cNvPr>
          <p:cNvSpPr/>
          <p:nvPr/>
        </p:nvSpPr>
        <p:spPr>
          <a:xfrm>
            <a:off x="1669364" y="3607424"/>
            <a:ext cx="596900" cy="269849"/>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矢印: 下 18">
            <a:extLst>
              <a:ext uri="{FF2B5EF4-FFF2-40B4-BE49-F238E27FC236}">
                <a16:creationId xmlns:a16="http://schemas.microsoft.com/office/drawing/2014/main" id="{527188EB-4301-4D8F-B001-FBCE8C9ECFC3}"/>
              </a:ext>
            </a:extLst>
          </p:cNvPr>
          <p:cNvSpPr/>
          <p:nvPr/>
        </p:nvSpPr>
        <p:spPr>
          <a:xfrm rot="16200000">
            <a:off x="3487913" y="4072805"/>
            <a:ext cx="596900" cy="269849"/>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矢印: 下 21">
            <a:extLst>
              <a:ext uri="{FF2B5EF4-FFF2-40B4-BE49-F238E27FC236}">
                <a16:creationId xmlns:a16="http://schemas.microsoft.com/office/drawing/2014/main" id="{E00D7CD7-1940-4BBC-9DA6-BB14EC89B80F}"/>
              </a:ext>
            </a:extLst>
          </p:cNvPr>
          <p:cNvSpPr/>
          <p:nvPr/>
        </p:nvSpPr>
        <p:spPr>
          <a:xfrm rot="16200000">
            <a:off x="6329685" y="4068120"/>
            <a:ext cx="596900" cy="269849"/>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フローチャート: データ 5">
            <a:extLst>
              <a:ext uri="{FF2B5EF4-FFF2-40B4-BE49-F238E27FC236}">
                <a16:creationId xmlns:a16="http://schemas.microsoft.com/office/drawing/2014/main" id="{45B1F023-3EFA-46CE-918E-DAEE81005807}"/>
              </a:ext>
            </a:extLst>
          </p:cNvPr>
          <p:cNvSpPr/>
          <p:nvPr/>
        </p:nvSpPr>
        <p:spPr>
          <a:xfrm>
            <a:off x="353603" y="1198096"/>
            <a:ext cx="3567685" cy="545810"/>
          </a:xfrm>
          <a:prstGeom prst="flowChartInputOutp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148</a:t>
            </a:r>
            <a:r>
              <a:rPr kumimoji="1" lang="ja-JP" altLang="en-US" dirty="0">
                <a:solidFill>
                  <a:schemeClr val="tx1"/>
                </a:solidFill>
              </a:rPr>
              <a:t>種類の説明変数</a:t>
            </a:r>
          </a:p>
        </p:txBody>
      </p:sp>
      <p:sp>
        <p:nvSpPr>
          <p:cNvPr id="29" name="正方形/長方形 28">
            <a:extLst>
              <a:ext uri="{FF2B5EF4-FFF2-40B4-BE49-F238E27FC236}">
                <a16:creationId xmlns:a16="http://schemas.microsoft.com/office/drawing/2014/main" id="{0E955051-0AF2-4DC6-9705-4887A4D4D828}"/>
              </a:ext>
            </a:extLst>
          </p:cNvPr>
          <p:cNvSpPr/>
          <p:nvPr/>
        </p:nvSpPr>
        <p:spPr>
          <a:xfrm>
            <a:off x="183523" y="1076589"/>
            <a:ext cx="1101725" cy="2921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データセット</a:t>
            </a:r>
          </a:p>
        </p:txBody>
      </p:sp>
      <p:sp>
        <p:nvSpPr>
          <p:cNvPr id="23" name="フローチャート: データ 22">
            <a:extLst>
              <a:ext uri="{FF2B5EF4-FFF2-40B4-BE49-F238E27FC236}">
                <a16:creationId xmlns:a16="http://schemas.microsoft.com/office/drawing/2014/main" id="{E6CDF4FD-C6DB-4E8C-A19B-BD12B21C09CC}"/>
              </a:ext>
            </a:extLst>
          </p:cNvPr>
          <p:cNvSpPr/>
          <p:nvPr/>
        </p:nvSpPr>
        <p:spPr>
          <a:xfrm>
            <a:off x="353603" y="2094167"/>
            <a:ext cx="3567685" cy="545810"/>
          </a:xfrm>
          <a:prstGeom prst="flowChartInputOutp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28</a:t>
            </a:r>
            <a:r>
              <a:rPr kumimoji="1" lang="ja-JP" altLang="en-US" dirty="0">
                <a:solidFill>
                  <a:schemeClr val="tx1"/>
                </a:solidFill>
              </a:rPr>
              <a:t>種類の説明変数</a:t>
            </a:r>
          </a:p>
        </p:txBody>
      </p:sp>
      <p:sp>
        <p:nvSpPr>
          <p:cNvPr id="25" name="フローチャート: データ 24">
            <a:extLst>
              <a:ext uri="{FF2B5EF4-FFF2-40B4-BE49-F238E27FC236}">
                <a16:creationId xmlns:a16="http://schemas.microsoft.com/office/drawing/2014/main" id="{EFA339E3-3458-465D-A4BF-E685D09E0DF2}"/>
              </a:ext>
            </a:extLst>
          </p:cNvPr>
          <p:cNvSpPr/>
          <p:nvPr/>
        </p:nvSpPr>
        <p:spPr>
          <a:xfrm>
            <a:off x="3534050" y="2094167"/>
            <a:ext cx="3577264" cy="545810"/>
          </a:xfrm>
          <a:prstGeom prst="flowChartInputOutp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rPr>
              <a:t>2</a:t>
            </a:r>
            <a:r>
              <a:rPr kumimoji="1" lang="ja-JP" altLang="en-US" dirty="0">
                <a:solidFill>
                  <a:schemeClr val="tx1"/>
                </a:solidFill>
              </a:rPr>
              <a:t>種類の外部データ</a:t>
            </a:r>
          </a:p>
        </p:txBody>
      </p:sp>
      <p:sp>
        <p:nvSpPr>
          <p:cNvPr id="9" name="フローチャート: 定義済み処理 8">
            <a:extLst>
              <a:ext uri="{FF2B5EF4-FFF2-40B4-BE49-F238E27FC236}">
                <a16:creationId xmlns:a16="http://schemas.microsoft.com/office/drawing/2014/main" id="{2C12CF01-D406-4AA1-9915-10E1D29DB2C2}"/>
              </a:ext>
            </a:extLst>
          </p:cNvPr>
          <p:cNvSpPr/>
          <p:nvPr/>
        </p:nvSpPr>
        <p:spPr>
          <a:xfrm>
            <a:off x="4130946" y="3920086"/>
            <a:ext cx="2224216" cy="541688"/>
          </a:xfrm>
          <a:prstGeom prst="flowChartPredefinedProcess">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solidFill>
                  <a:schemeClr val="tx1"/>
                </a:solidFill>
              </a:rPr>
              <a:t>LightGBM</a:t>
            </a:r>
            <a:endParaRPr kumimoji="1" lang="ja-JP" altLang="en-US" dirty="0">
              <a:solidFill>
                <a:schemeClr val="tx1"/>
              </a:solidFill>
            </a:endParaRPr>
          </a:p>
        </p:txBody>
      </p:sp>
      <p:sp>
        <p:nvSpPr>
          <p:cNvPr id="26" name="フローチャート: データ 25">
            <a:extLst>
              <a:ext uri="{FF2B5EF4-FFF2-40B4-BE49-F238E27FC236}">
                <a16:creationId xmlns:a16="http://schemas.microsoft.com/office/drawing/2014/main" id="{F78A32E4-856A-4D51-9A67-7CF2BFEC5364}"/>
              </a:ext>
            </a:extLst>
          </p:cNvPr>
          <p:cNvSpPr/>
          <p:nvPr/>
        </p:nvSpPr>
        <p:spPr>
          <a:xfrm>
            <a:off x="353602" y="3940919"/>
            <a:ext cx="3180447" cy="545810"/>
          </a:xfrm>
          <a:prstGeom prst="flowChartInputOutpu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101</a:t>
            </a:r>
            <a:r>
              <a:rPr kumimoji="1" lang="ja-JP" altLang="en-US" b="1" dirty="0">
                <a:solidFill>
                  <a:schemeClr val="tx1"/>
                </a:solidFill>
              </a:rPr>
              <a:t>種類の特徴量</a:t>
            </a:r>
          </a:p>
        </p:txBody>
      </p:sp>
      <p:sp>
        <p:nvSpPr>
          <p:cNvPr id="10" name="フローチャート: 準備 9">
            <a:extLst>
              <a:ext uri="{FF2B5EF4-FFF2-40B4-BE49-F238E27FC236}">
                <a16:creationId xmlns:a16="http://schemas.microsoft.com/office/drawing/2014/main" id="{22C5921E-008E-4353-9E38-FA48E594ECB0}"/>
              </a:ext>
            </a:extLst>
          </p:cNvPr>
          <p:cNvSpPr/>
          <p:nvPr/>
        </p:nvSpPr>
        <p:spPr>
          <a:xfrm>
            <a:off x="353603" y="3019604"/>
            <a:ext cx="3180447" cy="545810"/>
          </a:xfrm>
          <a:prstGeom prst="flowChartPreparation">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データ加工</a:t>
            </a:r>
          </a:p>
        </p:txBody>
      </p:sp>
    </p:spTree>
    <p:extLst>
      <p:ext uri="{BB962C8B-B14F-4D97-AF65-F5344CB8AC3E}">
        <p14:creationId xmlns:p14="http://schemas.microsoft.com/office/powerpoint/2010/main" val="3020075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499" y="618353"/>
            <a:ext cx="3166420" cy="310406"/>
          </a:xfrm>
          <a:prstGeom prst="rect">
            <a:avLst/>
          </a:prstGeom>
          <a:noFill/>
          <a:ln/>
        </p:spPr>
        <p:txBody>
          <a:bodyPr wrap="square" lIns="0" tIns="0" rIns="0" bIns="0" rtlCol="0" anchor="t">
            <a:spAutoFit/>
          </a:bodyPr>
          <a:lstStyle/>
          <a:p>
            <a:pPr marL="0" indent="0" algn="l">
              <a:lnSpc>
                <a:spcPts val="2200"/>
              </a:lnSpc>
              <a:buNone/>
            </a:pPr>
            <a:r>
              <a:rPr lang="ja-JP" altLang="en-US" sz="2800" b="1" dirty="0">
                <a:solidFill>
                  <a:srgbClr val="0070C0"/>
                </a:solidFill>
              </a:rPr>
              <a:t>モデルについて①</a:t>
            </a:r>
            <a:endParaRPr lang="en-US" sz="2800" b="1" dirty="0">
              <a:solidFill>
                <a:srgbClr val="0070C0"/>
              </a:solidFill>
            </a:endParaRPr>
          </a:p>
        </p:txBody>
      </p:sp>
      <p:sp>
        <p:nvSpPr>
          <p:cNvPr id="35" name="Text 3">
            <a:extLst>
              <a:ext uri="{FF2B5EF4-FFF2-40B4-BE49-F238E27FC236}">
                <a16:creationId xmlns:a16="http://schemas.microsoft.com/office/drawing/2014/main" id="{D7DD7A18-C5A6-4CA0-89B5-BB8897FF7F4A}"/>
              </a:ext>
            </a:extLst>
          </p:cNvPr>
          <p:cNvSpPr/>
          <p:nvPr/>
        </p:nvSpPr>
        <p:spPr>
          <a:xfrm>
            <a:off x="8530242" y="385788"/>
            <a:ext cx="373500" cy="194284"/>
          </a:xfrm>
          <a:prstGeom prst="rect">
            <a:avLst/>
          </a:prstGeom>
          <a:noFill/>
          <a:ln/>
        </p:spPr>
        <p:txBody>
          <a:bodyPr wrap="none" lIns="0" tIns="0" rIns="0" bIns="0" rtlCol="0" anchor="t">
            <a:spAutoFit/>
          </a:bodyPr>
          <a:lstStyle/>
          <a:p>
            <a:pPr>
              <a:lnSpc>
                <a:spcPts val="1600"/>
              </a:lnSpc>
            </a:pPr>
            <a:r>
              <a:rPr lang="en-US" altLang="ja-JP" sz="1193" b="1" dirty="0">
                <a:solidFill>
                  <a:srgbClr val="0288D1"/>
                </a:solidFill>
              </a:rPr>
              <a:t>10/16</a:t>
            </a:r>
            <a:endParaRPr lang="en-US" sz="1193" dirty="0">
              <a:solidFill>
                <a:srgbClr val="0288D1"/>
              </a:solidFill>
            </a:endParaRPr>
          </a:p>
        </p:txBody>
      </p:sp>
      <p:sp>
        <p:nvSpPr>
          <p:cNvPr id="8" name="フローチャート: データ 7">
            <a:extLst>
              <a:ext uri="{FF2B5EF4-FFF2-40B4-BE49-F238E27FC236}">
                <a16:creationId xmlns:a16="http://schemas.microsoft.com/office/drawing/2014/main" id="{CE7DD586-C2C1-4FBF-B001-488931A136C4}"/>
              </a:ext>
            </a:extLst>
          </p:cNvPr>
          <p:cNvSpPr/>
          <p:nvPr/>
        </p:nvSpPr>
        <p:spPr>
          <a:xfrm>
            <a:off x="1048931" y="1843587"/>
            <a:ext cx="1512267" cy="545810"/>
          </a:xfrm>
          <a:prstGeom prst="flowChartInputOutp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rPr>
              <a:t>物件</a:t>
            </a:r>
            <a:endParaRPr kumimoji="1" lang="en-US" altLang="ja-JP" sz="1600" dirty="0">
              <a:solidFill>
                <a:schemeClr val="tx1"/>
              </a:solidFill>
            </a:endParaRPr>
          </a:p>
          <a:p>
            <a:pPr algn="ctr"/>
            <a:r>
              <a:rPr kumimoji="1" lang="ja-JP" altLang="en-US" sz="1600" dirty="0">
                <a:solidFill>
                  <a:schemeClr val="tx1"/>
                </a:solidFill>
              </a:rPr>
              <a:t>データ</a:t>
            </a:r>
          </a:p>
        </p:txBody>
      </p:sp>
      <p:sp>
        <p:nvSpPr>
          <p:cNvPr id="9" name="四角形: 角を丸くする 8">
            <a:extLst>
              <a:ext uri="{FF2B5EF4-FFF2-40B4-BE49-F238E27FC236}">
                <a16:creationId xmlns:a16="http://schemas.microsoft.com/office/drawing/2014/main" id="{1374AB1F-76C1-4C35-8A8C-11042453C007}"/>
              </a:ext>
            </a:extLst>
          </p:cNvPr>
          <p:cNvSpPr/>
          <p:nvPr/>
        </p:nvSpPr>
        <p:spPr>
          <a:xfrm>
            <a:off x="3524842" y="1831031"/>
            <a:ext cx="2066263" cy="545810"/>
          </a:xfrm>
          <a:prstGeom prst="round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rPr>
              <a:t>価格予測モデル</a:t>
            </a:r>
          </a:p>
        </p:txBody>
      </p:sp>
      <p:sp>
        <p:nvSpPr>
          <p:cNvPr id="11" name="矢印: 下 10">
            <a:extLst>
              <a:ext uri="{FF2B5EF4-FFF2-40B4-BE49-F238E27FC236}">
                <a16:creationId xmlns:a16="http://schemas.microsoft.com/office/drawing/2014/main" id="{791817C7-40DC-4666-98B8-D64CB602B79C}"/>
              </a:ext>
            </a:extLst>
          </p:cNvPr>
          <p:cNvSpPr/>
          <p:nvPr/>
        </p:nvSpPr>
        <p:spPr>
          <a:xfrm rot="16200000">
            <a:off x="2981387" y="1869132"/>
            <a:ext cx="123266" cy="494720"/>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AAFA498B-2BAE-4257-85AF-E2DE5AA4524A}"/>
              </a:ext>
            </a:extLst>
          </p:cNvPr>
          <p:cNvSpPr/>
          <p:nvPr/>
        </p:nvSpPr>
        <p:spPr>
          <a:xfrm>
            <a:off x="6505835" y="1827598"/>
            <a:ext cx="1989437" cy="59690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rPr>
              <a:t>予測価格</a:t>
            </a:r>
          </a:p>
        </p:txBody>
      </p:sp>
      <p:sp>
        <p:nvSpPr>
          <p:cNvPr id="13" name="四角形: 角を丸くする 12">
            <a:extLst>
              <a:ext uri="{FF2B5EF4-FFF2-40B4-BE49-F238E27FC236}">
                <a16:creationId xmlns:a16="http://schemas.microsoft.com/office/drawing/2014/main" id="{D6E7DB34-B4C1-4DD1-AEF6-F2A907A27993}"/>
              </a:ext>
            </a:extLst>
          </p:cNvPr>
          <p:cNvSpPr/>
          <p:nvPr/>
        </p:nvSpPr>
        <p:spPr>
          <a:xfrm>
            <a:off x="510707" y="1439038"/>
            <a:ext cx="8182271" cy="1211486"/>
          </a:xfrm>
          <a:prstGeom prst="roundRect">
            <a:avLst/>
          </a:prstGeom>
          <a:noFill/>
          <a:ln w="3810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7B4722AE-B243-40EE-8981-83A2FB39561C}"/>
              </a:ext>
            </a:extLst>
          </p:cNvPr>
          <p:cNvSpPr/>
          <p:nvPr/>
        </p:nvSpPr>
        <p:spPr>
          <a:xfrm>
            <a:off x="3639063" y="1043954"/>
            <a:ext cx="1865873" cy="62567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One-Stage</a:t>
            </a:r>
            <a:r>
              <a:rPr kumimoji="1" lang="ja-JP" altLang="en-US" dirty="0"/>
              <a:t>モデル</a:t>
            </a:r>
          </a:p>
        </p:txBody>
      </p:sp>
      <p:sp>
        <p:nvSpPr>
          <p:cNvPr id="14" name="フローチャート: データ 13">
            <a:extLst>
              <a:ext uri="{FF2B5EF4-FFF2-40B4-BE49-F238E27FC236}">
                <a16:creationId xmlns:a16="http://schemas.microsoft.com/office/drawing/2014/main" id="{A03242A4-36A6-4750-A81C-341AE4DA30B3}"/>
              </a:ext>
            </a:extLst>
          </p:cNvPr>
          <p:cNvSpPr/>
          <p:nvPr/>
        </p:nvSpPr>
        <p:spPr>
          <a:xfrm>
            <a:off x="752412" y="3915048"/>
            <a:ext cx="1215703" cy="545810"/>
          </a:xfrm>
          <a:prstGeom prst="flowChartInputOutp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物件</a:t>
            </a:r>
            <a:endParaRPr kumimoji="1" lang="en-US" altLang="ja-JP" sz="1200" dirty="0">
              <a:solidFill>
                <a:schemeClr val="tx1"/>
              </a:solidFill>
            </a:endParaRPr>
          </a:p>
          <a:p>
            <a:pPr algn="ctr"/>
            <a:r>
              <a:rPr kumimoji="1" lang="ja-JP" altLang="en-US" sz="1200" dirty="0">
                <a:solidFill>
                  <a:schemeClr val="tx1"/>
                </a:solidFill>
              </a:rPr>
              <a:t>データ</a:t>
            </a:r>
          </a:p>
        </p:txBody>
      </p:sp>
      <p:sp>
        <p:nvSpPr>
          <p:cNvPr id="15" name="四角形: 角を丸くする 14">
            <a:extLst>
              <a:ext uri="{FF2B5EF4-FFF2-40B4-BE49-F238E27FC236}">
                <a16:creationId xmlns:a16="http://schemas.microsoft.com/office/drawing/2014/main" id="{0FC3FCF4-1690-4870-B237-315E8837E568}"/>
              </a:ext>
            </a:extLst>
          </p:cNvPr>
          <p:cNvSpPr/>
          <p:nvPr/>
        </p:nvSpPr>
        <p:spPr>
          <a:xfrm>
            <a:off x="2074810" y="4228996"/>
            <a:ext cx="1793096" cy="739542"/>
          </a:xfrm>
          <a:prstGeom prst="round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rPr>
              <a:t>価格予測モデル</a:t>
            </a:r>
            <a:r>
              <a:rPr kumimoji="1" lang="en-US" altLang="ja-JP" sz="1200" b="1" dirty="0">
                <a:solidFill>
                  <a:schemeClr val="tx1"/>
                </a:solidFill>
              </a:rPr>
              <a:t>(Low)</a:t>
            </a:r>
          </a:p>
          <a:p>
            <a:pPr algn="ctr"/>
            <a:r>
              <a:rPr kumimoji="1" lang="ja-JP" altLang="en-US" sz="1200" b="1" dirty="0">
                <a:solidFill>
                  <a:schemeClr val="tx1"/>
                </a:solidFill>
              </a:rPr>
              <a:t>価格予測モデル</a:t>
            </a:r>
            <a:r>
              <a:rPr kumimoji="1" lang="en-US" altLang="ja-JP" sz="1200" b="1" dirty="0">
                <a:solidFill>
                  <a:schemeClr val="tx1"/>
                </a:solidFill>
              </a:rPr>
              <a:t>(Mid)</a:t>
            </a:r>
          </a:p>
          <a:p>
            <a:pPr algn="ctr"/>
            <a:r>
              <a:rPr kumimoji="1" lang="ja-JP" altLang="en-US" sz="1200" b="1" dirty="0">
                <a:solidFill>
                  <a:schemeClr val="tx1"/>
                </a:solidFill>
              </a:rPr>
              <a:t>価格予測モデル</a:t>
            </a:r>
            <a:r>
              <a:rPr kumimoji="1" lang="en-US" altLang="ja-JP" sz="1200" b="1" dirty="0">
                <a:solidFill>
                  <a:schemeClr val="tx1"/>
                </a:solidFill>
              </a:rPr>
              <a:t>(High)</a:t>
            </a:r>
            <a:endParaRPr kumimoji="1" lang="ja-JP" altLang="en-US" sz="1200" b="1" dirty="0">
              <a:solidFill>
                <a:schemeClr val="tx1"/>
              </a:solidFill>
            </a:endParaRPr>
          </a:p>
        </p:txBody>
      </p:sp>
      <p:sp>
        <p:nvSpPr>
          <p:cNvPr id="16" name="楕円 15">
            <a:extLst>
              <a:ext uri="{FF2B5EF4-FFF2-40B4-BE49-F238E27FC236}">
                <a16:creationId xmlns:a16="http://schemas.microsoft.com/office/drawing/2014/main" id="{337BE635-8AA7-4CDF-A093-E78A39F55D39}"/>
              </a:ext>
            </a:extLst>
          </p:cNvPr>
          <p:cNvSpPr/>
          <p:nvPr/>
        </p:nvSpPr>
        <p:spPr>
          <a:xfrm>
            <a:off x="7400467" y="3905938"/>
            <a:ext cx="1275545" cy="596901"/>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rPr>
              <a:t>予測価格</a:t>
            </a:r>
          </a:p>
        </p:txBody>
      </p:sp>
      <p:sp>
        <p:nvSpPr>
          <p:cNvPr id="17" name="四角形: 角を丸くする 16">
            <a:extLst>
              <a:ext uri="{FF2B5EF4-FFF2-40B4-BE49-F238E27FC236}">
                <a16:creationId xmlns:a16="http://schemas.microsoft.com/office/drawing/2014/main" id="{5D952D77-3362-4227-AA8B-44D768A4C288}"/>
              </a:ext>
            </a:extLst>
          </p:cNvPr>
          <p:cNvSpPr/>
          <p:nvPr/>
        </p:nvSpPr>
        <p:spPr>
          <a:xfrm>
            <a:off x="510707" y="3041193"/>
            <a:ext cx="8182271" cy="1990857"/>
          </a:xfrm>
          <a:prstGeom prst="round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342E1C57-358B-41BA-A3C0-AFB2E7E680BF}"/>
              </a:ext>
            </a:extLst>
          </p:cNvPr>
          <p:cNvSpPr/>
          <p:nvPr/>
        </p:nvSpPr>
        <p:spPr>
          <a:xfrm>
            <a:off x="3668905" y="2732770"/>
            <a:ext cx="1865873" cy="62567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Two-Stage</a:t>
            </a:r>
            <a:r>
              <a:rPr kumimoji="1" lang="ja-JP" altLang="en-US" dirty="0"/>
              <a:t>モデル</a:t>
            </a:r>
          </a:p>
        </p:txBody>
      </p:sp>
      <p:sp>
        <p:nvSpPr>
          <p:cNvPr id="19" name="四角形: 角を丸くする 18">
            <a:extLst>
              <a:ext uri="{FF2B5EF4-FFF2-40B4-BE49-F238E27FC236}">
                <a16:creationId xmlns:a16="http://schemas.microsoft.com/office/drawing/2014/main" id="{B7387CDD-B61E-4358-BDCE-9C75290D962D}"/>
              </a:ext>
            </a:extLst>
          </p:cNvPr>
          <p:cNvSpPr/>
          <p:nvPr/>
        </p:nvSpPr>
        <p:spPr>
          <a:xfrm>
            <a:off x="2053020" y="3543972"/>
            <a:ext cx="1793096" cy="545810"/>
          </a:xfrm>
          <a:prstGeom prst="round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rPr>
              <a:t>価格帯確率予測モデル</a:t>
            </a:r>
          </a:p>
        </p:txBody>
      </p:sp>
      <p:sp>
        <p:nvSpPr>
          <p:cNvPr id="20" name="正方形/長方形 19">
            <a:extLst>
              <a:ext uri="{FF2B5EF4-FFF2-40B4-BE49-F238E27FC236}">
                <a16:creationId xmlns:a16="http://schemas.microsoft.com/office/drawing/2014/main" id="{5317AFD8-8D6C-4583-A39D-351D985D6646}"/>
              </a:ext>
            </a:extLst>
          </p:cNvPr>
          <p:cNvSpPr/>
          <p:nvPr/>
        </p:nvSpPr>
        <p:spPr>
          <a:xfrm>
            <a:off x="4336675" y="3424201"/>
            <a:ext cx="1736249" cy="7390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dirty="0">
                <a:solidFill>
                  <a:schemeClr val="tx1"/>
                </a:solidFill>
              </a:rPr>
              <a:t>Low</a:t>
            </a:r>
            <a:r>
              <a:rPr kumimoji="1" lang="ja-JP" altLang="en-US" sz="1200" dirty="0">
                <a:solidFill>
                  <a:schemeClr val="tx1"/>
                </a:solidFill>
              </a:rPr>
              <a:t>の確率：</a:t>
            </a:r>
            <a:r>
              <a:rPr kumimoji="1" lang="en-US" altLang="ja-JP" sz="1200" dirty="0" err="1">
                <a:solidFill>
                  <a:schemeClr val="tx1"/>
                </a:solidFill>
              </a:rPr>
              <a:t>p_Low</a:t>
            </a:r>
            <a:endParaRPr kumimoji="1" lang="en-US" altLang="ja-JP" sz="1200" dirty="0">
              <a:solidFill>
                <a:schemeClr val="tx1"/>
              </a:solidFill>
            </a:endParaRPr>
          </a:p>
          <a:p>
            <a:r>
              <a:rPr kumimoji="1" lang="en-US" altLang="ja-JP" sz="1200" dirty="0">
                <a:solidFill>
                  <a:schemeClr val="tx1"/>
                </a:solidFill>
              </a:rPr>
              <a:t>Mid</a:t>
            </a:r>
            <a:r>
              <a:rPr kumimoji="1" lang="ja-JP" altLang="en-US" sz="1200" dirty="0">
                <a:solidFill>
                  <a:schemeClr val="tx1"/>
                </a:solidFill>
              </a:rPr>
              <a:t>の確率：</a:t>
            </a:r>
            <a:r>
              <a:rPr kumimoji="1" lang="en-US" altLang="ja-JP" sz="1200" dirty="0" err="1">
                <a:solidFill>
                  <a:schemeClr val="tx1"/>
                </a:solidFill>
              </a:rPr>
              <a:t>p_Mid</a:t>
            </a:r>
            <a:endParaRPr kumimoji="1" lang="en-US" altLang="ja-JP" sz="1200" dirty="0">
              <a:solidFill>
                <a:schemeClr val="tx1"/>
              </a:solidFill>
            </a:endParaRPr>
          </a:p>
          <a:p>
            <a:r>
              <a:rPr kumimoji="1" lang="en-US" altLang="ja-JP" sz="1200" dirty="0">
                <a:solidFill>
                  <a:schemeClr val="tx1"/>
                </a:solidFill>
              </a:rPr>
              <a:t>High</a:t>
            </a:r>
            <a:r>
              <a:rPr kumimoji="1" lang="ja-JP" altLang="en-US" sz="1200" dirty="0">
                <a:solidFill>
                  <a:schemeClr val="tx1"/>
                </a:solidFill>
              </a:rPr>
              <a:t>の確率：</a:t>
            </a:r>
            <a:r>
              <a:rPr kumimoji="1" lang="en-US" altLang="ja-JP" sz="1200" dirty="0" err="1">
                <a:solidFill>
                  <a:schemeClr val="tx1"/>
                </a:solidFill>
              </a:rPr>
              <a:t>p_High</a:t>
            </a:r>
            <a:endParaRPr kumimoji="1" lang="en-US" altLang="ja-JP" sz="1200" dirty="0">
              <a:solidFill>
                <a:schemeClr val="tx1"/>
              </a:solidFill>
            </a:endParaRPr>
          </a:p>
        </p:txBody>
      </p:sp>
      <p:sp>
        <p:nvSpPr>
          <p:cNvPr id="21" name="矢印: 下 20">
            <a:extLst>
              <a:ext uri="{FF2B5EF4-FFF2-40B4-BE49-F238E27FC236}">
                <a16:creationId xmlns:a16="http://schemas.microsoft.com/office/drawing/2014/main" id="{A495DBBB-ACED-4412-BFFA-36F13078D603}"/>
              </a:ext>
            </a:extLst>
          </p:cNvPr>
          <p:cNvSpPr/>
          <p:nvPr/>
        </p:nvSpPr>
        <p:spPr>
          <a:xfrm rot="16200000">
            <a:off x="4042980" y="4450373"/>
            <a:ext cx="92082" cy="296787"/>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B808EE6D-2B9B-47F4-8069-E2ED6A7499A9}"/>
              </a:ext>
            </a:extLst>
          </p:cNvPr>
          <p:cNvSpPr/>
          <p:nvPr/>
        </p:nvSpPr>
        <p:spPr>
          <a:xfrm>
            <a:off x="4336677" y="4228996"/>
            <a:ext cx="1736250" cy="7395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solidFill>
              </a:rPr>
              <a:t>予測価格</a:t>
            </a:r>
            <a:r>
              <a:rPr kumimoji="1" lang="en-US" altLang="ja-JP" sz="1200" dirty="0">
                <a:solidFill>
                  <a:schemeClr val="tx1"/>
                </a:solidFill>
              </a:rPr>
              <a:t>Low</a:t>
            </a:r>
            <a:r>
              <a:rPr kumimoji="1" lang="ja-JP" altLang="en-US" sz="1200" dirty="0">
                <a:solidFill>
                  <a:schemeClr val="tx1"/>
                </a:solidFill>
              </a:rPr>
              <a:t> ：</a:t>
            </a:r>
            <a:r>
              <a:rPr kumimoji="1" lang="cy-GB" altLang="ja-JP" sz="1200" dirty="0">
                <a:solidFill>
                  <a:schemeClr val="tx1"/>
                </a:solidFill>
              </a:rPr>
              <a:t> ŷ</a:t>
            </a:r>
            <a:r>
              <a:rPr kumimoji="1" lang="en-US" altLang="ja-JP" sz="1200" dirty="0">
                <a:solidFill>
                  <a:schemeClr val="tx1"/>
                </a:solidFill>
              </a:rPr>
              <a:t>_Low</a:t>
            </a:r>
          </a:p>
          <a:p>
            <a:r>
              <a:rPr kumimoji="1" lang="ja-JP" altLang="en-US" sz="1200" dirty="0">
                <a:solidFill>
                  <a:schemeClr val="tx1"/>
                </a:solidFill>
              </a:rPr>
              <a:t>予測価格</a:t>
            </a:r>
            <a:r>
              <a:rPr kumimoji="1" lang="en-US" altLang="ja-JP" sz="1200" dirty="0">
                <a:solidFill>
                  <a:schemeClr val="tx1"/>
                </a:solidFill>
              </a:rPr>
              <a:t>Mid</a:t>
            </a:r>
            <a:r>
              <a:rPr kumimoji="1" lang="ja-JP" altLang="en-US" sz="1200" dirty="0">
                <a:solidFill>
                  <a:schemeClr val="tx1"/>
                </a:solidFill>
              </a:rPr>
              <a:t> ：</a:t>
            </a:r>
            <a:r>
              <a:rPr kumimoji="1" lang="cy-GB" altLang="ja-JP" sz="1200" dirty="0">
                <a:solidFill>
                  <a:schemeClr val="tx1"/>
                </a:solidFill>
              </a:rPr>
              <a:t> ŷ</a:t>
            </a:r>
            <a:r>
              <a:rPr kumimoji="1" lang="en-US" altLang="ja-JP" sz="1200" dirty="0">
                <a:solidFill>
                  <a:schemeClr val="tx1"/>
                </a:solidFill>
              </a:rPr>
              <a:t>_Mid</a:t>
            </a:r>
          </a:p>
          <a:p>
            <a:r>
              <a:rPr kumimoji="1" lang="ja-JP" altLang="en-US" sz="1200" dirty="0">
                <a:solidFill>
                  <a:schemeClr val="tx1"/>
                </a:solidFill>
              </a:rPr>
              <a:t>予測価格</a:t>
            </a:r>
            <a:r>
              <a:rPr kumimoji="1" lang="en-US" altLang="ja-JP" sz="1200" dirty="0">
                <a:solidFill>
                  <a:schemeClr val="tx1"/>
                </a:solidFill>
              </a:rPr>
              <a:t>High</a:t>
            </a:r>
            <a:r>
              <a:rPr kumimoji="1" lang="ja-JP" altLang="en-US" sz="1200" dirty="0">
                <a:solidFill>
                  <a:schemeClr val="tx1"/>
                </a:solidFill>
              </a:rPr>
              <a:t>：</a:t>
            </a:r>
            <a:r>
              <a:rPr kumimoji="1" lang="cy-GB" altLang="ja-JP" sz="1200" dirty="0">
                <a:solidFill>
                  <a:schemeClr val="tx1"/>
                </a:solidFill>
              </a:rPr>
              <a:t> ŷ</a:t>
            </a:r>
            <a:r>
              <a:rPr kumimoji="1" lang="en-US" altLang="ja-JP" sz="1200" dirty="0">
                <a:solidFill>
                  <a:schemeClr val="tx1"/>
                </a:solidFill>
              </a:rPr>
              <a:t>_High</a:t>
            </a:r>
            <a:endParaRPr kumimoji="1" lang="ja-JP" altLang="en-US" sz="1200" dirty="0">
              <a:solidFill>
                <a:schemeClr val="tx1"/>
              </a:solidFill>
            </a:endParaRPr>
          </a:p>
        </p:txBody>
      </p:sp>
      <p:sp>
        <p:nvSpPr>
          <p:cNvPr id="24" name="矢印: 折線 23">
            <a:extLst>
              <a:ext uri="{FF2B5EF4-FFF2-40B4-BE49-F238E27FC236}">
                <a16:creationId xmlns:a16="http://schemas.microsoft.com/office/drawing/2014/main" id="{F26277D3-8437-4C07-8478-82D2F7A08C6A}"/>
              </a:ext>
            </a:extLst>
          </p:cNvPr>
          <p:cNvSpPr/>
          <p:nvPr/>
        </p:nvSpPr>
        <p:spPr>
          <a:xfrm>
            <a:off x="1309662" y="3705969"/>
            <a:ext cx="714934" cy="163533"/>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6" name="フローチャート: 準備 25">
            <a:extLst>
              <a:ext uri="{FF2B5EF4-FFF2-40B4-BE49-F238E27FC236}">
                <a16:creationId xmlns:a16="http://schemas.microsoft.com/office/drawing/2014/main" id="{E0D4F1EF-69B7-4BD1-A9FA-CEF2222B7992}"/>
              </a:ext>
            </a:extLst>
          </p:cNvPr>
          <p:cNvSpPr/>
          <p:nvPr/>
        </p:nvSpPr>
        <p:spPr>
          <a:xfrm>
            <a:off x="6203685" y="3976226"/>
            <a:ext cx="852614" cy="430942"/>
          </a:xfrm>
          <a:prstGeom prst="flowChartPreparat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合成</a:t>
            </a:r>
          </a:p>
        </p:txBody>
      </p:sp>
      <p:sp>
        <p:nvSpPr>
          <p:cNvPr id="28" name="矢印: 折線 27">
            <a:extLst>
              <a:ext uri="{FF2B5EF4-FFF2-40B4-BE49-F238E27FC236}">
                <a16:creationId xmlns:a16="http://schemas.microsoft.com/office/drawing/2014/main" id="{BD6DD7EC-671C-4105-9982-F25289AD95C2}"/>
              </a:ext>
            </a:extLst>
          </p:cNvPr>
          <p:cNvSpPr/>
          <p:nvPr/>
        </p:nvSpPr>
        <p:spPr>
          <a:xfrm rot="5400000">
            <a:off x="6309135" y="3613365"/>
            <a:ext cx="179505" cy="51120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3" name="矢印: 折線 32">
            <a:extLst>
              <a:ext uri="{FF2B5EF4-FFF2-40B4-BE49-F238E27FC236}">
                <a16:creationId xmlns:a16="http://schemas.microsoft.com/office/drawing/2014/main" id="{70AF07A0-2DE7-4C01-8B6F-44410ECE194A}"/>
              </a:ext>
            </a:extLst>
          </p:cNvPr>
          <p:cNvSpPr/>
          <p:nvPr/>
        </p:nvSpPr>
        <p:spPr>
          <a:xfrm flipV="1">
            <a:off x="1309662" y="4509960"/>
            <a:ext cx="714934" cy="163533"/>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7" name="矢印: 下 36">
            <a:extLst>
              <a:ext uri="{FF2B5EF4-FFF2-40B4-BE49-F238E27FC236}">
                <a16:creationId xmlns:a16="http://schemas.microsoft.com/office/drawing/2014/main" id="{A2C50B51-DF83-46E0-87EB-A8972F6CA866}"/>
              </a:ext>
            </a:extLst>
          </p:cNvPr>
          <p:cNvSpPr/>
          <p:nvPr/>
        </p:nvSpPr>
        <p:spPr>
          <a:xfrm rot="16200000">
            <a:off x="4052736" y="3667792"/>
            <a:ext cx="92082" cy="296787"/>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矢印: 折線 37">
            <a:extLst>
              <a:ext uri="{FF2B5EF4-FFF2-40B4-BE49-F238E27FC236}">
                <a16:creationId xmlns:a16="http://schemas.microsoft.com/office/drawing/2014/main" id="{05665525-CD4D-485C-B032-E4A836E08594}"/>
              </a:ext>
            </a:extLst>
          </p:cNvPr>
          <p:cNvSpPr/>
          <p:nvPr/>
        </p:nvSpPr>
        <p:spPr>
          <a:xfrm rot="16200000" flipV="1">
            <a:off x="6286609" y="4280055"/>
            <a:ext cx="179505" cy="51120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9" name="矢印: 下 38">
            <a:extLst>
              <a:ext uri="{FF2B5EF4-FFF2-40B4-BE49-F238E27FC236}">
                <a16:creationId xmlns:a16="http://schemas.microsoft.com/office/drawing/2014/main" id="{CB036D8A-8CEF-43B3-822F-187472647D2A}"/>
              </a:ext>
            </a:extLst>
          </p:cNvPr>
          <p:cNvSpPr/>
          <p:nvPr/>
        </p:nvSpPr>
        <p:spPr>
          <a:xfrm rot="16200000">
            <a:off x="7182342" y="4034561"/>
            <a:ext cx="92082" cy="296787"/>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矢印: 下 39">
            <a:extLst>
              <a:ext uri="{FF2B5EF4-FFF2-40B4-BE49-F238E27FC236}">
                <a16:creationId xmlns:a16="http://schemas.microsoft.com/office/drawing/2014/main" id="{D985F99B-FBC4-4FAA-8E37-FFD774B5DA85}"/>
              </a:ext>
            </a:extLst>
          </p:cNvPr>
          <p:cNvSpPr/>
          <p:nvPr/>
        </p:nvSpPr>
        <p:spPr>
          <a:xfrm rot="16200000">
            <a:off x="5986837" y="1863391"/>
            <a:ext cx="123266" cy="494720"/>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2B07D296-CAAD-4F93-A04E-D636B16483C3}"/>
              </a:ext>
            </a:extLst>
          </p:cNvPr>
          <p:cNvSpPr/>
          <p:nvPr/>
        </p:nvSpPr>
        <p:spPr>
          <a:xfrm>
            <a:off x="6724851" y="3115992"/>
            <a:ext cx="1865874" cy="7535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tx1"/>
                </a:solidFill>
              </a:rPr>
              <a:t>Low</a:t>
            </a:r>
            <a:r>
              <a:rPr kumimoji="1" lang="ja-JP" altLang="en-US" sz="1100" dirty="0">
                <a:solidFill>
                  <a:schemeClr val="tx1"/>
                </a:solidFill>
              </a:rPr>
              <a:t>： ～</a:t>
            </a:r>
            <a:r>
              <a:rPr kumimoji="1" lang="en-US" altLang="ja-JP" sz="1100" dirty="0">
                <a:solidFill>
                  <a:schemeClr val="tx1"/>
                </a:solidFill>
              </a:rPr>
              <a:t>1500</a:t>
            </a:r>
            <a:r>
              <a:rPr kumimoji="1" lang="ja-JP" altLang="en-US" sz="1100" dirty="0">
                <a:solidFill>
                  <a:schemeClr val="tx1"/>
                </a:solidFill>
              </a:rPr>
              <a:t>万円</a:t>
            </a:r>
            <a:endParaRPr kumimoji="1" lang="en-US" altLang="ja-JP" sz="1100" dirty="0">
              <a:solidFill>
                <a:schemeClr val="tx1"/>
              </a:solidFill>
            </a:endParaRPr>
          </a:p>
          <a:p>
            <a:r>
              <a:rPr kumimoji="1" lang="en-US" altLang="ja-JP" sz="1100" dirty="0">
                <a:solidFill>
                  <a:schemeClr val="tx1"/>
                </a:solidFill>
              </a:rPr>
              <a:t>Mid</a:t>
            </a:r>
            <a:r>
              <a:rPr kumimoji="1" lang="ja-JP" altLang="en-US" sz="1100" dirty="0">
                <a:solidFill>
                  <a:schemeClr val="tx1"/>
                </a:solidFill>
              </a:rPr>
              <a:t>：</a:t>
            </a:r>
            <a:r>
              <a:rPr kumimoji="1" lang="en-US" altLang="ja-JP" sz="1100" dirty="0">
                <a:solidFill>
                  <a:schemeClr val="tx1"/>
                </a:solidFill>
              </a:rPr>
              <a:t>1500</a:t>
            </a:r>
            <a:r>
              <a:rPr kumimoji="1" lang="ja-JP" altLang="en-US" sz="1100" dirty="0">
                <a:solidFill>
                  <a:schemeClr val="tx1"/>
                </a:solidFill>
              </a:rPr>
              <a:t>万円～</a:t>
            </a:r>
            <a:r>
              <a:rPr kumimoji="1" lang="en-US" altLang="ja-JP" sz="1100" dirty="0">
                <a:solidFill>
                  <a:schemeClr val="tx1"/>
                </a:solidFill>
              </a:rPr>
              <a:t>3000</a:t>
            </a:r>
            <a:r>
              <a:rPr kumimoji="1" lang="ja-JP" altLang="en-US" sz="1100" dirty="0">
                <a:solidFill>
                  <a:schemeClr val="tx1"/>
                </a:solidFill>
              </a:rPr>
              <a:t>万円</a:t>
            </a:r>
            <a:endParaRPr kumimoji="1" lang="en-US" altLang="ja-JP" sz="1100" dirty="0">
              <a:solidFill>
                <a:schemeClr val="tx1"/>
              </a:solidFill>
            </a:endParaRPr>
          </a:p>
          <a:p>
            <a:r>
              <a:rPr kumimoji="1" lang="en-US" altLang="ja-JP" sz="1100" dirty="0">
                <a:solidFill>
                  <a:schemeClr val="tx1"/>
                </a:solidFill>
              </a:rPr>
              <a:t>High</a:t>
            </a:r>
            <a:r>
              <a:rPr kumimoji="1" lang="ja-JP" altLang="en-US" sz="1100" dirty="0">
                <a:solidFill>
                  <a:schemeClr val="tx1"/>
                </a:solidFill>
              </a:rPr>
              <a:t>：</a:t>
            </a:r>
            <a:r>
              <a:rPr kumimoji="1" lang="en-US" altLang="ja-JP" sz="1100" dirty="0">
                <a:solidFill>
                  <a:schemeClr val="tx1"/>
                </a:solidFill>
              </a:rPr>
              <a:t>3000</a:t>
            </a:r>
            <a:r>
              <a:rPr kumimoji="1" lang="ja-JP" altLang="en-US" sz="1100" dirty="0">
                <a:solidFill>
                  <a:schemeClr val="tx1"/>
                </a:solidFill>
              </a:rPr>
              <a:t>万円～</a:t>
            </a:r>
            <a:endParaRPr kumimoji="1" lang="ja-JP" altLang="en-US" sz="1600" dirty="0">
              <a:solidFill>
                <a:schemeClr val="tx1"/>
              </a:solidFill>
            </a:endParaRPr>
          </a:p>
        </p:txBody>
      </p:sp>
    </p:spTree>
    <p:extLst>
      <p:ext uri="{BB962C8B-B14F-4D97-AF65-F5344CB8AC3E}">
        <p14:creationId xmlns:p14="http://schemas.microsoft.com/office/powerpoint/2010/main" val="3935943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fade">
                                      <p:cBhvr>
                                        <p:cTn id="13" dur="500"/>
                                        <p:tgtEl>
                                          <p:spTgt spid="3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fade">
                                      <p:cBhvr>
                                        <p:cTn id="24" dur="500"/>
                                        <p:tgtEl>
                                          <p:spTgt spid="3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fade">
                                      <p:cBhvr>
                                        <p:cTn id="38" dur="500"/>
                                        <p:tgtEl>
                                          <p:spTgt spid="2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animEffect transition="in" filter="fade">
                                      <p:cBhvr>
                                        <p:cTn id="41" dur="500"/>
                                        <p:tgtEl>
                                          <p:spTgt spid="3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500"/>
                                        <p:tgtEl>
                                          <p:spTgt spid="2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9"/>
                                        </p:tgtEl>
                                        <p:attrNameLst>
                                          <p:attrName>style.visibility</p:attrName>
                                        </p:attrNameLst>
                                      </p:cBhvr>
                                      <p:to>
                                        <p:strVal val="visible"/>
                                      </p:to>
                                    </p:set>
                                    <p:animEffect transition="in" filter="fade">
                                      <p:cBhvr>
                                        <p:cTn id="47" dur="500"/>
                                        <p:tgtEl>
                                          <p:spTgt spid="3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9" grpId="0" animBg="1"/>
      <p:bldP spid="20" grpId="0" animBg="1"/>
      <p:bldP spid="21" grpId="0" animBg="1"/>
      <p:bldP spid="22" grpId="0" animBg="1"/>
      <p:bldP spid="24" grpId="0" animBg="1"/>
      <p:bldP spid="26" grpId="0" animBg="1"/>
      <p:bldP spid="28" grpId="0" animBg="1"/>
      <p:bldP spid="33" grpId="0" animBg="1"/>
      <p:bldP spid="37" grpId="0" animBg="1"/>
      <p:bldP spid="38" grpId="0" animBg="1"/>
      <p:bldP spid="39" grpId="0" animBg="1"/>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499" y="618353"/>
            <a:ext cx="3289987" cy="310406"/>
          </a:xfrm>
          <a:prstGeom prst="rect">
            <a:avLst/>
          </a:prstGeom>
          <a:noFill/>
          <a:ln/>
        </p:spPr>
        <p:txBody>
          <a:bodyPr wrap="square" lIns="0" tIns="0" rIns="0" bIns="0" rtlCol="0" anchor="t">
            <a:spAutoFit/>
          </a:bodyPr>
          <a:lstStyle/>
          <a:p>
            <a:pPr marL="0" indent="0" algn="l">
              <a:lnSpc>
                <a:spcPts val="2200"/>
              </a:lnSpc>
              <a:buNone/>
            </a:pPr>
            <a:r>
              <a:rPr lang="ja-JP" altLang="en-US" sz="2800" b="1" dirty="0">
                <a:solidFill>
                  <a:srgbClr val="0070C0"/>
                </a:solidFill>
              </a:rPr>
              <a:t>モデルについて②</a:t>
            </a:r>
            <a:endParaRPr lang="en-US" sz="2800" b="1" dirty="0">
              <a:solidFill>
                <a:srgbClr val="0070C0"/>
              </a:solidFill>
            </a:endParaRPr>
          </a:p>
        </p:txBody>
      </p:sp>
      <p:sp>
        <p:nvSpPr>
          <p:cNvPr id="6" name="テキスト ボックス 5">
            <a:extLst>
              <a:ext uri="{FF2B5EF4-FFF2-40B4-BE49-F238E27FC236}">
                <a16:creationId xmlns:a16="http://schemas.microsoft.com/office/drawing/2014/main" id="{D413A1EF-ABC0-4EC1-827B-99A0CFF900BC}"/>
              </a:ext>
            </a:extLst>
          </p:cNvPr>
          <p:cNvSpPr txBox="1"/>
          <p:nvPr/>
        </p:nvSpPr>
        <p:spPr>
          <a:xfrm>
            <a:off x="1204784" y="1459553"/>
            <a:ext cx="5881816" cy="369332"/>
          </a:xfrm>
          <a:prstGeom prst="rect">
            <a:avLst/>
          </a:prstGeom>
          <a:noFill/>
        </p:spPr>
        <p:txBody>
          <a:bodyPr wrap="square" rtlCol="0">
            <a:spAutoFit/>
          </a:bodyPr>
          <a:lstStyle/>
          <a:p>
            <a:r>
              <a:rPr kumimoji="1" lang="ja-JP" altLang="en-US" dirty="0"/>
              <a:t>なぜ</a:t>
            </a:r>
            <a:r>
              <a:rPr kumimoji="1" lang="en-US" altLang="ja-JP" dirty="0"/>
              <a:t>2</a:t>
            </a:r>
            <a:r>
              <a:rPr kumimoji="1" lang="ja-JP" altLang="en-US" dirty="0" err="1"/>
              <a:t>つの</a:t>
            </a:r>
            <a:r>
              <a:rPr kumimoji="1" lang="ja-JP" altLang="en-US" dirty="0"/>
              <a:t>モデルを使用したか</a:t>
            </a:r>
            <a:endParaRPr kumimoji="1" lang="en-US" altLang="ja-JP" dirty="0"/>
          </a:p>
        </p:txBody>
      </p:sp>
      <p:sp>
        <p:nvSpPr>
          <p:cNvPr id="9" name="Text 3">
            <a:extLst>
              <a:ext uri="{FF2B5EF4-FFF2-40B4-BE49-F238E27FC236}">
                <a16:creationId xmlns:a16="http://schemas.microsoft.com/office/drawing/2014/main" id="{15FDCBAF-0614-40DD-8792-F9346E67A8F6}"/>
              </a:ext>
            </a:extLst>
          </p:cNvPr>
          <p:cNvSpPr/>
          <p:nvPr/>
        </p:nvSpPr>
        <p:spPr>
          <a:xfrm>
            <a:off x="8530242" y="385788"/>
            <a:ext cx="373500" cy="194284"/>
          </a:xfrm>
          <a:prstGeom prst="rect">
            <a:avLst/>
          </a:prstGeom>
          <a:noFill/>
          <a:ln/>
        </p:spPr>
        <p:txBody>
          <a:bodyPr wrap="none" lIns="0" tIns="0" rIns="0" bIns="0" rtlCol="0" anchor="t">
            <a:spAutoFit/>
          </a:bodyPr>
          <a:lstStyle/>
          <a:p>
            <a:pPr>
              <a:lnSpc>
                <a:spcPts val="1600"/>
              </a:lnSpc>
            </a:pPr>
            <a:r>
              <a:rPr lang="en-US" altLang="ja-JP" sz="1193" b="1" dirty="0">
                <a:solidFill>
                  <a:srgbClr val="0288D1"/>
                </a:solidFill>
              </a:rPr>
              <a:t>11/16</a:t>
            </a:r>
            <a:endParaRPr lang="en-US" sz="1193" dirty="0">
              <a:solidFill>
                <a:srgbClr val="0288D1"/>
              </a:solidFill>
            </a:endParaRPr>
          </a:p>
        </p:txBody>
      </p:sp>
      <p:sp>
        <p:nvSpPr>
          <p:cNvPr id="4" name="正方形/長方形 3">
            <a:extLst>
              <a:ext uri="{FF2B5EF4-FFF2-40B4-BE49-F238E27FC236}">
                <a16:creationId xmlns:a16="http://schemas.microsoft.com/office/drawing/2014/main" id="{9E06CF37-3F76-4B6D-A5D7-550AD1552ECE}"/>
              </a:ext>
            </a:extLst>
          </p:cNvPr>
          <p:cNvSpPr/>
          <p:nvPr/>
        </p:nvSpPr>
        <p:spPr>
          <a:xfrm>
            <a:off x="2486795" y="2062297"/>
            <a:ext cx="3669957" cy="912184"/>
          </a:xfrm>
          <a:prstGeom prst="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dirty="0">
                <a:solidFill>
                  <a:schemeClr val="tx1"/>
                </a:solidFill>
              </a:rPr>
              <a:t>低価格帯の評価値が悪く、</a:t>
            </a:r>
            <a:endParaRPr kumimoji="1" lang="en-US" altLang="ja-JP" dirty="0">
              <a:solidFill>
                <a:schemeClr val="tx1"/>
              </a:solidFill>
            </a:endParaRPr>
          </a:p>
          <a:p>
            <a:r>
              <a:rPr kumimoji="1" lang="ja-JP" altLang="en-US" dirty="0">
                <a:solidFill>
                  <a:schemeClr val="tx1"/>
                </a:solidFill>
              </a:rPr>
              <a:t>高価格帯の評価値も良くなかった</a:t>
            </a:r>
          </a:p>
        </p:txBody>
      </p:sp>
      <p:sp>
        <p:nvSpPr>
          <p:cNvPr id="8" name="正方形/長方形 7">
            <a:extLst>
              <a:ext uri="{FF2B5EF4-FFF2-40B4-BE49-F238E27FC236}">
                <a16:creationId xmlns:a16="http://schemas.microsoft.com/office/drawing/2014/main" id="{E8F3425F-C946-4F0F-9089-FA40F4CBBB0B}"/>
              </a:ext>
            </a:extLst>
          </p:cNvPr>
          <p:cNvSpPr/>
          <p:nvPr/>
        </p:nvSpPr>
        <p:spPr>
          <a:xfrm>
            <a:off x="2486795" y="3727779"/>
            <a:ext cx="3669957" cy="912184"/>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dirty="0">
                <a:solidFill>
                  <a:schemeClr val="tx1"/>
                </a:solidFill>
              </a:rPr>
              <a:t>低価格帯と高価格帯の評価に</a:t>
            </a:r>
            <a:endParaRPr kumimoji="1" lang="en-US" altLang="ja-JP" dirty="0">
              <a:solidFill>
                <a:schemeClr val="tx1"/>
              </a:solidFill>
            </a:endParaRPr>
          </a:p>
          <a:p>
            <a:r>
              <a:rPr kumimoji="1" lang="ja-JP" altLang="en-US" dirty="0">
                <a:solidFill>
                  <a:schemeClr val="tx1"/>
                </a:solidFill>
              </a:rPr>
              <a:t>寄り添ったモデルを使用できる</a:t>
            </a:r>
          </a:p>
        </p:txBody>
      </p:sp>
      <p:sp>
        <p:nvSpPr>
          <p:cNvPr id="5" name="正方形/長方形 4">
            <a:extLst>
              <a:ext uri="{FF2B5EF4-FFF2-40B4-BE49-F238E27FC236}">
                <a16:creationId xmlns:a16="http://schemas.microsoft.com/office/drawing/2014/main" id="{6AE9D05C-1FD0-4222-AF95-0526A9C40554}"/>
              </a:ext>
            </a:extLst>
          </p:cNvPr>
          <p:cNvSpPr/>
          <p:nvPr/>
        </p:nvSpPr>
        <p:spPr>
          <a:xfrm>
            <a:off x="1841154" y="1935374"/>
            <a:ext cx="1291281" cy="302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One-Stage</a:t>
            </a:r>
            <a:endParaRPr kumimoji="1" lang="ja-JP" altLang="en-US" dirty="0"/>
          </a:p>
        </p:txBody>
      </p:sp>
      <p:sp>
        <p:nvSpPr>
          <p:cNvPr id="10" name="正方形/長方形 9">
            <a:extLst>
              <a:ext uri="{FF2B5EF4-FFF2-40B4-BE49-F238E27FC236}">
                <a16:creationId xmlns:a16="http://schemas.microsoft.com/office/drawing/2014/main" id="{D4616CDB-2C1F-4ED6-8F62-E53E7BF20253}"/>
              </a:ext>
            </a:extLst>
          </p:cNvPr>
          <p:cNvSpPr/>
          <p:nvPr/>
        </p:nvSpPr>
        <p:spPr>
          <a:xfrm>
            <a:off x="1841154" y="3576408"/>
            <a:ext cx="1291281" cy="302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Two-Stage</a:t>
            </a:r>
            <a:endParaRPr kumimoji="1" lang="ja-JP" altLang="en-US" dirty="0"/>
          </a:p>
        </p:txBody>
      </p:sp>
      <p:sp>
        <p:nvSpPr>
          <p:cNvPr id="11" name="矢印: 下 10">
            <a:extLst>
              <a:ext uri="{FF2B5EF4-FFF2-40B4-BE49-F238E27FC236}">
                <a16:creationId xmlns:a16="http://schemas.microsoft.com/office/drawing/2014/main" id="{48A00A52-C362-447B-ABDB-43F4BE19185B}"/>
              </a:ext>
            </a:extLst>
          </p:cNvPr>
          <p:cNvSpPr/>
          <p:nvPr/>
        </p:nvSpPr>
        <p:spPr>
          <a:xfrm>
            <a:off x="4107074" y="3054619"/>
            <a:ext cx="358346" cy="53079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29297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499" y="618353"/>
            <a:ext cx="2801896" cy="310406"/>
          </a:xfrm>
          <a:prstGeom prst="rect">
            <a:avLst/>
          </a:prstGeom>
          <a:noFill/>
          <a:ln/>
        </p:spPr>
        <p:txBody>
          <a:bodyPr wrap="square" lIns="0" tIns="0" rIns="0" bIns="0" rtlCol="0" anchor="t">
            <a:spAutoFit/>
          </a:bodyPr>
          <a:lstStyle/>
          <a:p>
            <a:pPr marL="0" indent="0" algn="l">
              <a:lnSpc>
                <a:spcPts val="2200"/>
              </a:lnSpc>
              <a:buNone/>
            </a:pPr>
            <a:r>
              <a:rPr lang="ja-JP" altLang="en-US" sz="2800" b="1" dirty="0">
                <a:solidFill>
                  <a:srgbClr val="0070C0"/>
                </a:solidFill>
              </a:rPr>
              <a:t>結果①</a:t>
            </a:r>
            <a:endParaRPr lang="en-US" sz="2800" b="1" dirty="0">
              <a:solidFill>
                <a:srgbClr val="0070C0"/>
              </a:solidFill>
            </a:endParaRPr>
          </a:p>
        </p:txBody>
      </p:sp>
      <p:graphicFrame>
        <p:nvGraphicFramePr>
          <p:cNvPr id="7" name="表 6">
            <a:extLst>
              <a:ext uri="{FF2B5EF4-FFF2-40B4-BE49-F238E27FC236}">
                <a16:creationId xmlns:a16="http://schemas.microsoft.com/office/drawing/2014/main" id="{66F8B654-D47E-4292-854E-9F2A6EC2B33E}"/>
              </a:ext>
            </a:extLst>
          </p:cNvPr>
          <p:cNvGraphicFramePr>
            <a:graphicFrameLocks noGrp="1"/>
          </p:cNvGraphicFramePr>
          <p:nvPr>
            <p:extLst>
              <p:ext uri="{D42A27DB-BD31-4B8C-83A1-F6EECF244321}">
                <p14:modId xmlns:p14="http://schemas.microsoft.com/office/powerpoint/2010/main" val="635588485"/>
              </p:ext>
            </p:extLst>
          </p:nvPr>
        </p:nvGraphicFramePr>
        <p:xfrm>
          <a:off x="1291563" y="1569604"/>
          <a:ext cx="6560871" cy="1854200"/>
        </p:xfrm>
        <a:graphic>
          <a:graphicData uri="http://schemas.openxmlformats.org/drawingml/2006/table">
            <a:tbl>
              <a:tblPr firstRow="1" bandRow="1">
                <a:tableStyleId>{93296810-A885-4BE3-A3E7-6D5BEEA58F35}</a:tableStyleId>
              </a:tblPr>
              <a:tblGrid>
                <a:gridCol w="3132956">
                  <a:extLst>
                    <a:ext uri="{9D8B030D-6E8A-4147-A177-3AD203B41FA5}">
                      <a16:colId xmlns:a16="http://schemas.microsoft.com/office/drawing/2014/main" val="433279715"/>
                    </a:ext>
                  </a:extLst>
                </a:gridCol>
                <a:gridCol w="1680251">
                  <a:extLst>
                    <a:ext uri="{9D8B030D-6E8A-4147-A177-3AD203B41FA5}">
                      <a16:colId xmlns:a16="http://schemas.microsoft.com/office/drawing/2014/main" val="3967002614"/>
                    </a:ext>
                  </a:extLst>
                </a:gridCol>
                <a:gridCol w="1747664">
                  <a:extLst>
                    <a:ext uri="{9D8B030D-6E8A-4147-A177-3AD203B41FA5}">
                      <a16:colId xmlns:a16="http://schemas.microsoft.com/office/drawing/2014/main" val="4076256758"/>
                    </a:ext>
                  </a:extLst>
                </a:gridCol>
              </a:tblGrid>
              <a:tr h="370840">
                <a:tc>
                  <a:txBody>
                    <a:bodyPr/>
                    <a:lstStyle/>
                    <a:p>
                      <a:endParaRPr kumimoji="1" lang="ja-JP" altLang="en-US" dirty="0"/>
                    </a:p>
                  </a:txBody>
                  <a:tcPr/>
                </a:tc>
                <a:tc>
                  <a:txBody>
                    <a:bodyPr/>
                    <a:lstStyle/>
                    <a:p>
                      <a:r>
                        <a:rPr kumimoji="1" lang="en-US" altLang="ja-JP" dirty="0"/>
                        <a:t>One-Stage</a:t>
                      </a:r>
                      <a:endParaRPr kumimoji="1" lang="ja-JP" altLang="en-US" dirty="0"/>
                    </a:p>
                  </a:txBody>
                  <a:tcPr/>
                </a:tc>
                <a:tc>
                  <a:txBody>
                    <a:bodyPr/>
                    <a:lstStyle/>
                    <a:p>
                      <a:r>
                        <a:rPr kumimoji="1" lang="en-US" altLang="ja-JP" dirty="0"/>
                        <a:t>Two-Stage</a:t>
                      </a:r>
                      <a:endParaRPr kumimoji="1" lang="ja-JP" altLang="en-US" dirty="0"/>
                    </a:p>
                  </a:txBody>
                  <a:tcPr/>
                </a:tc>
                <a:extLst>
                  <a:ext uri="{0D108BD9-81ED-4DB2-BD59-A6C34878D82A}">
                    <a16:rowId xmlns:a16="http://schemas.microsoft.com/office/drawing/2014/main" val="3359144417"/>
                  </a:ext>
                </a:extLst>
              </a:tr>
              <a:tr h="370840">
                <a:tc>
                  <a:txBody>
                    <a:bodyPr/>
                    <a:lstStyle/>
                    <a:p>
                      <a:r>
                        <a:rPr kumimoji="1" lang="en-US" altLang="ja-JP" dirty="0"/>
                        <a:t>(Low) ~1500</a:t>
                      </a:r>
                      <a:r>
                        <a:rPr kumimoji="1" lang="ja-JP" altLang="en-US" dirty="0"/>
                        <a:t>万円</a:t>
                      </a:r>
                      <a:endParaRPr kumimoji="1" lang="en-US" altLang="ja-JP" dirty="0"/>
                    </a:p>
                  </a:txBody>
                  <a:tcPr/>
                </a:tc>
                <a:tc>
                  <a:txBody>
                    <a:bodyPr/>
                    <a:lstStyle/>
                    <a:p>
                      <a:r>
                        <a:rPr lang="en-US" altLang="ja-JP" sz="1800" kern="1200" dirty="0">
                          <a:solidFill>
                            <a:srgbClr val="0070C0"/>
                          </a:solidFill>
                          <a:effectLst/>
                        </a:rPr>
                        <a:t>25.3937</a:t>
                      </a:r>
                      <a:endParaRPr kumimoji="1" lang="ja-JP" altLang="en-US" dirty="0">
                        <a:solidFill>
                          <a:srgbClr val="0070C0"/>
                        </a:solidFill>
                      </a:endParaRPr>
                    </a:p>
                  </a:txBody>
                  <a:tcPr/>
                </a:tc>
                <a:tc>
                  <a:txBody>
                    <a:bodyPr/>
                    <a:lstStyle/>
                    <a:p>
                      <a:r>
                        <a:rPr lang="en-US" altLang="ja-JP" sz="1800" kern="1200" dirty="0">
                          <a:solidFill>
                            <a:srgbClr val="0070C0"/>
                          </a:solidFill>
                          <a:effectLst/>
                        </a:rPr>
                        <a:t>24.9125</a:t>
                      </a:r>
                      <a:endParaRPr kumimoji="1" lang="ja-JP" altLang="en-US" dirty="0">
                        <a:solidFill>
                          <a:srgbClr val="0070C0"/>
                        </a:solidFill>
                      </a:endParaRPr>
                    </a:p>
                  </a:txBody>
                  <a:tcPr/>
                </a:tc>
                <a:extLst>
                  <a:ext uri="{0D108BD9-81ED-4DB2-BD59-A6C34878D82A}">
                    <a16:rowId xmlns:a16="http://schemas.microsoft.com/office/drawing/2014/main" val="4255307060"/>
                  </a:ext>
                </a:extLst>
              </a:tr>
              <a:tr h="370840">
                <a:tc>
                  <a:txBody>
                    <a:bodyPr/>
                    <a:lstStyle/>
                    <a:p>
                      <a:r>
                        <a:rPr kumimoji="1" lang="en-US" altLang="ja-JP" dirty="0"/>
                        <a:t>(Mid) 1500</a:t>
                      </a:r>
                      <a:r>
                        <a:rPr kumimoji="1" lang="ja-JP" altLang="en-US" dirty="0"/>
                        <a:t>万円～</a:t>
                      </a:r>
                      <a:r>
                        <a:rPr kumimoji="1" lang="en-US" altLang="ja-JP" dirty="0"/>
                        <a:t>3000</a:t>
                      </a:r>
                      <a:r>
                        <a:rPr kumimoji="1" lang="ja-JP" altLang="en-US" dirty="0"/>
                        <a:t>万円</a:t>
                      </a:r>
                    </a:p>
                  </a:txBody>
                  <a:tcPr/>
                </a:tc>
                <a:tc>
                  <a:txBody>
                    <a:bodyPr/>
                    <a:lstStyle/>
                    <a:p>
                      <a:r>
                        <a:rPr lang="en-US" altLang="ja-JP" sz="1800" kern="1200" dirty="0">
                          <a:effectLst/>
                        </a:rPr>
                        <a:t>15.7352</a:t>
                      </a:r>
                      <a:endParaRPr kumimoji="1" lang="ja-JP" altLang="en-US" dirty="0"/>
                    </a:p>
                  </a:txBody>
                  <a:tcPr/>
                </a:tc>
                <a:tc>
                  <a:txBody>
                    <a:bodyPr/>
                    <a:lstStyle/>
                    <a:p>
                      <a:r>
                        <a:rPr lang="en-US" altLang="ja-JP" sz="1800" kern="1200" dirty="0">
                          <a:solidFill>
                            <a:srgbClr val="FF0000"/>
                          </a:solidFill>
                          <a:effectLst/>
                        </a:rPr>
                        <a:t>13.4526</a:t>
                      </a:r>
                      <a:endParaRPr kumimoji="1" lang="ja-JP" altLang="en-US" dirty="0">
                        <a:solidFill>
                          <a:srgbClr val="FF0000"/>
                        </a:solidFill>
                      </a:endParaRPr>
                    </a:p>
                  </a:txBody>
                  <a:tcPr/>
                </a:tc>
                <a:extLst>
                  <a:ext uri="{0D108BD9-81ED-4DB2-BD59-A6C34878D82A}">
                    <a16:rowId xmlns:a16="http://schemas.microsoft.com/office/drawing/2014/main" val="2569413228"/>
                  </a:ext>
                </a:extLst>
              </a:tr>
              <a:tr h="370840">
                <a:tc>
                  <a:txBody>
                    <a:bodyPr/>
                    <a:lstStyle/>
                    <a:p>
                      <a:r>
                        <a:rPr kumimoji="1" lang="en-US" altLang="ja-JP" dirty="0"/>
                        <a:t>(High) 3000</a:t>
                      </a:r>
                      <a:r>
                        <a:rPr kumimoji="1" lang="ja-JP" altLang="en-US" dirty="0"/>
                        <a:t>万円～</a:t>
                      </a:r>
                    </a:p>
                  </a:txBody>
                  <a:tcPr/>
                </a:tc>
                <a:tc>
                  <a:txBody>
                    <a:bodyPr/>
                    <a:lstStyle/>
                    <a:p>
                      <a:r>
                        <a:rPr lang="en-US" altLang="ja-JP" sz="1800" kern="1200" dirty="0">
                          <a:effectLst/>
                        </a:rPr>
                        <a:t>15.5963</a:t>
                      </a:r>
                      <a:endParaRPr kumimoji="1" lang="ja-JP" altLang="en-US" dirty="0"/>
                    </a:p>
                  </a:txBody>
                  <a:tcPr/>
                </a:tc>
                <a:tc>
                  <a:txBody>
                    <a:bodyPr/>
                    <a:lstStyle/>
                    <a:p>
                      <a:r>
                        <a:rPr lang="en-US" altLang="ja-JP" sz="1800" kern="1200" dirty="0">
                          <a:solidFill>
                            <a:srgbClr val="FF0000"/>
                          </a:solidFill>
                          <a:effectLst/>
                        </a:rPr>
                        <a:t>12.3667</a:t>
                      </a:r>
                      <a:endParaRPr kumimoji="1" lang="ja-JP" altLang="en-US" dirty="0">
                        <a:solidFill>
                          <a:srgbClr val="FF0000"/>
                        </a:solidFill>
                      </a:endParaRPr>
                    </a:p>
                  </a:txBody>
                  <a:tcPr/>
                </a:tc>
                <a:extLst>
                  <a:ext uri="{0D108BD9-81ED-4DB2-BD59-A6C34878D82A}">
                    <a16:rowId xmlns:a16="http://schemas.microsoft.com/office/drawing/2014/main" val="2222469689"/>
                  </a:ext>
                </a:extLst>
              </a:tr>
              <a:tr h="370840">
                <a:tc>
                  <a:txBody>
                    <a:bodyPr/>
                    <a:lstStyle/>
                    <a:p>
                      <a:r>
                        <a:rPr kumimoji="1" lang="ja-JP" altLang="en-US" dirty="0"/>
                        <a:t>全体</a:t>
                      </a:r>
                    </a:p>
                  </a:txBody>
                  <a:tcPr/>
                </a:tc>
                <a:tc>
                  <a:txBody>
                    <a:bodyPr/>
                    <a:lstStyle/>
                    <a:p>
                      <a:r>
                        <a:rPr kumimoji="1" lang="en-US" altLang="ja-JP" dirty="0"/>
                        <a:t>18.5156</a:t>
                      </a:r>
                      <a:endParaRPr kumimoji="1" lang="ja-JP" altLang="en-US" dirty="0"/>
                    </a:p>
                  </a:txBody>
                  <a:tcPr/>
                </a:tc>
                <a:tc>
                  <a:txBody>
                    <a:bodyPr/>
                    <a:lstStyle/>
                    <a:p>
                      <a:r>
                        <a:rPr kumimoji="1" lang="en-US" altLang="ja-JP" dirty="0">
                          <a:solidFill>
                            <a:schemeClr val="tx1"/>
                          </a:solidFill>
                        </a:rPr>
                        <a:t>16.4793</a:t>
                      </a:r>
                      <a:endParaRPr kumimoji="1" lang="ja-JP" altLang="en-US" dirty="0">
                        <a:solidFill>
                          <a:schemeClr val="tx1"/>
                        </a:solidFill>
                      </a:endParaRPr>
                    </a:p>
                  </a:txBody>
                  <a:tcPr/>
                </a:tc>
                <a:extLst>
                  <a:ext uri="{0D108BD9-81ED-4DB2-BD59-A6C34878D82A}">
                    <a16:rowId xmlns:a16="http://schemas.microsoft.com/office/drawing/2014/main" val="3489235530"/>
                  </a:ext>
                </a:extLst>
              </a:tr>
            </a:tbl>
          </a:graphicData>
        </a:graphic>
      </p:graphicFrame>
      <p:sp>
        <p:nvSpPr>
          <p:cNvPr id="6" name="四角形: 角を丸くする 5">
            <a:extLst>
              <a:ext uri="{FF2B5EF4-FFF2-40B4-BE49-F238E27FC236}">
                <a16:creationId xmlns:a16="http://schemas.microsoft.com/office/drawing/2014/main" id="{2BC90B39-1947-4181-9933-9C2614AE1F99}"/>
              </a:ext>
            </a:extLst>
          </p:cNvPr>
          <p:cNvSpPr/>
          <p:nvPr/>
        </p:nvSpPr>
        <p:spPr>
          <a:xfrm>
            <a:off x="6054997" y="3820330"/>
            <a:ext cx="1665209" cy="1248032"/>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正方形/長方形 7">
            <a:extLst>
              <a:ext uri="{FF2B5EF4-FFF2-40B4-BE49-F238E27FC236}">
                <a16:creationId xmlns:a16="http://schemas.microsoft.com/office/drawing/2014/main" id="{4739C3FF-E9E7-49F1-9409-8060E98ABA22}"/>
              </a:ext>
            </a:extLst>
          </p:cNvPr>
          <p:cNvSpPr/>
          <p:nvPr/>
        </p:nvSpPr>
        <p:spPr>
          <a:xfrm>
            <a:off x="6174850" y="3663429"/>
            <a:ext cx="1425501" cy="313802"/>
          </a:xfrm>
          <a:prstGeom prst="rec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コンペ順位上位者</a:t>
            </a:r>
          </a:p>
        </p:txBody>
      </p:sp>
      <p:sp>
        <p:nvSpPr>
          <p:cNvPr id="10" name="テキスト ボックス 9">
            <a:extLst>
              <a:ext uri="{FF2B5EF4-FFF2-40B4-BE49-F238E27FC236}">
                <a16:creationId xmlns:a16="http://schemas.microsoft.com/office/drawing/2014/main" id="{182C0605-976F-496F-98B8-BD8208CD5177}"/>
              </a:ext>
            </a:extLst>
          </p:cNvPr>
          <p:cNvSpPr txBox="1"/>
          <p:nvPr/>
        </p:nvSpPr>
        <p:spPr>
          <a:xfrm>
            <a:off x="6345796" y="4005715"/>
            <a:ext cx="1083607" cy="1015663"/>
          </a:xfrm>
          <a:prstGeom prst="rect">
            <a:avLst/>
          </a:prstGeom>
          <a:noFill/>
          <a:ln>
            <a:noFill/>
          </a:ln>
        </p:spPr>
        <p:txBody>
          <a:bodyPr wrap="square" rtlCol="0">
            <a:spAutoFit/>
          </a:bodyPr>
          <a:lstStyle/>
          <a:p>
            <a:r>
              <a:rPr kumimoji="1" lang="en-US" altLang="ja-JP" sz="1200" dirty="0"/>
              <a:t>1</a:t>
            </a:r>
            <a:r>
              <a:rPr kumimoji="1" lang="ja-JP" altLang="en-US" sz="1200" dirty="0"/>
              <a:t>位</a:t>
            </a:r>
            <a:r>
              <a:rPr kumimoji="1" lang="en-US" altLang="ja-JP" sz="1200" dirty="0"/>
              <a:t> : 12.1180</a:t>
            </a:r>
          </a:p>
          <a:p>
            <a:r>
              <a:rPr kumimoji="1" lang="en-US" altLang="ja-JP" sz="1200" dirty="0"/>
              <a:t>2</a:t>
            </a:r>
            <a:r>
              <a:rPr kumimoji="1" lang="ja-JP" altLang="en-US" sz="1200" dirty="0"/>
              <a:t>位 </a:t>
            </a:r>
            <a:r>
              <a:rPr kumimoji="1" lang="en-US" altLang="ja-JP" sz="1200" dirty="0"/>
              <a:t>: 12.1937</a:t>
            </a:r>
          </a:p>
          <a:p>
            <a:r>
              <a:rPr kumimoji="1" lang="en-US" altLang="ja-JP" sz="1200" dirty="0"/>
              <a:t>3</a:t>
            </a:r>
            <a:r>
              <a:rPr kumimoji="1" lang="ja-JP" altLang="en-US" sz="1200" dirty="0"/>
              <a:t>位</a:t>
            </a:r>
            <a:r>
              <a:rPr kumimoji="1" lang="en-US" altLang="ja-JP" sz="1200" dirty="0"/>
              <a:t> : 12.2196</a:t>
            </a:r>
          </a:p>
          <a:p>
            <a:r>
              <a:rPr kumimoji="1" lang="en-US" altLang="ja-JP" sz="1200" dirty="0"/>
              <a:t>4</a:t>
            </a:r>
            <a:r>
              <a:rPr kumimoji="1" lang="ja-JP" altLang="en-US" sz="1200" dirty="0"/>
              <a:t>位</a:t>
            </a:r>
            <a:r>
              <a:rPr kumimoji="1" lang="en-US" altLang="ja-JP" sz="1200" dirty="0"/>
              <a:t> : 12.6560</a:t>
            </a:r>
          </a:p>
          <a:p>
            <a:r>
              <a:rPr kumimoji="1" lang="en-US" altLang="ja-JP" sz="1200" dirty="0"/>
              <a:t>5</a:t>
            </a:r>
            <a:r>
              <a:rPr kumimoji="1" lang="ja-JP" altLang="en-US" sz="1200" dirty="0"/>
              <a:t>位</a:t>
            </a:r>
            <a:r>
              <a:rPr kumimoji="1" lang="en-US" altLang="ja-JP" sz="1200" dirty="0"/>
              <a:t> : 12.6909</a:t>
            </a:r>
            <a:endParaRPr kumimoji="1" lang="ja-JP" altLang="en-US" sz="1200" dirty="0"/>
          </a:p>
        </p:txBody>
      </p:sp>
      <p:sp>
        <p:nvSpPr>
          <p:cNvPr id="13" name="Text 3">
            <a:extLst>
              <a:ext uri="{FF2B5EF4-FFF2-40B4-BE49-F238E27FC236}">
                <a16:creationId xmlns:a16="http://schemas.microsoft.com/office/drawing/2014/main" id="{088C816F-4F2F-444B-89FB-35FD495BCE3C}"/>
              </a:ext>
            </a:extLst>
          </p:cNvPr>
          <p:cNvSpPr/>
          <p:nvPr/>
        </p:nvSpPr>
        <p:spPr>
          <a:xfrm>
            <a:off x="8530242" y="385788"/>
            <a:ext cx="373500" cy="194284"/>
          </a:xfrm>
          <a:prstGeom prst="rect">
            <a:avLst/>
          </a:prstGeom>
          <a:noFill/>
          <a:ln/>
        </p:spPr>
        <p:txBody>
          <a:bodyPr wrap="none" lIns="0" tIns="0" rIns="0" bIns="0" rtlCol="0" anchor="t">
            <a:spAutoFit/>
          </a:bodyPr>
          <a:lstStyle/>
          <a:p>
            <a:pPr>
              <a:lnSpc>
                <a:spcPts val="1600"/>
              </a:lnSpc>
            </a:pPr>
            <a:r>
              <a:rPr lang="en-US" altLang="ja-JP" sz="1193" b="1" dirty="0">
                <a:solidFill>
                  <a:srgbClr val="0288D1"/>
                </a:solidFill>
              </a:rPr>
              <a:t>12/16</a:t>
            </a:r>
            <a:endParaRPr lang="en-US" sz="1193" dirty="0">
              <a:solidFill>
                <a:srgbClr val="0288D1"/>
              </a:solidFill>
            </a:endParaRPr>
          </a:p>
        </p:txBody>
      </p:sp>
      <p:sp>
        <p:nvSpPr>
          <p:cNvPr id="2" name="テキスト ボックス 1">
            <a:extLst>
              <a:ext uri="{FF2B5EF4-FFF2-40B4-BE49-F238E27FC236}">
                <a16:creationId xmlns:a16="http://schemas.microsoft.com/office/drawing/2014/main" id="{C9FCD543-0A77-4E4A-AB80-0A70718C0A59}"/>
              </a:ext>
            </a:extLst>
          </p:cNvPr>
          <p:cNvSpPr txBox="1"/>
          <p:nvPr/>
        </p:nvSpPr>
        <p:spPr>
          <a:xfrm>
            <a:off x="889687" y="1145313"/>
            <a:ext cx="2483708" cy="369332"/>
          </a:xfrm>
          <a:prstGeom prst="rect">
            <a:avLst/>
          </a:prstGeom>
          <a:noFill/>
        </p:spPr>
        <p:txBody>
          <a:bodyPr wrap="square" rtlCol="0">
            <a:spAutoFit/>
          </a:bodyPr>
          <a:lstStyle/>
          <a:p>
            <a:r>
              <a:rPr kumimoji="1" lang="ja-JP" altLang="en-US" dirty="0"/>
              <a:t>価格帯別</a:t>
            </a:r>
            <a:r>
              <a:rPr kumimoji="1" lang="en-US" altLang="ja-JP" dirty="0"/>
              <a:t>MAPE</a:t>
            </a:r>
            <a:r>
              <a:rPr kumimoji="1" lang="ja-JP" altLang="en-US" dirty="0"/>
              <a:t>詳細</a:t>
            </a:r>
          </a:p>
        </p:txBody>
      </p:sp>
      <p:sp>
        <p:nvSpPr>
          <p:cNvPr id="4" name="テキスト ボックス 3">
            <a:extLst>
              <a:ext uri="{FF2B5EF4-FFF2-40B4-BE49-F238E27FC236}">
                <a16:creationId xmlns:a16="http://schemas.microsoft.com/office/drawing/2014/main" id="{B21D21DD-6806-4793-A8EC-D7641796F9B8}"/>
              </a:ext>
            </a:extLst>
          </p:cNvPr>
          <p:cNvSpPr txBox="1"/>
          <p:nvPr/>
        </p:nvSpPr>
        <p:spPr>
          <a:xfrm>
            <a:off x="1068859" y="3663429"/>
            <a:ext cx="4436076" cy="523220"/>
          </a:xfrm>
          <a:prstGeom prst="rect">
            <a:avLst/>
          </a:prstGeom>
          <a:noFill/>
        </p:spPr>
        <p:txBody>
          <a:bodyPr wrap="square" rtlCol="0">
            <a:spAutoFit/>
          </a:bodyPr>
          <a:lstStyle/>
          <a:p>
            <a:r>
              <a:rPr kumimoji="1" lang="en-US" altLang="ja-JP" sz="1400" dirty="0"/>
              <a:t>MAPE</a:t>
            </a:r>
            <a:r>
              <a:rPr kumimoji="1" lang="ja-JP" altLang="en-US" sz="1400" dirty="0"/>
              <a:t>：指標の</a:t>
            </a:r>
            <a:r>
              <a:rPr kumimoji="1" lang="en-US" altLang="ja-JP" sz="1400" dirty="0"/>
              <a:t>1</a:t>
            </a:r>
            <a:r>
              <a:rPr kumimoji="1" lang="ja-JP" altLang="en-US" sz="1400" dirty="0"/>
              <a:t>つ。正解値と予測値のズレの割合を</a:t>
            </a:r>
            <a:endParaRPr kumimoji="1" lang="en-US" altLang="ja-JP" sz="1400" dirty="0"/>
          </a:p>
          <a:p>
            <a:r>
              <a:rPr kumimoji="1" lang="ja-JP" altLang="en-US" sz="1400" dirty="0"/>
              <a:t>               平均化したもの</a:t>
            </a:r>
            <a:r>
              <a:rPr kumimoji="1" lang="en-US" altLang="ja-JP" sz="1400" dirty="0"/>
              <a:t>(</a:t>
            </a:r>
            <a:r>
              <a:rPr kumimoji="1" lang="ja-JP" altLang="en-US" sz="1400" dirty="0">
                <a:solidFill>
                  <a:srgbClr val="C00000"/>
                </a:solidFill>
              </a:rPr>
              <a:t>値が小さい方が良い</a:t>
            </a:r>
            <a:r>
              <a:rPr kumimoji="1" lang="en-US" altLang="ja-JP" sz="1400" dirty="0"/>
              <a:t>)</a:t>
            </a:r>
            <a:endParaRPr kumimoji="1" lang="ja-JP" altLang="en-US" sz="1400" dirty="0"/>
          </a:p>
        </p:txBody>
      </p:sp>
    </p:spTree>
    <p:extLst>
      <p:ext uri="{BB962C8B-B14F-4D97-AF65-F5344CB8AC3E}">
        <p14:creationId xmlns:p14="http://schemas.microsoft.com/office/powerpoint/2010/main" val="2391991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3">
            <a:extLst>
              <a:ext uri="{FF2B5EF4-FFF2-40B4-BE49-F238E27FC236}">
                <a16:creationId xmlns:a16="http://schemas.microsoft.com/office/drawing/2014/main" id="{8D7253F1-6724-43E5-8D1E-51C03455EA32}"/>
              </a:ext>
            </a:extLst>
          </p:cNvPr>
          <p:cNvSpPr/>
          <p:nvPr/>
        </p:nvSpPr>
        <p:spPr>
          <a:xfrm>
            <a:off x="8530242" y="385788"/>
            <a:ext cx="373500" cy="194284"/>
          </a:xfrm>
          <a:prstGeom prst="rect">
            <a:avLst/>
          </a:prstGeom>
          <a:noFill/>
          <a:ln/>
        </p:spPr>
        <p:txBody>
          <a:bodyPr wrap="none" lIns="0" tIns="0" rIns="0" bIns="0" rtlCol="0" anchor="t">
            <a:spAutoFit/>
          </a:bodyPr>
          <a:lstStyle/>
          <a:p>
            <a:pPr>
              <a:lnSpc>
                <a:spcPts val="1600"/>
              </a:lnSpc>
            </a:pPr>
            <a:r>
              <a:rPr lang="en-US" altLang="ja-JP" sz="1193" b="1" dirty="0">
                <a:solidFill>
                  <a:srgbClr val="0288D1"/>
                </a:solidFill>
              </a:rPr>
              <a:t>13/16</a:t>
            </a:r>
            <a:endParaRPr lang="en-US" sz="1193" dirty="0">
              <a:solidFill>
                <a:srgbClr val="0288D1"/>
              </a:solidFill>
            </a:endParaRPr>
          </a:p>
        </p:txBody>
      </p:sp>
      <p:pic>
        <p:nvPicPr>
          <p:cNvPr id="2050" name="Picture 2">
            <a:extLst>
              <a:ext uri="{FF2B5EF4-FFF2-40B4-BE49-F238E27FC236}">
                <a16:creationId xmlns:a16="http://schemas.microsoft.com/office/drawing/2014/main" id="{8AB58E86-21FE-4253-9853-089FBD4F2A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5989" y="928759"/>
            <a:ext cx="6692022" cy="3739894"/>
          </a:xfrm>
          <a:prstGeom prst="rect">
            <a:avLst/>
          </a:prstGeom>
          <a:noFill/>
          <a:extLst>
            <a:ext uri="{909E8E84-426E-40DD-AFC4-6F175D3DCCD1}">
              <a14:hiddenFill xmlns:a14="http://schemas.microsoft.com/office/drawing/2010/main">
                <a:solidFill>
                  <a:srgbClr val="FFFFFF"/>
                </a:solidFill>
              </a14:hiddenFill>
            </a:ext>
          </a:extLst>
        </p:spPr>
      </p:pic>
      <p:sp>
        <p:nvSpPr>
          <p:cNvPr id="4" name="Text 0">
            <a:extLst>
              <a:ext uri="{FF2B5EF4-FFF2-40B4-BE49-F238E27FC236}">
                <a16:creationId xmlns:a16="http://schemas.microsoft.com/office/drawing/2014/main" id="{2AA53933-B947-408A-A767-ABBE751BA9A5}"/>
              </a:ext>
            </a:extLst>
          </p:cNvPr>
          <p:cNvSpPr/>
          <p:nvPr/>
        </p:nvSpPr>
        <p:spPr>
          <a:xfrm>
            <a:off x="571499" y="618353"/>
            <a:ext cx="1702144" cy="310406"/>
          </a:xfrm>
          <a:prstGeom prst="rect">
            <a:avLst/>
          </a:prstGeom>
          <a:noFill/>
          <a:ln/>
        </p:spPr>
        <p:txBody>
          <a:bodyPr wrap="square" lIns="0" tIns="0" rIns="0" bIns="0" rtlCol="0" anchor="t">
            <a:spAutoFit/>
          </a:bodyPr>
          <a:lstStyle/>
          <a:p>
            <a:pPr marL="0" indent="0" algn="l">
              <a:lnSpc>
                <a:spcPts val="2200"/>
              </a:lnSpc>
              <a:buNone/>
            </a:pPr>
            <a:r>
              <a:rPr lang="ja-JP" altLang="en-US" sz="2800" b="1" dirty="0">
                <a:solidFill>
                  <a:srgbClr val="0070C0"/>
                </a:solidFill>
              </a:rPr>
              <a:t>結果②</a:t>
            </a:r>
            <a:endParaRPr lang="en-US" sz="2800" b="1" dirty="0">
              <a:solidFill>
                <a:srgbClr val="0070C0"/>
              </a:solidFill>
            </a:endParaRPr>
          </a:p>
        </p:txBody>
      </p:sp>
      <p:sp>
        <p:nvSpPr>
          <p:cNvPr id="6" name="楕円 5">
            <a:extLst>
              <a:ext uri="{FF2B5EF4-FFF2-40B4-BE49-F238E27FC236}">
                <a16:creationId xmlns:a16="http://schemas.microsoft.com/office/drawing/2014/main" id="{ED2026C8-10C9-4023-8649-88DB61AD84BA}"/>
              </a:ext>
            </a:extLst>
          </p:cNvPr>
          <p:cNvSpPr/>
          <p:nvPr/>
        </p:nvSpPr>
        <p:spPr>
          <a:xfrm>
            <a:off x="1607191" y="1179163"/>
            <a:ext cx="1094280" cy="278517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吹き出し: 円形 7">
            <a:extLst>
              <a:ext uri="{FF2B5EF4-FFF2-40B4-BE49-F238E27FC236}">
                <a16:creationId xmlns:a16="http://schemas.microsoft.com/office/drawing/2014/main" id="{BB1ED210-94E0-409B-B1D4-F240E51F010B}"/>
              </a:ext>
            </a:extLst>
          </p:cNvPr>
          <p:cNvSpPr/>
          <p:nvPr/>
        </p:nvSpPr>
        <p:spPr>
          <a:xfrm>
            <a:off x="3165660" y="1340978"/>
            <a:ext cx="1675860" cy="1014508"/>
          </a:xfrm>
          <a:prstGeom prst="wedgeEllipseCallout">
            <a:avLst>
              <a:gd name="adj1" fmla="val -65498"/>
              <a:gd name="adj2" fmla="val 45058"/>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rPr>
              <a:t>若干良化</a:t>
            </a:r>
          </a:p>
        </p:txBody>
      </p:sp>
      <p:sp>
        <p:nvSpPr>
          <p:cNvPr id="9" name="楕円 8">
            <a:extLst>
              <a:ext uri="{FF2B5EF4-FFF2-40B4-BE49-F238E27FC236}">
                <a16:creationId xmlns:a16="http://schemas.microsoft.com/office/drawing/2014/main" id="{90F7C9E4-D225-413B-8B39-406810E0705E}"/>
              </a:ext>
            </a:extLst>
          </p:cNvPr>
          <p:cNvSpPr/>
          <p:nvPr/>
        </p:nvSpPr>
        <p:spPr>
          <a:xfrm>
            <a:off x="2656703" y="3379573"/>
            <a:ext cx="4806778" cy="104414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吹き出し: 円形 9">
            <a:extLst>
              <a:ext uri="{FF2B5EF4-FFF2-40B4-BE49-F238E27FC236}">
                <a16:creationId xmlns:a16="http://schemas.microsoft.com/office/drawing/2014/main" id="{ACE2F6BC-AACD-4B64-B9AC-6C00E42A8493}"/>
              </a:ext>
            </a:extLst>
          </p:cNvPr>
          <p:cNvSpPr/>
          <p:nvPr/>
        </p:nvSpPr>
        <p:spPr>
          <a:xfrm>
            <a:off x="5305709" y="2120131"/>
            <a:ext cx="1675860" cy="1014508"/>
          </a:xfrm>
          <a:prstGeom prst="wedgeEllipseCallout">
            <a:avLst>
              <a:gd name="adj1" fmla="val -43747"/>
              <a:gd name="adj2" fmla="val 66982"/>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rPr>
              <a:t>大幅に良化</a:t>
            </a:r>
          </a:p>
        </p:txBody>
      </p:sp>
    </p:spTree>
    <p:extLst>
      <p:ext uri="{BB962C8B-B14F-4D97-AF65-F5344CB8AC3E}">
        <p14:creationId xmlns:p14="http://schemas.microsoft.com/office/powerpoint/2010/main" val="65185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499" y="618353"/>
            <a:ext cx="1226409" cy="310406"/>
          </a:xfrm>
          <a:prstGeom prst="rect">
            <a:avLst/>
          </a:prstGeom>
          <a:noFill/>
          <a:ln/>
        </p:spPr>
        <p:txBody>
          <a:bodyPr wrap="square" lIns="0" tIns="0" rIns="0" bIns="0" rtlCol="0" anchor="t">
            <a:spAutoFit/>
          </a:bodyPr>
          <a:lstStyle/>
          <a:p>
            <a:pPr marL="0" indent="0" algn="l">
              <a:lnSpc>
                <a:spcPts val="2200"/>
              </a:lnSpc>
              <a:buNone/>
            </a:pPr>
            <a:r>
              <a:rPr lang="ja-JP" altLang="en-US" sz="2800" b="1" dirty="0">
                <a:solidFill>
                  <a:srgbClr val="0070C0"/>
                </a:solidFill>
              </a:rPr>
              <a:t>結論</a:t>
            </a:r>
            <a:endParaRPr lang="en-US" sz="2800" b="1" dirty="0">
              <a:solidFill>
                <a:srgbClr val="0070C0"/>
              </a:solidFill>
            </a:endParaRPr>
          </a:p>
        </p:txBody>
      </p:sp>
      <p:sp>
        <p:nvSpPr>
          <p:cNvPr id="11" name="Text 3">
            <a:extLst>
              <a:ext uri="{FF2B5EF4-FFF2-40B4-BE49-F238E27FC236}">
                <a16:creationId xmlns:a16="http://schemas.microsoft.com/office/drawing/2014/main" id="{F5C387A8-94EC-44EA-AF13-BB370B279563}"/>
              </a:ext>
            </a:extLst>
          </p:cNvPr>
          <p:cNvSpPr/>
          <p:nvPr/>
        </p:nvSpPr>
        <p:spPr>
          <a:xfrm>
            <a:off x="8530242" y="385788"/>
            <a:ext cx="373500" cy="194284"/>
          </a:xfrm>
          <a:prstGeom prst="rect">
            <a:avLst/>
          </a:prstGeom>
          <a:noFill/>
          <a:ln/>
        </p:spPr>
        <p:txBody>
          <a:bodyPr wrap="none" lIns="0" tIns="0" rIns="0" bIns="0" rtlCol="0" anchor="t">
            <a:spAutoFit/>
          </a:bodyPr>
          <a:lstStyle/>
          <a:p>
            <a:pPr>
              <a:lnSpc>
                <a:spcPts val="1600"/>
              </a:lnSpc>
            </a:pPr>
            <a:r>
              <a:rPr lang="en-US" altLang="ja-JP" sz="1193" b="1" dirty="0">
                <a:solidFill>
                  <a:srgbClr val="0288D1"/>
                </a:solidFill>
              </a:rPr>
              <a:t>14/16</a:t>
            </a:r>
            <a:endParaRPr lang="en-US" sz="1193" dirty="0">
              <a:solidFill>
                <a:srgbClr val="0288D1"/>
              </a:solidFill>
            </a:endParaRPr>
          </a:p>
        </p:txBody>
      </p:sp>
      <p:sp>
        <p:nvSpPr>
          <p:cNvPr id="5" name="テキスト ボックス 4">
            <a:extLst>
              <a:ext uri="{FF2B5EF4-FFF2-40B4-BE49-F238E27FC236}">
                <a16:creationId xmlns:a16="http://schemas.microsoft.com/office/drawing/2014/main" id="{689350AA-E632-462A-9CE7-92B3FB89A98A}"/>
              </a:ext>
            </a:extLst>
          </p:cNvPr>
          <p:cNvSpPr txBox="1"/>
          <p:nvPr/>
        </p:nvSpPr>
        <p:spPr>
          <a:xfrm>
            <a:off x="1303637" y="1556951"/>
            <a:ext cx="6986923" cy="1200329"/>
          </a:xfrm>
          <a:prstGeom prst="rect">
            <a:avLst/>
          </a:prstGeom>
          <a:noFill/>
        </p:spPr>
        <p:txBody>
          <a:bodyPr wrap="square" rtlCol="0">
            <a:spAutoFit/>
          </a:bodyPr>
          <a:lstStyle/>
          <a:p>
            <a:r>
              <a:rPr kumimoji="1" lang="ja-JP" altLang="en-US" b="1" dirty="0"/>
              <a:t>■低価格帯はうまく予測できていない</a:t>
            </a:r>
            <a:endParaRPr kumimoji="1" lang="en-US" altLang="ja-JP" b="1" dirty="0"/>
          </a:p>
          <a:p>
            <a:r>
              <a:rPr kumimoji="1" lang="ja-JP" altLang="en-US" b="1" dirty="0"/>
              <a:t>  </a:t>
            </a:r>
            <a:r>
              <a:rPr kumimoji="1" lang="ja-JP" altLang="en-US" dirty="0"/>
              <a:t>→低価格の不動産を予測するために必要なデータが不足している</a:t>
            </a:r>
            <a:endParaRPr kumimoji="1" lang="en-US" altLang="ja-JP" dirty="0"/>
          </a:p>
          <a:p>
            <a:r>
              <a:rPr kumimoji="1" lang="ja-JP" altLang="en-US" dirty="0"/>
              <a:t>      可能性がある</a:t>
            </a:r>
            <a:r>
              <a:rPr kumimoji="1" lang="en-US" altLang="ja-JP" dirty="0"/>
              <a:t>(</a:t>
            </a:r>
            <a:r>
              <a:rPr kumimoji="1" lang="ja-JP" altLang="en-US" dirty="0"/>
              <a:t>例：老朽化による建て直しが必須、事故物件</a:t>
            </a:r>
            <a:r>
              <a:rPr kumimoji="1" lang="en-US" altLang="ja-JP" dirty="0"/>
              <a:t>)</a:t>
            </a:r>
            <a:endParaRPr kumimoji="1" lang="en-US" altLang="ja-JP" b="1" dirty="0"/>
          </a:p>
          <a:p>
            <a:r>
              <a:rPr kumimoji="1" lang="ja-JP" altLang="en-US" b="1" dirty="0"/>
              <a:t>  </a:t>
            </a:r>
            <a:r>
              <a:rPr kumimoji="1" lang="ja-JP" altLang="en-US" dirty="0"/>
              <a:t>→</a:t>
            </a:r>
            <a:r>
              <a:rPr kumimoji="1" lang="en-US" altLang="ja-JP" dirty="0"/>
              <a:t>MAPE</a:t>
            </a:r>
            <a:r>
              <a:rPr kumimoji="1" lang="ja-JP" altLang="en-US" dirty="0"/>
              <a:t>の評価方法では精度に限界があるかもしれない</a:t>
            </a:r>
            <a:endParaRPr kumimoji="1" lang="en-US" altLang="ja-JP" dirty="0"/>
          </a:p>
        </p:txBody>
      </p:sp>
      <p:sp>
        <p:nvSpPr>
          <p:cNvPr id="6" name="テキスト ボックス 5">
            <a:extLst>
              <a:ext uri="{FF2B5EF4-FFF2-40B4-BE49-F238E27FC236}">
                <a16:creationId xmlns:a16="http://schemas.microsoft.com/office/drawing/2014/main" id="{5CAA5021-D685-49CF-ACA4-07FB93A7B114}"/>
              </a:ext>
            </a:extLst>
          </p:cNvPr>
          <p:cNvSpPr txBox="1"/>
          <p:nvPr/>
        </p:nvSpPr>
        <p:spPr>
          <a:xfrm>
            <a:off x="1303638" y="2934730"/>
            <a:ext cx="6697362" cy="646331"/>
          </a:xfrm>
          <a:prstGeom prst="rect">
            <a:avLst/>
          </a:prstGeom>
          <a:noFill/>
        </p:spPr>
        <p:txBody>
          <a:bodyPr wrap="square" rtlCol="0">
            <a:spAutoFit/>
          </a:bodyPr>
          <a:lstStyle/>
          <a:p>
            <a:r>
              <a:rPr kumimoji="1" lang="ja-JP" altLang="en-US" b="1" dirty="0"/>
              <a:t>■中・高価格帯は予測が安定している</a:t>
            </a:r>
            <a:endParaRPr kumimoji="1" lang="en-US" altLang="ja-JP" b="1" dirty="0"/>
          </a:p>
          <a:p>
            <a:r>
              <a:rPr kumimoji="1" lang="ja-JP" altLang="en-US" b="1" dirty="0"/>
              <a:t>  </a:t>
            </a:r>
            <a:r>
              <a:rPr kumimoji="1" lang="ja-JP" altLang="en-US" dirty="0"/>
              <a:t>→中・高価格帯では</a:t>
            </a:r>
            <a:r>
              <a:rPr kumimoji="1" lang="ja-JP" altLang="en-US" dirty="0">
                <a:solidFill>
                  <a:srgbClr val="FF0000"/>
                </a:solidFill>
              </a:rPr>
              <a:t>実運用可能</a:t>
            </a:r>
            <a:r>
              <a:rPr kumimoji="1" lang="ja-JP" altLang="en-US" dirty="0"/>
              <a:t>だと考えられる</a:t>
            </a:r>
          </a:p>
        </p:txBody>
      </p:sp>
    </p:spTree>
    <p:extLst>
      <p:ext uri="{BB962C8B-B14F-4D97-AF65-F5344CB8AC3E}">
        <p14:creationId xmlns:p14="http://schemas.microsoft.com/office/powerpoint/2010/main" val="1947254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499" y="618353"/>
            <a:ext cx="2567117" cy="310406"/>
          </a:xfrm>
          <a:prstGeom prst="rect">
            <a:avLst/>
          </a:prstGeom>
          <a:noFill/>
          <a:ln/>
        </p:spPr>
        <p:txBody>
          <a:bodyPr wrap="square" lIns="0" tIns="0" rIns="0" bIns="0" rtlCol="0" anchor="t">
            <a:spAutoFit/>
          </a:bodyPr>
          <a:lstStyle/>
          <a:p>
            <a:pPr marL="0" indent="0" algn="l">
              <a:lnSpc>
                <a:spcPts val="2200"/>
              </a:lnSpc>
              <a:buNone/>
            </a:pPr>
            <a:r>
              <a:rPr lang="ja-JP" altLang="en-US" sz="2800" b="1" dirty="0">
                <a:solidFill>
                  <a:srgbClr val="0070C0"/>
                </a:solidFill>
              </a:rPr>
              <a:t>苦労点・工夫点</a:t>
            </a:r>
            <a:endParaRPr lang="en-US" sz="2800" b="1" dirty="0">
              <a:solidFill>
                <a:srgbClr val="0070C0"/>
              </a:solidFill>
            </a:endParaRPr>
          </a:p>
        </p:txBody>
      </p:sp>
      <p:sp>
        <p:nvSpPr>
          <p:cNvPr id="11" name="Text 3">
            <a:extLst>
              <a:ext uri="{FF2B5EF4-FFF2-40B4-BE49-F238E27FC236}">
                <a16:creationId xmlns:a16="http://schemas.microsoft.com/office/drawing/2014/main" id="{F5C387A8-94EC-44EA-AF13-BB370B279563}"/>
              </a:ext>
            </a:extLst>
          </p:cNvPr>
          <p:cNvSpPr/>
          <p:nvPr/>
        </p:nvSpPr>
        <p:spPr>
          <a:xfrm>
            <a:off x="8530242" y="385788"/>
            <a:ext cx="373500" cy="194284"/>
          </a:xfrm>
          <a:prstGeom prst="rect">
            <a:avLst/>
          </a:prstGeom>
          <a:noFill/>
          <a:ln/>
        </p:spPr>
        <p:txBody>
          <a:bodyPr wrap="none" lIns="0" tIns="0" rIns="0" bIns="0" rtlCol="0" anchor="t">
            <a:spAutoFit/>
          </a:bodyPr>
          <a:lstStyle/>
          <a:p>
            <a:pPr>
              <a:lnSpc>
                <a:spcPts val="1600"/>
              </a:lnSpc>
            </a:pPr>
            <a:r>
              <a:rPr lang="en-US" altLang="ja-JP" sz="1193" b="1" dirty="0">
                <a:solidFill>
                  <a:srgbClr val="0288D1"/>
                </a:solidFill>
              </a:rPr>
              <a:t>15/16</a:t>
            </a:r>
            <a:endParaRPr lang="en-US" sz="1193" dirty="0">
              <a:solidFill>
                <a:srgbClr val="0288D1"/>
              </a:solidFill>
            </a:endParaRPr>
          </a:p>
        </p:txBody>
      </p:sp>
      <p:sp>
        <p:nvSpPr>
          <p:cNvPr id="5" name="テキスト ボックス 4">
            <a:extLst>
              <a:ext uri="{FF2B5EF4-FFF2-40B4-BE49-F238E27FC236}">
                <a16:creationId xmlns:a16="http://schemas.microsoft.com/office/drawing/2014/main" id="{689350AA-E632-462A-9CE7-92B3FB89A98A}"/>
              </a:ext>
            </a:extLst>
          </p:cNvPr>
          <p:cNvSpPr txBox="1"/>
          <p:nvPr/>
        </p:nvSpPr>
        <p:spPr>
          <a:xfrm>
            <a:off x="1544595" y="1556951"/>
            <a:ext cx="5752070" cy="646331"/>
          </a:xfrm>
          <a:prstGeom prst="rect">
            <a:avLst/>
          </a:prstGeom>
          <a:noFill/>
        </p:spPr>
        <p:txBody>
          <a:bodyPr wrap="square" rtlCol="0">
            <a:spAutoFit/>
          </a:bodyPr>
          <a:lstStyle/>
          <a:p>
            <a:r>
              <a:rPr kumimoji="1" lang="en-US" altLang="ja-JP" dirty="0"/>
              <a:t>148</a:t>
            </a:r>
            <a:r>
              <a:rPr kumimoji="1" lang="ja-JP" altLang="en-US" dirty="0"/>
              <a:t>種類の説明変数をほぼ全て中のデータを確認して、</a:t>
            </a:r>
            <a:endParaRPr kumimoji="1" lang="en-US" altLang="ja-JP" dirty="0"/>
          </a:p>
          <a:p>
            <a:r>
              <a:rPr kumimoji="1" lang="ja-JP" altLang="en-US" dirty="0"/>
              <a:t>使えるか使えないかを判断している</a:t>
            </a:r>
            <a:endParaRPr kumimoji="1" lang="en-US" altLang="ja-JP" dirty="0"/>
          </a:p>
        </p:txBody>
      </p:sp>
      <p:sp>
        <p:nvSpPr>
          <p:cNvPr id="6" name="テキスト ボックス 5">
            <a:extLst>
              <a:ext uri="{FF2B5EF4-FFF2-40B4-BE49-F238E27FC236}">
                <a16:creationId xmlns:a16="http://schemas.microsoft.com/office/drawing/2014/main" id="{5CAA5021-D685-49CF-ACA4-07FB93A7B114}"/>
              </a:ext>
            </a:extLst>
          </p:cNvPr>
          <p:cNvSpPr txBox="1"/>
          <p:nvPr/>
        </p:nvSpPr>
        <p:spPr>
          <a:xfrm>
            <a:off x="1303638" y="1556951"/>
            <a:ext cx="444843" cy="369332"/>
          </a:xfrm>
          <a:prstGeom prst="rect">
            <a:avLst/>
          </a:prstGeom>
          <a:noFill/>
        </p:spPr>
        <p:txBody>
          <a:bodyPr wrap="square" rtlCol="0">
            <a:spAutoFit/>
          </a:bodyPr>
          <a:lstStyle/>
          <a:p>
            <a:r>
              <a:rPr kumimoji="1" lang="ja-JP" altLang="en-US" dirty="0"/>
              <a:t>①</a:t>
            </a:r>
          </a:p>
        </p:txBody>
      </p:sp>
      <p:sp>
        <p:nvSpPr>
          <p:cNvPr id="7" name="テキスト ボックス 6">
            <a:extLst>
              <a:ext uri="{FF2B5EF4-FFF2-40B4-BE49-F238E27FC236}">
                <a16:creationId xmlns:a16="http://schemas.microsoft.com/office/drawing/2014/main" id="{5A71DABA-0C49-44EB-91A7-36E995F9D0F1}"/>
              </a:ext>
            </a:extLst>
          </p:cNvPr>
          <p:cNvSpPr txBox="1"/>
          <p:nvPr/>
        </p:nvSpPr>
        <p:spPr>
          <a:xfrm>
            <a:off x="1544595" y="2403389"/>
            <a:ext cx="5752070" cy="646331"/>
          </a:xfrm>
          <a:prstGeom prst="rect">
            <a:avLst/>
          </a:prstGeom>
          <a:noFill/>
        </p:spPr>
        <p:txBody>
          <a:bodyPr wrap="square" rtlCol="0">
            <a:spAutoFit/>
          </a:bodyPr>
          <a:lstStyle/>
          <a:p>
            <a:r>
              <a:rPr kumimoji="1" lang="ja-JP" altLang="en-US" dirty="0"/>
              <a:t>最初に作ったモデルで思ったような結果が出ない中、</a:t>
            </a:r>
            <a:endParaRPr kumimoji="1" lang="en-US" altLang="ja-JP" dirty="0"/>
          </a:p>
          <a:p>
            <a:r>
              <a:rPr kumimoji="1" lang="ja-JP" altLang="en-US" dirty="0"/>
              <a:t>新しい切り口</a:t>
            </a:r>
            <a:r>
              <a:rPr kumimoji="1" lang="en-US" altLang="ja-JP" dirty="0"/>
              <a:t>(Two-Stage</a:t>
            </a:r>
            <a:r>
              <a:rPr kumimoji="1" lang="ja-JP" altLang="en-US" dirty="0"/>
              <a:t>モデル</a:t>
            </a:r>
            <a:r>
              <a:rPr kumimoji="1" lang="en-US" altLang="ja-JP" dirty="0"/>
              <a:t>)</a:t>
            </a:r>
            <a:r>
              <a:rPr kumimoji="1" lang="ja-JP" altLang="en-US" dirty="0"/>
              <a:t>で結果の改善を行えた</a:t>
            </a:r>
            <a:endParaRPr kumimoji="1" lang="en-US" altLang="ja-JP" dirty="0"/>
          </a:p>
        </p:txBody>
      </p:sp>
      <p:sp>
        <p:nvSpPr>
          <p:cNvPr id="8" name="テキスト ボックス 7">
            <a:extLst>
              <a:ext uri="{FF2B5EF4-FFF2-40B4-BE49-F238E27FC236}">
                <a16:creationId xmlns:a16="http://schemas.microsoft.com/office/drawing/2014/main" id="{344C1BC5-D2FD-4489-8135-DB81A83B96FA}"/>
              </a:ext>
            </a:extLst>
          </p:cNvPr>
          <p:cNvSpPr txBox="1"/>
          <p:nvPr/>
        </p:nvSpPr>
        <p:spPr>
          <a:xfrm>
            <a:off x="1303638" y="2403389"/>
            <a:ext cx="444843" cy="369332"/>
          </a:xfrm>
          <a:prstGeom prst="rect">
            <a:avLst/>
          </a:prstGeom>
          <a:noFill/>
        </p:spPr>
        <p:txBody>
          <a:bodyPr wrap="square" rtlCol="0">
            <a:spAutoFit/>
          </a:bodyPr>
          <a:lstStyle/>
          <a:p>
            <a:r>
              <a:rPr kumimoji="1" lang="ja-JP" altLang="en-US" dirty="0"/>
              <a:t>②</a:t>
            </a:r>
          </a:p>
        </p:txBody>
      </p:sp>
    </p:spTree>
    <p:extLst>
      <p:ext uri="{BB962C8B-B14F-4D97-AF65-F5344CB8AC3E}">
        <p14:creationId xmlns:p14="http://schemas.microsoft.com/office/powerpoint/2010/main" val="2099401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499" y="618353"/>
            <a:ext cx="1226409" cy="310406"/>
          </a:xfrm>
          <a:prstGeom prst="rect">
            <a:avLst/>
          </a:prstGeom>
          <a:noFill/>
          <a:ln/>
        </p:spPr>
        <p:txBody>
          <a:bodyPr wrap="square" lIns="0" tIns="0" rIns="0" bIns="0" rtlCol="0" anchor="t">
            <a:spAutoFit/>
          </a:bodyPr>
          <a:lstStyle/>
          <a:p>
            <a:pPr marL="0" indent="0" algn="l">
              <a:lnSpc>
                <a:spcPts val="2200"/>
              </a:lnSpc>
              <a:buNone/>
            </a:pPr>
            <a:r>
              <a:rPr lang="ja-JP" altLang="en-US" sz="2800" b="1" dirty="0">
                <a:solidFill>
                  <a:srgbClr val="0070C0"/>
                </a:solidFill>
              </a:rPr>
              <a:t>今後</a:t>
            </a:r>
            <a:endParaRPr lang="en-US" sz="2800" b="1" dirty="0">
              <a:solidFill>
                <a:srgbClr val="0070C0"/>
              </a:solidFill>
            </a:endParaRPr>
          </a:p>
        </p:txBody>
      </p:sp>
      <p:sp>
        <p:nvSpPr>
          <p:cNvPr id="11" name="Text 3">
            <a:extLst>
              <a:ext uri="{FF2B5EF4-FFF2-40B4-BE49-F238E27FC236}">
                <a16:creationId xmlns:a16="http://schemas.microsoft.com/office/drawing/2014/main" id="{F5C387A8-94EC-44EA-AF13-BB370B279563}"/>
              </a:ext>
            </a:extLst>
          </p:cNvPr>
          <p:cNvSpPr/>
          <p:nvPr/>
        </p:nvSpPr>
        <p:spPr>
          <a:xfrm>
            <a:off x="8530242" y="385788"/>
            <a:ext cx="373500" cy="194284"/>
          </a:xfrm>
          <a:prstGeom prst="rect">
            <a:avLst/>
          </a:prstGeom>
          <a:noFill/>
          <a:ln/>
        </p:spPr>
        <p:txBody>
          <a:bodyPr wrap="none" lIns="0" tIns="0" rIns="0" bIns="0" rtlCol="0" anchor="t">
            <a:spAutoFit/>
          </a:bodyPr>
          <a:lstStyle/>
          <a:p>
            <a:pPr>
              <a:lnSpc>
                <a:spcPts val="1600"/>
              </a:lnSpc>
            </a:pPr>
            <a:r>
              <a:rPr lang="en-US" altLang="ja-JP" sz="1193" b="1" dirty="0">
                <a:solidFill>
                  <a:srgbClr val="0288D1"/>
                </a:solidFill>
              </a:rPr>
              <a:t>16/16</a:t>
            </a:r>
            <a:endParaRPr lang="en-US" sz="1193" dirty="0">
              <a:solidFill>
                <a:srgbClr val="0288D1"/>
              </a:solidFill>
            </a:endParaRPr>
          </a:p>
        </p:txBody>
      </p:sp>
      <p:sp>
        <p:nvSpPr>
          <p:cNvPr id="5" name="テキスト ボックス 4">
            <a:extLst>
              <a:ext uri="{FF2B5EF4-FFF2-40B4-BE49-F238E27FC236}">
                <a16:creationId xmlns:a16="http://schemas.microsoft.com/office/drawing/2014/main" id="{689350AA-E632-462A-9CE7-92B3FB89A98A}"/>
              </a:ext>
            </a:extLst>
          </p:cNvPr>
          <p:cNvSpPr txBox="1"/>
          <p:nvPr/>
        </p:nvSpPr>
        <p:spPr>
          <a:xfrm>
            <a:off x="1303638" y="1556951"/>
            <a:ext cx="6697362" cy="923330"/>
          </a:xfrm>
          <a:prstGeom prst="rect">
            <a:avLst/>
          </a:prstGeom>
          <a:noFill/>
        </p:spPr>
        <p:txBody>
          <a:bodyPr wrap="square" rtlCol="0">
            <a:spAutoFit/>
          </a:bodyPr>
          <a:lstStyle/>
          <a:p>
            <a:r>
              <a:rPr kumimoji="1" lang="ja-JP" altLang="en-US" b="1" dirty="0"/>
              <a:t>■低</a:t>
            </a:r>
            <a:r>
              <a:rPr kumimoji="1" lang="en-US" altLang="ja-JP" b="1" dirty="0"/>
              <a:t>,</a:t>
            </a:r>
            <a:r>
              <a:rPr kumimoji="1" lang="ja-JP" altLang="en-US" b="1" dirty="0"/>
              <a:t>中</a:t>
            </a:r>
            <a:r>
              <a:rPr kumimoji="1" lang="en-US" altLang="ja-JP" b="1" dirty="0"/>
              <a:t>,</a:t>
            </a:r>
            <a:r>
              <a:rPr kumimoji="1" lang="ja-JP" altLang="en-US" b="1" dirty="0"/>
              <a:t>高価格の分割点の決定を自動化する</a:t>
            </a:r>
            <a:endParaRPr kumimoji="1" lang="en-US" altLang="ja-JP" b="1" dirty="0"/>
          </a:p>
          <a:p>
            <a:r>
              <a:rPr kumimoji="1" lang="ja-JP" altLang="en-US" b="1" dirty="0"/>
              <a:t>  </a:t>
            </a:r>
            <a:r>
              <a:rPr kumimoji="1" lang="ja-JP" altLang="en-US" dirty="0"/>
              <a:t>→現在はグラフから目視で分割点を決定しているので、</a:t>
            </a:r>
            <a:endParaRPr kumimoji="1" lang="en-US" altLang="ja-JP" dirty="0"/>
          </a:p>
          <a:p>
            <a:r>
              <a:rPr kumimoji="1" lang="ja-JP" altLang="en-US" dirty="0"/>
              <a:t>      それを機械的に決定し、更に精度を向上させる</a:t>
            </a:r>
          </a:p>
        </p:txBody>
      </p:sp>
      <p:sp>
        <p:nvSpPr>
          <p:cNvPr id="6" name="テキスト ボックス 5">
            <a:extLst>
              <a:ext uri="{FF2B5EF4-FFF2-40B4-BE49-F238E27FC236}">
                <a16:creationId xmlns:a16="http://schemas.microsoft.com/office/drawing/2014/main" id="{5CAA5021-D685-49CF-ACA4-07FB93A7B114}"/>
              </a:ext>
            </a:extLst>
          </p:cNvPr>
          <p:cNvSpPr txBox="1"/>
          <p:nvPr/>
        </p:nvSpPr>
        <p:spPr>
          <a:xfrm>
            <a:off x="1303637" y="2934730"/>
            <a:ext cx="7457185" cy="923330"/>
          </a:xfrm>
          <a:prstGeom prst="rect">
            <a:avLst/>
          </a:prstGeom>
          <a:noFill/>
        </p:spPr>
        <p:txBody>
          <a:bodyPr wrap="square" rtlCol="0">
            <a:spAutoFit/>
          </a:bodyPr>
          <a:lstStyle/>
          <a:p>
            <a:r>
              <a:rPr kumimoji="1" lang="ja-JP" altLang="en-US" b="1" dirty="0"/>
              <a:t>■低価格帯の価格予測を切り捨てることを検討に入れる</a:t>
            </a:r>
            <a:endParaRPr kumimoji="1" lang="en-US" altLang="ja-JP" b="1" dirty="0"/>
          </a:p>
          <a:p>
            <a:r>
              <a:rPr kumimoji="1" lang="ja-JP" altLang="en-US" b="1" dirty="0"/>
              <a:t>  </a:t>
            </a:r>
            <a:r>
              <a:rPr kumimoji="1" lang="ja-JP" altLang="en-US" dirty="0"/>
              <a:t>→データに存在しない要因で不動産価格が低くなっているのであれば、</a:t>
            </a:r>
            <a:endParaRPr kumimoji="1" lang="en-US" altLang="ja-JP" dirty="0"/>
          </a:p>
          <a:p>
            <a:r>
              <a:rPr kumimoji="1" lang="ja-JP" altLang="en-US" dirty="0"/>
              <a:t>      実用化の段階では切り捨てなければならない</a:t>
            </a:r>
            <a:endParaRPr kumimoji="1" lang="en-US" altLang="ja-JP" dirty="0"/>
          </a:p>
        </p:txBody>
      </p:sp>
    </p:spTree>
    <p:extLst>
      <p:ext uri="{BB962C8B-B14F-4D97-AF65-F5344CB8AC3E}">
        <p14:creationId xmlns:p14="http://schemas.microsoft.com/office/powerpoint/2010/main" val="101470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D096CBC-13B2-49E6-8FE9-45641B9B179D}"/>
              </a:ext>
            </a:extLst>
          </p:cNvPr>
          <p:cNvSpPr txBox="1"/>
          <p:nvPr/>
        </p:nvSpPr>
        <p:spPr>
          <a:xfrm>
            <a:off x="1590932" y="2069757"/>
            <a:ext cx="5962135" cy="584775"/>
          </a:xfrm>
          <a:prstGeom prst="rect">
            <a:avLst/>
          </a:prstGeom>
          <a:noFill/>
        </p:spPr>
        <p:txBody>
          <a:bodyPr wrap="square" rtlCol="0">
            <a:spAutoFit/>
          </a:bodyPr>
          <a:lstStyle/>
          <a:p>
            <a:r>
              <a:rPr kumimoji="1" lang="ja-JP" altLang="en-US" sz="3200" b="1" dirty="0"/>
              <a:t>ご清聴ありがとうございました</a:t>
            </a:r>
          </a:p>
        </p:txBody>
      </p:sp>
    </p:spTree>
    <p:extLst>
      <p:ext uri="{BB962C8B-B14F-4D97-AF65-F5344CB8AC3E}">
        <p14:creationId xmlns:p14="http://schemas.microsoft.com/office/powerpoint/2010/main" val="13167055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D096CBC-13B2-49E6-8FE9-45641B9B179D}"/>
              </a:ext>
            </a:extLst>
          </p:cNvPr>
          <p:cNvSpPr txBox="1"/>
          <p:nvPr/>
        </p:nvSpPr>
        <p:spPr>
          <a:xfrm>
            <a:off x="4008223" y="2069757"/>
            <a:ext cx="1127554" cy="584775"/>
          </a:xfrm>
          <a:prstGeom prst="rect">
            <a:avLst/>
          </a:prstGeom>
          <a:noFill/>
        </p:spPr>
        <p:txBody>
          <a:bodyPr wrap="square" rtlCol="0">
            <a:spAutoFit/>
          </a:bodyPr>
          <a:lstStyle/>
          <a:p>
            <a:r>
              <a:rPr kumimoji="1" lang="ja-JP" altLang="en-US" sz="3200" b="1" u="sng" dirty="0">
                <a:solidFill>
                  <a:srgbClr val="002060"/>
                </a:solidFill>
              </a:rPr>
              <a:t>付録</a:t>
            </a:r>
          </a:p>
        </p:txBody>
      </p:sp>
    </p:spTree>
    <p:extLst>
      <p:ext uri="{BB962C8B-B14F-4D97-AF65-F5344CB8AC3E}">
        <p14:creationId xmlns:p14="http://schemas.microsoft.com/office/powerpoint/2010/main" val="15902100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499" y="618353"/>
            <a:ext cx="3289987" cy="310406"/>
          </a:xfrm>
          <a:prstGeom prst="rect">
            <a:avLst/>
          </a:prstGeom>
          <a:noFill/>
          <a:ln/>
        </p:spPr>
        <p:txBody>
          <a:bodyPr wrap="square" lIns="0" tIns="0" rIns="0" bIns="0" rtlCol="0" anchor="t">
            <a:spAutoFit/>
          </a:bodyPr>
          <a:lstStyle/>
          <a:p>
            <a:pPr marL="0" indent="0" algn="l">
              <a:lnSpc>
                <a:spcPts val="2200"/>
              </a:lnSpc>
              <a:buNone/>
            </a:pPr>
            <a:r>
              <a:rPr lang="ja-JP" altLang="en-US" sz="2800" b="1" dirty="0">
                <a:solidFill>
                  <a:srgbClr val="0070C0"/>
                </a:solidFill>
              </a:rPr>
              <a:t>特徴量の作成①</a:t>
            </a:r>
            <a:endParaRPr lang="en-US" sz="2800" b="1" dirty="0">
              <a:solidFill>
                <a:srgbClr val="0070C0"/>
              </a:solidFill>
            </a:endParaRPr>
          </a:p>
        </p:txBody>
      </p:sp>
      <p:sp>
        <p:nvSpPr>
          <p:cNvPr id="6" name="テキスト ボックス 5">
            <a:extLst>
              <a:ext uri="{FF2B5EF4-FFF2-40B4-BE49-F238E27FC236}">
                <a16:creationId xmlns:a16="http://schemas.microsoft.com/office/drawing/2014/main" id="{D413A1EF-ABC0-4EC1-827B-99A0CFF900BC}"/>
              </a:ext>
            </a:extLst>
          </p:cNvPr>
          <p:cNvSpPr txBox="1"/>
          <p:nvPr/>
        </p:nvSpPr>
        <p:spPr>
          <a:xfrm>
            <a:off x="988540" y="1620193"/>
            <a:ext cx="7166919" cy="369332"/>
          </a:xfrm>
          <a:prstGeom prst="rect">
            <a:avLst/>
          </a:prstGeom>
          <a:noFill/>
        </p:spPr>
        <p:txBody>
          <a:bodyPr wrap="square" rtlCol="0">
            <a:spAutoFit/>
          </a:bodyPr>
          <a:lstStyle/>
          <a:p>
            <a:r>
              <a:rPr kumimoji="1" lang="ja-JP" altLang="en-US" dirty="0"/>
              <a:t>特徴量とは</a:t>
            </a:r>
            <a:r>
              <a:rPr kumimoji="1" lang="en-US" altLang="ja-JP" dirty="0"/>
              <a:t>……</a:t>
            </a:r>
            <a:r>
              <a:rPr kumimoji="1" lang="ja-JP" altLang="en-US" dirty="0"/>
              <a:t>モデルの構築や、モデルが予測する為に必要な情報</a:t>
            </a:r>
            <a:endParaRPr kumimoji="1" lang="en-US" altLang="ja-JP" dirty="0"/>
          </a:p>
        </p:txBody>
      </p:sp>
      <p:sp>
        <p:nvSpPr>
          <p:cNvPr id="20" name="テキスト ボックス 19">
            <a:extLst>
              <a:ext uri="{FF2B5EF4-FFF2-40B4-BE49-F238E27FC236}">
                <a16:creationId xmlns:a16="http://schemas.microsoft.com/office/drawing/2014/main" id="{92B5863D-D0BE-498A-9AAC-4AE059AF9CD5}"/>
              </a:ext>
            </a:extLst>
          </p:cNvPr>
          <p:cNvSpPr txBox="1"/>
          <p:nvPr/>
        </p:nvSpPr>
        <p:spPr>
          <a:xfrm>
            <a:off x="1204784" y="4155815"/>
            <a:ext cx="6641758" cy="369332"/>
          </a:xfrm>
          <a:prstGeom prst="rect">
            <a:avLst/>
          </a:prstGeom>
          <a:noFill/>
        </p:spPr>
        <p:txBody>
          <a:bodyPr wrap="square" rtlCol="0">
            <a:spAutoFit/>
          </a:bodyPr>
          <a:lstStyle/>
          <a:p>
            <a:r>
              <a:rPr kumimoji="1" lang="ja-JP" altLang="en-US" b="1" u="sng" dirty="0">
                <a:solidFill>
                  <a:srgbClr val="FF0000"/>
                </a:solidFill>
              </a:rPr>
              <a:t>機械学習では、特徴量の設計がモデルの性能に大きく影響する</a:t>
            </a:r>
          </a:p>
        </p:txBody>
      </p:sp>
      <p:sp>
        <p:nvSpPr>
          <p:cNvPr id="5" name="Text 3">
            <a:extLst>
              <a:ext uri="{FF2B5EF4-FFF2-40B4-BE49-F238E27FC236}">
                <a16:creationId xmlns:a16="http://schemas.microsoft.com/office/drawing/2014/main" id="{DD9FFE1F-76C3-4495-B476-F7F2405F9892}"/>
              </a:ext>
            </a:extLst>
          </p:cNvPr>
          <p:cNvSpPr/>
          <p:nvPr/>
        </p:nvSpPr>
        <p:spPr>
          <a:xfrm>
            <a:off x="8530242" y="385788"/>
            <a:ext cx="296556" cy="194284"/>
          </a:xfrm>
          <a:prstGeom prst="rect">
            <a:avLst/>
          </a:prstGeom>
          <a:noFill/>
          <a:ln/>
        </p:spPr>
        <p:txBody>
          <a:bodyPr wrap="none" lIns="0" tIns="0" rIns="0" bIns="0" rtlCol="0" anchor="t">
            <a:spAutoFit/>
          </a:bodyPr>
          <a:lstStyle/>
          <a:p>
            <a:pPr>
              <a:lnSpc>
                <a:spcPts val="1600"/>
              </a:lnSpc>
            </a:pPr>
            <a:r>
              <a:rPr lang="en-US" altLang="ja-JP" sz="1193" b="1" dirty="0">
                <a:solidFill>
                  <a:srgbClr val="0288D1"/>
                </a:solidFill>
              </a:rPr>
              <a:t>7/18</a:t>
            </a:r>
            <a:endParaRPr lang="en-US" sz="1193" dirty="0">
              <a:solidFill>
                <a:srgbClr val="0288D1"/>
              </a:solidFill>
            </a:endParaRPr>
          </a:p>
        </p:txBody>
      </p:sp>
      <p:sp>
        <p:nvSpPr>
          <p:cNvPr id="4" name="楕円 3">
            <a:extLst>
              <a:ext uri="{FF2B5EF4-FFF2-40B4-BE49-F238E27FC236}">
                <a16:creationId xmlns:a16="http://schemas.microsoft.com/office/drawing/2014/main" id="{79191166-D483-4C35-BBFC-87BD210DFEC0}"/>
              </a:ext>
            </a:extLst>
          </p:cNvPr>
          <p:cNvSpPr/>
          <p:nvPr/>
        </p:nvSpPr>
        <p:spPr>
          <a:xfrm>
            <a:off x="724413" y="2471351"/>
            <a:ext cx="2984158" cy="1303638"/>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説明変数</a:t>
            </a:r>
            <a:endParaRPr kumimoji="1" lang="en-US" altLang="ja-JP" dirty="0"/>
          </a:p>
          <a:p>
            <a:pPr algn="ctr"/>
            <a:r>
              <a:rPr kumimoji="1" lang="en-US" altLang="ja-JP" sz="1200" dirty="0"/>
              <a:t>(</a:t>
            </a:r>
            <a:r>
              <a:rPr kumimoji="1" lang="ja-JP" altLang="en-US" sz="1200" dirty="0"/>
              <a:t>面積、間取り、築年数など</a:t>
            </a:r>
            <a:r>
              <a:rPr kumimoji="1" lang="en-US" altLang="ja-JP" sz="1200" dirty="0"/>
              <a:t>)</a:t>
            </a:r>
            <a:endParaRPr kumimoji="1" lang="ja-JP" altLang="en-US" sz="1200" dirty="0"/>
          </a:p>
        </p:txBody>
      </p:sp>
      <p:sp>
        <p:nvSpPr>
          <p:cNvPr id="7" name="矢印: 右 6">
            <a:extLst>
              <a:ext uri="{FF2B5EF4-FFF2-40B4-BE49-F238E27FC236}">
                <a16:creationId xmlns:a16="http://schemas.microsoft.com/office/drawing/2014/main" id="{C66A8C2B-6CC5-49DB-9C5E-BF94B0FBE20E}"/>
              </a:ext>
            </a:extLst>
          </p:cNvPr>
          <p:cNvSpPr/>
          <p:nvPr/>
        </p:nvSpPr>
        <p:spPr>
          <a:xfrm>
            <a:off x="4145692" y="2727669"/>
            <a:ext cx="1000897" cy="7784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加工</a:t>
            </a:r>
          </a:p>
        </p:txBody>
      </p:sp>
      <p:sp>
        <p:nvSpPr>
          <p:cNvPr id="9" name="楕円 8">
            <a:extLst>
              <a:ext uri="{FF2B5EF4-FFF2-40B4-BE49-F238E27FC236}">
                <a16:creationId xmlns:a16="http://schemas.microsoft.com/office/drawing/2014/main" id="{7E5F8AC3-58D2-4014-AFD6-14EEB61356BB}"/>
              </a:ext>
            </a:extLst>
          </p:cNvPr>
          <p:cNvSpPr/>
          <p:nvPr/>
        </p:nvSpPr>
        <p:spPr>
          <a:xfrm>
            <a:off x="5594521" y="2465089"/>
            <a:ext cx="2984158" cy="130363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特徴量</a:t>
            </a:r>
          </a:p>
        </p:txBody>
      </p:sp>
    </p:spTree>
    <p:extLst>
      <p:ext uri="{BB962C8B-B14F-4D97-AF65-F5344CB8AC3E}">
        <p14:creationId xmlns:p14="http://schemas.microsoft.com/office/powerpoint/2010/main" val="1657259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4" grpId="0" animBg="1"/>
      <p:bldP spid="7" grpId="0" animBg="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499" y="618353"/>
            <a:ext cx="3289987" cy="310406"/>
          </a:xfrm>
          <a:prstGeom prst="rect">
            <a:avLst/>
          </a:prstGeom>
          <a:noFill/>
          <a:ln/>
        </p:spPr>
        <p:txBody>
          <a:bodyPr wrap="square" lIns="0" tIns="0" rIns="0" bIns="0" rtlCol="0" anchor="t">
            <a:spAutoFit/>
          </a:bodyPr>
          <a:lstStyle/>
          <a:p>
            <a:pPr marL="0" indent="0" algn="l">
              <a:lnSpc>
                <a:spcPts val="2200"/>
              </a:lnSpc>
              <a:buNone/>
            </a:pPr>
            <a:r>
              <a:rPr lang="ja-JP" altLang="en-US" sz="2800" b="1" dirty="0">
                <a:solidFill>
                  <a:srgbClr val="0070C0"/>
                </a:solidFill>
              </a:rPr>
              <a:t>特徴量の作成例①</a:t>
            </a:r>
            <a:endParaRPr lang="en-US" sz="2800" b="1" dirty="0">
              <a:solidFill>
                <a:srgbClr val="0070C0"/>
              </a:solidFill>
            </a:endParaRPr>
          </a:p>
        </p:txBody>
      </p:sp>
      <p:sp>
        <p:nvSpPr>
          <p:cNvPr id="6" name="テキスト ボックス 5">
            <a:extLst>
              <a:ext uri="{FF2B5EF4-FFF2-40B4-BE49-F238E27FC236}">
                <a16:creationId xmlns:a16="http://schemas.microsoft.com/office/drawing/2014/main" id="{D413A1EF-ABC0-4EC1-827B-99A0CFF900BC}"/>
              </a:ext>
            </a:extLst>
          </p:cNvPr>
          <p:cNvSpPr txBox="1"/>
          <p:nvPr/>
        </p:nvSpPr>
        <p:spPr>
          <a:xfrm>
            <a:off x="803188" y="1236971"/>
            <a:ext cx="2730843" cy="369332"/>
          </a:xfrm>
          <a:prstGeom prst="rect">
            <a:avLst/>
          </a:prstGeom>
          <a:noFill/>
        </p:spPr>
        <p:txBody>
          <a:bodyPr wrap="square" rtlCol="0">
            <a:spAutoFit/>
          </a:bodyPr>
          <a:lstStyle/>
          <a:p>
            <a:r>
              <a:rPr kumimoji="1" lang="en-US" altLang="ja-JP" dirty="0"/>
              <a:t>(</a:t>
            </a:r>
            <a:r>
              <a:rPr kumimoji="1" lang="ja-JP" altLang="en-US" dirty="0"/>
              <a:t>例</a:t>
            </a:r>
            <a:r>
              <a:rPr kumimoji="1" lang="en-US" altLang="ja-JP" dirty="0"/>
              <a:t>)</a:t>
            </a:r>
            <a:r>
              <a:rPr kumimoji="1" lang="ja-JP" altLang="en-US" dirty="0"/>
              <a:t>データの取捨選択</a:t>
            </a:r>
          </a:p>
        </p:txBody>
      </p:sp>
      <p:sp>
        <p:nvSpPr>
          <p:cNvPr id="4" name="四角形: 角を丸くする 3">
            <a:extLst>
              <a:ext uri="{FF2B5EF4-FFF2-40B4-BE49-F238E27FC236}">
                <a16:creationId xmlns:a16="http://schemas.microsoft.com/office/drawing/2014/main" id="{2525693B-7F1C-4DBC-8B83-9DD719832416}"/>
              </a:ext>
            </a:extLst>
          </p:cNvPr>
          <p:cNvSpPr/>
          <p:nvPr/>
        </p:nvSpPr>
        <p:spPr>
          <a:xfrm>
            <a:off x="639462" y="1927654"/>
            <a:ext cx="3289987" cy="210682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正方形/長方形 4">
            <a:extLst>
              <a:ext uri="{FF2B5EF4-FFF2-40B4-BE49-F238E27FC236}">
                <a16:creationId xmlns:a16="http://schemas.microsoft.com/office/drawing/2014/main" id="{1FBF9178-E738-4EB5-B9F8-25D1132689E7}"/>
              </a:ext>
            </a:extLst>
          </p:cNvPr>
          <p:cNvSpPr/>
          <p:nvPr/>
        </p:nvSpPr>
        <p:spPr>
          <a:xfrm>
            <a:off x="1521425" y="1770753"/>
            <a:ext cx="1526059" cy="31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t>room_floor</a:t>
            </a:r>
            <a:endParaRPr kumimoji="1" lang="ja-JP" altLang="en-US" dirty="0"/>
          </a:p>
        </p:txBody>
      </p:sp>
      <p:sp>
        <p:nvSpPr>
          <p:cNvPr id="10" name="四角形: 角を丸くする 9">
            <a:extLst>
              <a:ext uri="{FF2B5EF4-FFF2-40B4-BE49-F238E27FC236}">
                <a16:creationId xmlns:a16="http://schemas.microsoft.com/office/drawing/2014/main" id="{64924BC0-0147-47FD-B2FB-645F69C9716D}"/>
              </a:ext>
            </a:extLst>
          </p:cNvPr>
          <p:cNvSpPr/>
          <p:nvPr/>
        </p:nvSpPr>
        <p:spPr>
          <a:xfrm>
            <a:off x="5013754" y="1921476"/>
            <a:ext cx="3289987" cy="210682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E52E8847-F557-41EB-B217-EA0CC0BD52C9}"/>
              </a:ext>
            </a:extLst>
          </p:cNvPr>
          <p:cNvSpPr/>
          <p:nvPr/>
        </p:nvSpPr>
        <p:spPr>
          <a:xfrm>
            <a:off x="5895719" y="1770753"/>
            <a:ext cx="1526059" cy="31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t>room_kaisuu</a:t>
            </a:r>
            <a:endParaRPr kumimoji="1" lang="ja-JP" altLang="en-US" dirty="0"/>
          </a:p>
        </p:txBody>
      </p:sp>
      <p:sp>
        <p:nvSpPr>
          <p:cNvPr id="11" name="テキスト ボックス 10">
            <a:extLst>
              <a:ext uri="{FF2B5EF4-FFF2-40B4-BE49-F238E27FC236}">
                <a16:creationId xmlns:a16="http://schemas.microsoft.com/office/drawing/2014/main" id="{4F1BC76C-9DAD-4E83-8CB5-5EF15819766C}"/>
              </a:ext>
            </a:extLst>
          </p:cNvPr>
          <p:cNvSpPr txBox="1"/>
          <p:nvPr/>
        </p:nvSpPr>
        <p:spPr>
          <a:xfrm>
            <a:off x="650273" y="2235866"/>
            <a:ext cx="2397211" cy="369332"/>
          </a:xfrm>
          <a:prstGeom prst="rect">
            <a:avLst/>
          </a:prstGeom>
          <a:noFill/>
        </p:spPr>
        <p:txBody>
          <a:bodyPr wrap="square" rtlCol="0">
            <a:spAutoFit/>
          </a:bodyPr>
          <a:lstStyle/>
          <a:p>
            <a:r>
              <a:rPr kumimoji="1" lang="en-US" altLang="ja-JP" dirty="0"/>
              <a:t>【</a:t>
            </a:r>
            <a:r>
              <a:rPr kumimoji="1" lang="ja-JP" altLang="en-US" dirty="0"/>
              <a:t>説明文</a:t>
            </a:r>
            <a:r>
              <a:rPr kumimoji="1" lang="en-US" altLang="ja-JP" dirty="0"/>
              <a:t>】</a:t>
            </a:r>
            <a:r>
              <a:rPr kumimoji="1" lang="ja-JP" altLang="en-US" dirty="0"/>
              <a:t>所在階数</a:t>
            </a:r>
          </a:p>
        </p:txBody>
      </p:sp>
      <p:sp>
        <p:nvSpPr>
          <p:cNvPr id="12" name="テキスト ボックス 11">
            <a:extLst>
              <a:ext uri="{FF2B5EF4-FFF2-40B4-BE49-F238E27FC236}">
                <a16:creationId xmlns:a16="http://schemas.microsoft.com/office/drawing/2014/main" id="{96894CE7-A067-4624-8050-CE1C1E65905E}"/>
              </a:ext>
            </a:extLst>
          </p:cNvPr>
          <p:cNvSpPr txBox="1"/>
          <p:nvPr/>
        </p:nvSpPr>
        <p:spPr>
          <a:xfrm>
            <a:off x="5092527" y="2241337"/>
            <a:ext cx="2397211" cy="369332"/>
          </a:xfrm>
          <a:prstGeom prst="rect">
            <a:avLst/>
          </a:prstGeom>
          <a:noFill/>
        </p:spPr>
        <p:txBody>
          <a:bodyPr wrap="square" rtlCol="0">
            <a:spAutoFit/>
          </a:bodyPr>
          <a:lstStyle/>
          <a:p>
            <a:r>
              <a:rPr kumimoji="1" lang="en-US" altLang="ja-JP" dirty="0"/>
              <a:t>【</a:t>
            </a:r>
            <a:r>
              <a:rPr kumimoji="1" lang="ja-JP" altLang="en-US" dirty="0"/>
              <a:t>説明文</a:t>
            </a:r>
            <a:r>
              <a:rPr kumimoji="1" lang="en-US" altLang="ja-JP" dirty="0"/>
              <a:t>】</a:t>
            </a:r>
            <a:r>
              <a:rPr kumimoji="1" lang="ja-JP" altLang="en-US" dirty="0"/>
              <a:t>部屋階数</a:t>
            </a:r>
          </a:p>
        </p:txBody>
      </p:sp>
      <p:sp>
        <p:nvSpPr>
          <p:cNvPr id="14" name="テキスト ボックス 13">
            <a:extLst>
              <a:ext uri="{FF2B5EF4-FFF2-40B4-BE49-F238E27FC236}">
                <a16:creationId xmlns:a16="http://schemas.microsoft.com/office/drawing/2014/main" id="{AB77A1C9-AA6B-4FEB-AE81-9E4C1AC539E1}"/>
              </a:ext>
            </a:extLst>
          </p:cNvPr>
          <p:cNvSpPr txBox="1"/>
          <p:nvPr/>
        </p:nvSpPr>
        <p:spPr>
          <a:xfrm>
            <a:off x="2493746" y="2672279"/>
            <a:ext cx="1085078" cy="1384995"/>
          </a:xfrm>
          <a:prstGeom prst="rect">
            <a:avLst/>
          </a:prstGeom>
          <a:noFill/>
        </p:spPr>
        <p:txBody>
          <a:bodyPr wrap="square" rtlCol="0">
            <a:spAutoFit/>
          </a:bodyPr>
          <a:lstStyle/>
          <a:p>
            <a:r>
              <a:rPr lang="en-US" altLang="ja-JP" sz="1200" dirty="0"/>
              <a:t>6: 15635 </a:t>
            </a:r>
          </a:p>
          <a:p>
            <a:r>
              <a:rPr lang="en-US" altLang="ja-JP" sz="1200" dirty="0"/>
              <a:t>5: 21836 </a:t>
            </a:r>
          </a:p>
          <a:p>
            <a:r>
              <a:rPr lang="en-US" altLang="ja-JP" sz="1200" dirty="0"/>
              <a:t>4: 26430 </a:t>
            </a:r>
          </a:p>
          <a:p>
            <a:r>
              <a:rPr lang="en-US" altLang="ja-JP" sz="1200" dirty="0"/>
              <a:t>3: 29522 </a:t>
            </a:r>
          </a:p>
          <a:p>
            <a:r>
              <a:rPr lang="en-US" altLang="ja-JP" sz="1200" dirty="0"/>
              <a:t>2: 30756 </a:t>
            </a:r>
          </a:p>
          <a:p>
            <a:r>
              <a:rPr lang="en-US" altLang="ja-JP" sz="1200" dirty="0"/>
              <a:t>1: 20868</a:t>
            </a:r>
          </a:p>
          <a:p>
            <a:r>
              <a:rPr kumimoji="1" lang="en-US" altLang="ja-JP" sz="1200" dirty="0" err="1"/>
              <a:t>NaN</a:t>
            </a:r>
            <a:r>
              <a:rPr kumimoji="1" lang="en-US" altLang="ja-JP" sz="1200" dirty="0"/>
              <a:t>:  </a:t>
            </a:r>
            <a:r>
              <a:rPr kumimoji="1" lang="en-US" altLang="ja-JP" sz="1200" dirty="0">
                <a:solidFill>
                  <a:srgbClr val="0070C0"/>
                </a:solidFill>
              </a:rPr>
              <a:t>165477</a:t>
            </a:r>
            <a:endParaRPr kumimoji="1" lang="ja-JP" altLang="en-US" sz="1200" dirty="0">
              <a:solidFill>
                <a:srgbClr val="0070C0"/>
              </a:solidFill>
            </a:endParaRPr>
          </a:p>
        </p:txBody>
      </p:sp>
      <p:sp>
        <p:nvSpPr>
          <p:cNvPr id="15" name="テキスト ボックス 14">
            <a:extLst>
              <a:ext uri="{FF2B5EF4-FFF2-40B4-BE49-F238E27FC236}">
                <a16:creationId xmlns:a16="http://schemas.microsoft.com/office/drawing/2014/main" id="{C52640B2-F3CD-4E37-A128-41C39C098E75}"/>
              </a:ext>
            </a:extLst>
          </p:cNvPr>
          <p:cNvSpPr txBox="1"/>
          <p:nvPr/>
        </p:nvSpPr>
        <p:spPr>
          <a:xfrm>
            <a:off x="6992378" y="2672718"/>
            <a:ext cx="1085078" cy="1384995"/>
          </a:xfrm>
          <a:prstGeom prst="rect">
            <a:avLst/>
          </a:prstGeom>
          <a:noFill/>
        </p:spPr>
        <p:txBody>
          <a:bodyPr wrap="square" rtlCol="0">
            <a:spAutoFit/>
          </a:bodyPr>
          <a:lstStyle/>
          <a:p>
            <a:r>
              <a:rPr lang="en-US" altLang="ja-JP" sz="1200" dirty="0"/>
              <a:t>6: 15658 </a:t>
            </a:r>
          </a:p>
          <a:p>
            <a:r>
              <a:rPr lang="en-US" altLang="ja-JP" sz="1200" dirty="0"/>
              <a:t>5: 21890 </a:t>
            </a:r>
          </a:p>
          <a:p>
            <a:r>
              <a:rPr lang="en-US" altLang="ja-JP" sz="1200" dirty="0"/>
              <a:t>4: 26411 </a:t>
            </a:r>
          </a:p>
          <a:p>
            <a:r>
              <a:rPr lang="en-US" altLang="ja-JP" sz="1200" dirty="0"/>
              <a:t>3: 30638 </a:t>
            </a:r>
          </a:p>
          <a:p>
            <a:r>
              <a:rPr lang="en-US" altLang="ja-JP" sz="1200" dirty="0"/>
              <a:t>2: 37622 </a:t>
            </a:r>
          </a:p>
          <a:p>
            <a:r>
              <a:rPr lang="en-US" altLang="ja-JP" sz="1200" dirty="0"/>
              <a:t>1: 21763</a:t>
            </a:r>
          </a:p>
          <a:p>
            <a:r>
              <a:rPr kumimoji="1" lang="en-US" altLang="ja-JP" sz="1200" dirty="0" err="1"/>
              <a:t>NaN</a:t>
            </a:r>
            <a:r>
              <a:rPr kumimoji="1" lang="en-US" altLang="ja-JP" sz="1200" dirty="0"/>
              <a:t>:  </a:t>
            </a:r>
            <a:r>
              <a:rPr kumimoji="1" lang="en-US" altLang="ja-JP" sz="1200" dirty="0">
                <a:solidFill>
                  <a:srgbClr val="FF0000"/>
                </a:solidFill>
              </a:rPr>
              <a:t>155172</a:t>
            </a:r>
            <a:endParaRPr kumimoji="1" lang="ja-JP" altLang="en-US" sz="1200" dirty="0">
              <a:solidFill>
                <a:srgbClr val="FF0000"/>
              </a:solidFill>
            </a:endParaRPr>
          </a:p>
        </p:txBody>
      </p:sp>
      <p:sp>
        <p:nvSpPr>
          <p:cNvPr id="16" name="テキスト ボックス 15">
            <a:extLst>
              <a:ext uri="{FF2B5EF4-FFF2-40B4-BE49-F238E27FC236}">
                <a16:creationId xmlns:a16="http://schemas.microsoft.com/office/drawing/2014/main" id="{E050541C-8083-4569-8F99-8CB6B2D8FE04}"/>
              </a:ext>
            </a:extLst>
          </p:cNvPr>
          <p:cNvSpPr txBox="1"/>
          <p:nvPr/>
        </p:nvSpPr>
        <p:spPr>
          <a:xfrm>
            <a:off x="650272" y="2730575"/>
            <a:ext cx="1969359" cy="369332"/>
          </a:xfrm>
          <a:prstGeom prst="rect">
            <a:avLst/>
          </a:prstGeom>
          <a:noFill/>
        </p:spPr>
        <p:txBody>
          <a:bodyPr wrap="square" rtlCol="0">
            <a:spAutoFit/>
          </a:bodyPr>
          <a:lstStyle/>
          <a:p>
            <a:r>
              <a:rPr kumimoji="1" lang="en-US" altLang="ja-JP" dirty="0"/>
              <a:t>【</a:t>
            </a:r>
            <a:r>
              <a:rPr kumimoji="1" lang="ja-JP" altLang="en-US" dirty="0"/>
              <a:t>データ</a:t>
            </a:r>
            <a:r>
              <a:rPr kumimoji="1" lang="en-US" altLang="ja-JP" dirty="0"/>
              <a:t>(</a:t>
            </a:r>
            <a:r>
              <a:rPr kumimoji="1" lang="ja-JP" altLang="en-US" dirty="0"/>
              <a:t>一部</a:t>
            </a:r>
            <a:r>
              <a:rPr kumimoji="1" lang="en-US" altLang="ja-JP" dirty="0"/>
              <a:t>)】</a:t>
            </a:r>
            <a:endParaRPr kumimoji="1" lang="ja-JP" altLang="en-US" dirty="0"/>
          </a:p>
        </p:txBody>
      </p:sp>
      <p:sp>
        <p:nvSpPr>
          <p:cNvPr id="17" name="テキスト ボックス 16">
            <a:extLst>
              <a:ext uri="{FF2B5EF4-FFF2-40B4-BE49-F238E27FC236}">
                <a16:creationId xmlns:a16="http://schemas.microsoft.com/office/drawing/2014/main" id="{6885C3FE-8DDA-49F9-8937-B18CC49A3C44}"/>
              </a:ext>
            </a:extLst>
          </p:cNvPr>
          <p:cNvSpPr txBox="1"/>
          <p:nvPr/>
        </p:nvSpPr>
        <p:spPr>
          <a:xfrm>
            <a:off x="5092526" y="2672279"/>
            <a:ext cx="1969359" cy="369332"/>
          </a:xfrm>
          <a:prstGeom prst="rect">
            <a:avLst/>
          </a:prstGeom>
          <a:noFill/>
        </p:spPr>
        <p:txBody>
          <a:bodyPr wrap="square" rtlCol="0">
            <a:spAutoFit/>
          </a:bodyPr>
          <a:lstStyle/>
          <a:p>
            <a:r>
              <a:rPr kumimoji="1" lang="en-US" altLang="ja-JP" dirty="0"/>
              <a:t>【</a:t>
            </a:r>
            <a:r>
              <a:rPr kumimoji="1" lang="ja-JP" altLang="en-US" dirty="0"/>
              <a:t>データ</a:t>
            </a:r>
            <a:r>
              <a:rPr kumimoji="1" lang="en-US" altLang="ja-JP" dirty="0"/>
              <a:t>(</a:t>
            </a:r>
            <a:r>
              <a:rPr kumimoji="1" lang="ja-JP" altLang="en-US" dirty="0"/>
              <a:t>一部</a:t>
            </a:r>
            <a:r>
              <a:rPr kumimoji="1" lang="en-US" altLang="ja-JP" dirty="0"/>
              <a:t>)】</a:t>
            </a:r>
            <a:endParaRPr kumimoji="1" lang="ja-JP" altLang="en-US" dirty="0"/>
          </a:p>
        </p:txBody>
      </p:sp>
      <p:sp>
        <p:nvSpPr>
          <p:cNvPr id="18" name="テキスト ボックス 17">
            <a:extLst>
              <a:ext uri="{FF2B5EF4-FFF2-40B4-BE49-F238E27FC236}">
                <a16:creationId xmlns:a16="http://schemas.microsoft.com/office/drawing/2014/main" id="{DFFEC642-4FD6-47D0-9BA2-3E60ABF6B2FC}"/>
              </a:ext>
            </a:extLst>
          </p:cNvPr>
          <p:cNvSpPr txBox="1"/>
          <p:nvPr/>
        </p:nvSpPr>
        <p:spPr>
          <a:xfrm>
            <a:off x="7172326" y="4173722"/>
            <a:ext cx="1311360" cy="276999"/>
          </a:xfrm>
          <a:prstGeom prst="rect">
            <a:avLst/>
          </a:prstGeom>
          <a:noFill/>
        </p:spPr>
        <p:txBody>
          <a:bodyPr wrap="square" rtlCol="0">
            <a:spAutoFit/>
          </a:bodyPr>
          <a:lstStyle/>
          <a:p>
            <a:r>
              <a:rPr kumimoji="1" lang="en-US" altLang="ja-JP" sz="1200" dirty="0"/>
              <a:t>※</a:t>
            </a:r>
            <a:r>
              <a:rPr kumimoji="1" lang="en-US" altLang="ja-JP" sz="1200" dirty="0" err="1"/>
              <a:t>NaN</a:t>
            </a:r>
            <a:r>
              <a:rPr kumimoji="1" lang="ja-JP" altLang="en-US" sz="1200" dirty="0"/>
              <a:t>は欠損値</a:t>
            </a:r>
          </a:p>
        </p:txBody>
      </p:sp>
      <p:sp>
        <p:nvSpPr>
          <p:cNvPr id="19" name="爆発: 8 pt 18">
            <a:extLst>
              <a:ext uri="{FF2B5EF4-FFF2-40B4-BE49-F238E27FC236}">
                <a16:creationId xmlns:a16="http://schemas.microsoft.com/office/drawing/2014/main" id="{C6023AF7-6715-499C-9FA8-E969AB84E422}"/>
              </a:ext>
            </a:extLst>
          </p:cNvPr>
          <p:cNvSpPr/>
          <p:nvPr/>
        </p:nvSpPr>
        <p:spPr>
          <a:xfrm>
            <a:off x="7568511" y="1606303"/>
            <a:ext cx="1311360" cy="908221"/>
          </a:xfrm>
          <a:prstGeom prst="irregularSeal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採用</a:t>
            </a:r>
          </a:p>
        </p:txBody>
      </p:sp>
      <p:sp>
        <p:nvSpPr>
          <p:cNvPr id="20" name="テキスト ボックス 19">
            <a:extLst>
              <a:ext uri="{FF2B5EF4-FFF2-40B4-BE49-F238E27FC236}">
                <a16:creationId xmlns:a16="http://schemas.microsoft.com/office/drawing/2014/main" id="{8F0719C1-AB81-4514-845B-F1D70711FA18}"/>
              </a:ext>
            </a:extLst>
          </p:cNvPr>
          <p:cNvSpPr txBox="1"/>
          <p:nvPr/>
        </p:nvSpPr>
        <p:spPr>
          <a:xfrm>
            <a:off x="1921476" y="4186648"/>
            <a:ext cx="4992129" cy="646331"/>
          </a:xfrm>
          <a:prstGeom prst="rect">
            <a:avLst/>
          </a:prstGeom>
          <a:noFill/>
        </p:spPr>
        <p:txBody>
          <a:bodyPr wrap="square" rtlCol="0">
            <a:spAutoFit/>
          </a:bodyPr>
          <a:lstStyle/>
          <a:p>
            <a:r>
              <a:rPr kumimoji="1" lang="ja-JP" altLang="en-US" dirty="0"/>
              <a:t>同じデータだが、</a:t>
            </a:r>
            <a:r>
              <a:rPr kumimoji="1" lang="en-US" altLang="ja-JP" dirty="0" err="1"/>
              <a:t>room_kaisuu</a:t>
            </a:r>
            <a:r>
              <a:rPr kumimoji="1" lang="ja-JP" altLang="en-US" dirty="0"/>
              <a:t>の方がデータの欠損値が少ないので</a:t>
            </a:r>
            <a:r>
              <a:rPr kumimoji="1" lang="en-US" altLang="ja-JP" dirty="0" err="1"/>
              <a:t>room_kaisuu</a:t>
            </a:r>
            <a:r>
              <a:rPr kumimoji="1" lang="ja-JP" altLang="en-US" dirty="0"/>
              <a:t>を採用</a:t>
            </a:r>
          </a:p>
        </p:txBody>
      </p:sp>
      <p:pic>
        <p:nvPicPr>
          <p:cNvPr id="24" name="図 23">
            <a:extLst>
              <a:ext uri="{FF2B5EF4-FFF2-40B4-BE49-F238E27FC236}">
                <a16:creationId xmlns:a16="http://schemas.microsoft.com/office/drawing/2014/main" id="{5D4EC5BF-F1B4-4553-8796-517091071D7F}"/>
              </a:ext>
            </a:extLst>
          </p:cNvPr>
          <p:cNvPicPr>
            <a:picLocks noChangeAspect="1"/>
          </p:cNvPicPr>
          <p:nvPr/>
        </p:nvPicPr>
        <p:blipFill>
          <a:blip r:embed="rId3"/>
          <a:stretch>
            <a:fillRect/>
          </a:stretch>
        </p:blipFill>
        <p:spPr>
          <a:xfrm>
            <a:off x="6839122" y="336563"/>
            <a:ext cx="988884" cy="1047229"/>
          </a:xfrm>
          <a:prstGeom prst="rect">
            <a:avLst/>
          </a:prstGeom>
        </p:spPr>
      </p:pic>
    </p:spTree>
    <p:extLst>
      <p:ext uri="{BB962C8B-B14F-4D97-AF65-F5344CB8AC3E}">
        <p14:creationId xmlns:p14="http://schemas.microsoft.com/office/powerpoint/2010/main" val="3135824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499" y="618353"/>
            <a:ext cx="3289987" cy="310406"/>
          </a:xfrm>
          <a:prstGeom prst="rect">
            <a:avLst/>
          </a:prstGeom>
          <a:noFill/>
          <a:ln/>
        </p:spPr>
        <p:txBody>
          <a:bodyPr wrap="square" lIns="0" tIns="0" rIns="0" bIns="0" rtlCol="0" anchor="t">
            <a:spAutoFit/>
          </a:bodyPr>
          <a:lstStyle/>
          <a:p>
            <a:pPr marL="0" indent="0" algn="l">
              <a:lnSpc>
                <a:spcPts val="2200"/>
              </a:lnSpc>
              <a:buNone/>
            </a:pPr>
            <a:r>
              <a:rPr lang="ja-JP" altLang="en-US" sz="2800" b="1" dirty="0">
                <a:solidFill>
                  <a:srgbClr val="0070C0"/>
                </a:solidFill>
              </a:rPr>
              <a:t>特徴量の作成例②</a:t>
            </a:r>
            <a:endParaRPr lang="en-US" sz="2800" b="1" dirty="0">
              <a:solidFill>
                <a:srgbClr val="0070C0"/>
              </a:solidFill>
            </a:endParaRPr>
          </a:p>
        </p:txBody>
      </p:sp>
      <p:sp>
        <p:nvSpPr>
          <p:cNvPr id="6" name="テキスト ボックス 5">
            <a:extLst>
              <a:ext uri="{FF2B5EF4-FFF2-40B4-BE49-F238E27FC236}">
                <a16:creationId xmlns:a16="http://schemas.microsoft.com/office/drawing/2014/main" id="{D413A1EF-ABC0-4EC1-827B-99A0CFF900BC}"/>
              </a:ext>
            </a:extLst>
          </p:cNvPr>
          <p:cNvSpPr txBox="1"/>
          <p:nvPr/>
        </p:nvSpPr>
        <p:spPr>
          <a:xfrm>
            <a:off x="803188" y="1236971"/>
            <a:ext cx="2977980" cy="369332"/>
          </a:xfrm>
          <a:prstGeom prst="rect">
            <a:avLst/>
          </a:prstGeom>
          <a:noFill/>
        </p:spPr>
        <p:txBody>
          <a:bodyPr wrap="square" rtlCol="0">
            <a:spAutoFit/>
          </a:bodyPr>
          <a:lstStyle/>
          <a:p>
            <a:r>
              <a:rPr kumimoji="1" lang="en-US" altLang="ja-JP" dirty="0"/>
              <a:t>(</a:t>
            </a:r>
            <a:r>
              <a:rPr kumimoji="1" lang="ja-JP" altLang="en-US" dirty="0"/>
              <a:t>例</a:t>
            </a:r>
            <a:r>
              <a:rPr kumimoji="1" lang="en-US" altLang="ja-JP" dirty="0"/>
              <a:t>)</a:t>
            </a:r>
            <a:r>
              <a:rPr kumimoji="1" lang="ja-JP" altLang="en-US" dirty="0"/>
              <a:t>外部データの組み込み</a:t>
            </a:r>
          </a:p>
        </p:txBody>
      </p:sp>
      <p:sp>
        <p:nvSpPr>
          <p:cNvPr id="21" name="Text 3">
            <a:extLst>
              <a:ext uri="{FF2B5EF4-FFF2-40B4-BE49-F238E27FC236}">
                <a16:creationId xmlns:a16="http://schemas.microsoft.com/office/drawing/2014/main" id="{522BFC0A-1275-4A35-A04D-C2E0554692B3}"/>
              </a:ext>
            </a:extLst>
          </p:cNvPr>
          <p:cNvSpPr/>
          <p:nvPr/>
        </p:nvSpPr>
        <p:spPr>
          <a:xfrm>
            <a:off x="8530242" y="385788"/>
            <a:ext cx="296556" cy="194284"/>
          </a:xfrm>
          <a:prstGeom prst="rect">
            <a:avLst/>
          </a:prstGeom>
          <a:noFill/>
          <a:ln/>
        </p:spPr>
        <p:txBody>
          <a:bodyPr wrap="none" lIns="0" tIns="0" rIns="0" bIns="0" rtlCol="0" anchor="t">
            <a:spAutoFit/>
          </a:bodyPr>
          <a:lstStyle/>
          <a:p>
            <a:pPr>
              <a:lnSpc>
                <a:spcPts val="1600"/>
              </a:lnSpc>
            </a:pPr>
            <a:r>
              <a:rPr lang="en-US" altLang="ja-JP" sz="1193" b="1" dirty="0">
                <a:solidFill>
                  <a:srgbClr val="0288D1"/>
                </a:solidFill>
              </a:rPr>
              <a:t>9/18</a:t>
            </a:r>
            <a:endParaRPr lang="en-US" sz="1193" dirty="0">
              <a:solidFill>
                <a:srgbClr val="0288D1"/>
              </a:solidFill>
            </a:endParaRPr>
          </a:p>
        </p:txBody>
      </p:sp>
      <p:sp>
        <p:nvSpPr>
          <p:cNvPr id="23" name="四角形: 角を丸くする 22">
            <a:extLst>
              <a:ext uri="{FF2B5EF4-FFF2-40B4-BE49-F238E27FC236}">
                <a16:creationId xmlns:a16="http://schemas.microsoft.com/office/drawing/2014/main" id="{EC0109B1-9649-4E0C-940C-89F669416E17}"/>
              </a:ext>
            </a:extLst>
          </p:cNvPr>
          <p:cNvSpPr/>
          <p:nvPr/>
        </p:nvSpPr>
        <p:spPr>
          <a:xfrm>
            <a:off x="639462" y="1927654"/>
            <a:ext cx="3289987" cy="124803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8" name="正方形/長方形 27">
            <a:extLst>
              <a:ext uri="{FF2B5EF4-FFF2-40B4-BE49-F238E27FC236}">
                <a16:creationId xmlns:a16="http://schemas.microsoft.com/office/drawing/2014/main" id="{6389D22F-0023-4FFA-B8D5-7FC6321C8D56}"/>
              </a:ext>
            </a:extLst>
          </p:cNvPr>
          <p:cNvSpPr/>
          <p:nvPr/>
        </p:nvSpPr>
        <p:spPr>
          <a:xfrm>
            <a:off x="1521425" y="1770753"/>
            <a:ext cx="1526059" cy="3138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t>lon</a:t>
            </a:r>
            <a:r>
              <a:rPr kumimoji="1" lang="en-US" altLang="ja-JP" dirty="0"/>
              <a:t>, </a:t>
            </a:r>
            <a:r>
              <a:rPr kumimoji="1" lang="en-US" altLang="ja-JP" dirty="0" err="1"/>
              <a:t>lat</a:t>
            </a:r>
            <a:endParaRPr kumimoji="1" lang="ja-JP" altLang="en-US" dirty="0"/>
          </a:p>
        </p:txBody>
      </p:sp>
      <p:sp>
        <p:nvSpPr>
          <p:cNvPr id="29" name="テキスト ボックス 28">
            <a:extLst>
              <a:ext uri="{FF2B5EF4-FFF2-40B4-BE49-F238E27FC236}">
                <a16:creationId xmlns:a16="http://schemas.microsoft.com/office/drawing/2014/main" id="{F0A37812-6E0F-459E-9D6B-7D5A5BF86075}"/>
              </a:ext>
            </a:extLst>
          </p:cNvPr>
          <p:cNvSpPr txBox="1"/>
          <p:nvPr/>
        </p:nvSpPr>
        <p:spPr>
          <a:xfrm>
            <a:off x="650273" y="2402682"/>
            <a:ext cx="2397211" cy="369332"/>
          </a:xfrm>
          <a:prstGeom prst="rect">
            <a:avLst/>
          </a:prstGeom>
          <a:noFill/>
        </p:spPr>
        <p:txBody>
          <a:bodyPr wrap="square" rtlCol="0">
            <a:spAutoFit/>
          </a:bodyPr>
          <a:lstStyle/>
          <a:p>
            <a:r>
              <a:rPr kumimoji="1" lang="en-US" altLang="ja-JP" dirty="0"/>
              <a:t>【</a:t>
            </a:r>
            <a:r>
              <a:rPr kumimoji="1" lang="ja-JP" altLang="en-US" dirty="0"/>
              <a:t>内容</a:t>
            </a:r>
            <a:r>
              <a:rPr kumimoji="1" lang="en-US" altLang="ja-JP" dirty="0"/>
              <a:t>】</a:t>
            </a:r>
            <a:r>
              <a:rPr kumimoji="1" lang="ja-JP" altLang="en-US" dirty="0"/>
              <a:t>経度、緯度</a:t>
            </a:r>
          </a:p>
        </p:txBody>
      </p:sp>
      <p:sp>
        <p:nvSpPr>
          <p:cNvPr id="33" name="四角形: 角を丸くする 32">
            <a:extLst>
              <a:ext uri="{FF2B5EF4-FFF2-40B4-BE49-F238E27FC236}">
                <a16:creationId xmlns:a16="http://schemas.microsoft.com/office/drawing/2014/main" id="{E9E28BD4-4728-437A-9C25-B5B8294BABC5}"/>
              </a:ext>
            </a:extLst>
          </p:cNvPr>
          <p:cNvSpPr/>
          <p:nvPr/>
        </p:nvSpPr>
        <p:spPr>
          <a:xfrm>
            <a:off x="5214555" y="1927655"/>
            <a:ext cx="3289987" cy="1248032"/>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4" name="正方形/長方形 33">
            <a:extLst>
              <a:ext uri="{FF2B5EF4-FFF2-40B4-BE49-F238E27FC236}">
                <a16:creationId xmlns:a16="http://schemas.microsoft.com/office/drawing/2014/main" id="{453ABB65-B166-4479-A91F-9602DC89950E}"/>
              </a:ext>
            </a:extLst>
          </p:cNvPr>
          <p:cNvSpPr/>
          <p:nvPr/>
        </p:nvSpPr>
        <p:spPr>
          <a:xfrm>
            <a:off x="5677930" y="1770753"/>
            <a:ext cx="2447413" cy="313802"/>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OpenStreetMap</a:t>
            </a:r>
            <a:endParaRPr kumimoji="1" lang="ja-JP" altLang="en-US" dirty="0"/>
          </a:p>
        </p:txBody>
      </p:sp>
      <p:sp>
        <p:nvSpPr>
          <p:cNvPr id="35" name="テキスト ボックス 34">
            <a:extLst>
              <a:ext uri="{FF2B5EF4-FFF2-40B4-BE49-F238E27FC236}">
                <a16:creationId xmlns:a16="http://schemas.microsoft.com/office/drawing/2014/main" id="{5CB617A2-A297-4FA4-AB0D-035990111CBD}"/>
              </a:ext>
            </a:extLst>
          </p:cNvPr>
          <p:cNvSpPr txBox="1"/>
          <p:nvPr/>
        </p:nvSpPr>
        <p:spPr>
          <a:xfrm>
            <a:off x="5280969" y="2235866"/>
            <a:ext cx="3164874" cy="369332"/>
          </a:xfrm>
          <a:prstGeom prst="rect">
            <a:avLst/>
          </a:prstGeom>
          <a:noFill/>
        </p:spPr>
        <p:txBody>
          <a:bodyPr wrap="square" rtlCol="0">
            <a:spAutoFit/>
          </a:bodyPr>
          <a:lstStyle/>
          <a:p>
            <a:r>
              <a:rPr kumimoji="1" lang="ja-JP" altLang="en-US" b="1" dirty="0"/>
              <a:t>世界中の地図のデータベース</a:t>
            </a:r>
          </a:p>
        </p:txBody>
      </p:sp>
      <p:sp>
        <p:nvSpPr>
          <p:cNvPr id="36" name="テキスト ボックス 35">
            <a:extLst>
              <a:ext uri="{FF2B5EF4-FFF2-40B4-BE49-F238E27FC236}">
                <a16:creationId xmlns:a16="http://schemas.microsoft.com/office/drawing/2014/main" id="{05A1BD89-580A-4919-A7BC-5DAA846AA55E}"/>
              </a:ext>
            </a:extLst>
          </p:cNvPr>
          <p:cNvSpPr txBox="1"/>
          <p:nvPr/>
        </p:nvSpPr>
        <p:spPr>
          <a:xfrm>
            <a:off x="5390639" y="2666998"/>
            <a:ext cx="3055204" cy="338554"/>
          </a:xfrm>
          <a:prstGeom prst="rect">
            <a:avLst/>
          </a:prstGeom>
          <a:noFill/>
        </p:spPr>
        <p:txBody>
          <a:bodyPr wrap="square" rtlCol="0">
            <a:spAutoFit/>
          </a:bodyPr>
          <a:lstStyle/>
          <a:p>
            <a:r>
              <a:rPr kumimoji="1" lang="ja-JP" altLang="en-US" sz="1600" dirty="0"/>
              <a:t>→今回は日本の駅データを使用</a:t>
            </a:r>
            <a:endParaRPr kumimoji="1" lang="ja-JP" altLang="en-US" sz="1600" dirty="0">
              <a:solidFill>
                <a:srgbClr val="FF0000"/>
              </a:solidFill>
            </a:endParaRPr>
          </a:p>
        </p:txBody>
      </p:sp>
      <p:sp>
        <p:nvSpPr>
          <p:cNvPr id="38" name="正方形/長方形 37">
            <a:extLst>
              <a:ext uri="{FF2B5EF4-FFF2-40B4-BE49-F238E27FC236}">
                <a16:creationId xmlns:a16="http://schemas.microsoft.com/office/drawing/2014/main" id="{3C1876E6-5969-4870-B494-37857FE75391}"/>
              </a:ext>
            </a:extLst>
          </p:cNvPr>
          <p:cNvSpPr/>
          <p:nvPr/>
        </p:nvSpPr>
        <p:spPr>
          <a:xfrm>
            <a:off x="4056877" y="2495321"/>
            <a:ext cx="1030250" cy="235522"/>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矢印: 下 38">
            <a:extLst>
              <a:ext uri="{FF2B5EF4-FFF2-40B4-BE49-F238E27FC236}">
                <a16:creationId xmlns:a16="http://schemas.microsoft.com/office/drawing/2014/main" id="{4ADC03F1-89D8-43FF-8AE4-DD3580BA9CD4}"/>
              </a:ext>
            </a:extLst>
          </p:cNvPr>
          <p:cNvSpPr/>
          <p:nvPr/>
        </p:nvSpPr>
        <p:spPr>
          <a:xfrm>
            <a:off x="4363865" y="2643602"/>
            <a:ext cx="416273" cy="1069603"/>
          </a:xfrm>
          <a:prstGeom prst="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四角形: 角を丸くする 39">
            <a:extLst>
              <a:ext uri="{FF2B5EF4-FFF2-40B4-BE49-F238E27FC236}">
                <a16:creationId xmlns:a16="http://schemas.microsoft.com/office/drawing/2014/main" id="{339AED90-DFF3-4BD8-8747-8648B086CF72}"/>
              </a:ext>
            </a:extLst>
          </p:cNvPr>
          <p:cNvSpPr/>
          <p:nvPr/>
        </p:nvSpPr>
        <p:spPr>
          <a:xfrm>
            <a:off x="2647433" y="4055471"/>
            <a:ext cx="3849129" cy="102115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1" name="正方形/長方形 40">
            <a:extLst>
              <a:ext uri="{FF2B5EF4-FFF2-40B4-BE49-F238E27FC236}">
                <a16:creationId xmlns:a16="http://schemas.microsoft.com/office/drawing/2014/main" id="{599E33D5-2AF0-423A-82A9-9436C18C701C}"/>
              </a:ext>
            </a:extLst>
          </p:cNvPr>
          <p:cNvSpPr/>
          <p:nvPr/>
        </p:nvSpPr>
        <p:spPr>
          <a:xfrm>
            <a:off x="3445416" y="3929094"/>
            <a:ext cx="2208379" cy="313802"/>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err="1"/>
              <a:t>station_distance</a:t>
            </a:r>
            <a:endParaRPr lang="en-US" altLang="ja-JP" dirty="0"/>
          </a:p>
        </p:txBody>
      </p:sp>
      <p:sp>
        <p:nvSpPr>
          <p:cNvPr id="42" name="テキスト ボックス 41">
            <a:extLst>
              <a:ext uri="{FF2B5EF4-FFF2-40B4-BE49-F238E27FC236}">
                <a16:creationId xmlns:a16="http://schemas.microsoft.com/office/drawing/2014/main" id="{8B15A8DA-95C7-4064-8368-D4DECD4C4595}"/>
              </a:ext>
            </a:extLst>
          </p:cNvPr>
          <p:cNvSpPr txBox="1"/>
          <p:nvPr/>
        </p:nvSpPr>
        <p:spPr>
          <a:xfrm>
            <a:off x="2885303" y="4429263"/>
            <a:ext cx="3342501" cy="369332"/>
          </a:xfrm>
          <a:prstGeom prst="rect">
            <a:avLst/>
          </a:prstGeom>
          <a:noFill/>
        </p:spPr>
        <p:txBody>
          <a:bodyPr wrap="square" rtlCol="0">
            <a:spAutoFit/>
          </a:bodyPr>
          <a:lstStyle/>
          <a:p>
            <a:r>
              <a:rPr kumimoji="1" lang="en-US" altLang="ja-JP" dirty="0"/>
              <a:t>【</a:t>
            </a:r>
            <a:r>
              <a:rPr kumimoji="1" lang="ja-JP" altLang="en-US" dirty="0"/>
              <a:t>内容</a:t>
            </a:r>
            <a:r>
              <a:rPr kumimoji="1" lang="en-US" altLang="ja-JP" dirty="0"/>
              <a:t>】</a:t>
            </a:r>
            <a:r>
              <a:rPr kumimoji="1" lang="ja-JP" altLang="en-US" dirty="0"/>
              <a:t>最寄り駅からの距離</a:t>
            </a:r>
          </a:p>
        </p:txBody>
      </p:sp>
      <p:sp>
        <p:nvSpPr>
          <p:cNvPr id="2" name="テキスト ボックス 1">
            <a:extLst>
              <a:ext uri="{FF2B5EF4-FFF2-40B4-BE49-F238E27FC236}">
                <a16:creationId xmlns:a16="http://schemas.microsoft.com/office/drawing/2014/main" id="{FC90F289-F42C-49D0-B3D9-04CF8FC2DAFC}"/>
              </a:ext>
            </a:extLst>
          </p:cNvPr>
          <p:cNvSpPr txBox="1"/>
          <p:nvPr/>
        </p:nvSpPr>
        <p:spPr>
          <a:xfrm>
            <a:off x="6206568" y="3246247"/>
            <a:ext cx="1390136" cy="369332"/>
          </a:xfrm>
          <a:prstGeom prst="rect">
            <a:avLst/>
          </a:prstGeom>
          <a:noFill/>
        </p:spPr>
        <p:txBody>
          <a:bodyPr wrap="square" rtlCol="0">
            <a:spAutoFit/>
          </a:bodyPr>
          <a:lstStyle/>
          <a:p>
            <a:r>
              <a:rPr kumimoji="1" lang="ja-JP" altLang="en-US" u="sng" dirty="0"/>
              <a:t>外部データ</a:t>
            </a:r>
          </a:p>
        </p:txBody>
      </p:sp>
    </p:spTree>
    <p:extLst>
      <p:ext uri="{BB962C8B-B14F-4D97-AF65-F5344CB8AC3E}">
        <p14:creationId xmlns:p14="http://schemas.microsoft.com/office/powerpoint/2010/main" val="42093191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500" y="618353"/>
            <a:ext cx="1967814" cy="310406"/>
          </a:xfrm>
          <a:prstGeom prst="rect">
            <a:avLst/>
          </a:prstGeom>
          <a:noFill/>
          <a:ln/>
        </p:spPr>
        <p:txBody>
          <a:bodyPr wrap="square" lIns="0" tIns="0" rIns="0" bIns="0" rtlCol="0" anchor="t">
            <a:spAutoFit/>
          </a:bodyPr>
          <a:lstStyle/>
          <a:p>
            <a:pPr marL="0" indent="0" algn="l">
              <a:lnSpc>
                <a:spcPts val="2200"/>
              </a:lnSpc>
              <a:buNone/>
            </a:pPr>
            <a:r>
              <a:rPr lang="ja-JP" altLang="en-US" sz="2800" b="1" dirty="0">
                <a:solidFill>
                  <a:srgbClr val="0070C0"/>
                </a:solidFill>
              </a:rPr>
              <a:t>評価方法①</a:t>
            </a:r>
            <a:endParaRPr lang="en-US" sz="2800" b="1" dirty="0">
              <a:solidFill>
                <a:srgbClr val="0070C0"/>
              </a:solidFill>
            </a:endParaRPr>
          </a:p>
        </p:txBody>
      </p:sp>
      <p:sp>
        <p:nvSpPr>
          <p:cNvPr id="13" name="テキスト ボックス 12">
            <a:extLst>
              <a:ext uri="{FF2B5EF4-FFF2-40B4-BE49-F238E27FC236}">
                <a16:creationId xmlns:a16="http://schemas.microsoft.com/office/drawing/2014/main" id="{E528BA52-2094-4C86-83AC-4D18D6B26DAD}"/>
              </a:ext>
            </a:extLst>
          </p:cNvPr>
          <p:cNvSpPr txBox="1"/>
          <p:nvPr/>
        </p:nvSpPr>
        <p:spPr>
          <a:xfrm>
            <a:off x="1373916" y="1502256"/>
            <a:ext cx="6396167" cy="646331"/>
          </a:xfrm>
          <a:prstGeom prst="rect">
            <a:avLst/>
          </a:prstGeom>
          <a:noFill/>
        </p:spPr>
        <p:txBody>
          <a:bodyPr wrap="square" rtlCol="0">
            <a:spAutoFit/>
          </a:bodyPr>
          <a:lstStyle/>
          <a:p>
            <a:r>
              <a:rPr kumimoji="1" lang="ja-JP" altLang="en-US" dirty="0"/>
              <a:t>今回は価格予測というタスクの為、</a:t>
            </a:r>
            <a:endParaRPr kumimoji="1" lang="en-US" altLang="ja-JP" dirty="0"/>
          </a:p>
          <a:p>
            <a:r>
              <a:rPr kumimoji="1" lang="ja-JP" altLang="en-US" dirty="0"/>
              <a:t>評価方法に誤差を割合で評価できる</a:t>
            </a:r>
            <a:r>
              <a:rPr kumimoji="1" lang="en-US" altLang="ja-JP" b="1" dirty="0">
                <a:solidFill>
                  <a:srgbClr val="FF0000"/>
                </a:solidFill>
              </a:rPr>
              <a:t>MAPE</a:t>
            </a:r>
            <a:r>
              <a:rPr kumimoji="1" lang="ja-JP" altLang="en-US" dirty="0"/>
              <a:t>を用いた</a:t>
            </a:r>
          </a:p>
        </p:txBody>
      </p:sp>
      <p:sp>
        <p:nvSpPr>
          <p:cNvPr id="32" name="テキスト ボックス 31">
            <a:extLst>
              <a:ext uri="{FF2B5EF4-FFF2-40B4-BE49-F238E27FC236}">
                <a16:creationId xmlns:a16="http://schemas.microsoft.com/office/drawing/2014/main" id="{137626E0-39DF-4D43-889D-0E1A468F9BE7}"/>
              </a:ext>
            </a:extLst>
          </p:cNvPr>
          <p:cNvSpPr txBox="1"/>
          <p:nvPr/>
        </p:nvSpPr>
        <p:spPr>
          <a:xfrm>
            <a:off x="1555407" y="2621177"/>
            <a:ext cx="5799181" cy="369332"/>
          </a:xfrm>
          <a:prstGeom prst="rect">
            <a:avLst/>
          </a:prstGeom>
          <a:noFill/>
        </p:spPr>
        <p:txBody>
          <a:bodyPr wrap="square" rtlCol="0">
            <a:spAutoFit/>
          </a:bodyPr>
          <a:lstStyle/>
          <a:p>
            <a:r>
              <a:rPr kumimoji="1" lang="en-US" altLang="ja-JP" b="1" dirty="0"/>
              <a:t>MAPE</a:t>
            </a:r>
            <a:r>
              <a:rPr kumimoji="1" lang="ja-JP" altLang="en-US" dirty="0"/>
              <a:t>：正解値と予測値のズレの割合を平均化したもの</a:t>
            </a:r>
          </a:p>
        </p:txBody>
      </p:sp>
      <p:pic>
        <p:nvPicPr>
          <p:cNvPr id="2" name="図 1">
            <a:extLst>
              <a:ext uri="{FF2B5EF4-FFF2-40B4-BE49-F238E27FC236}">
                <a16:creationId xmlns:a16="http://schemas.microsoft.com/office/drawing/2014/main" id="{F770A45B-B1C9-4D45-BACA-52A238F5B31E}"/>
              </a:ext>
            </a:extLst>
          </p:cNvPr>
          <p:cNvPicPr>
            <a:picLocks noChangeAspect="1"/>
          </p:cNvPicPr>
          <p:nvPr/>
        </p:nvPicPr>
        <p:blipFill>
          <a:blip r:embed="rId3"/>
          <a:stretch>
            <a:fillRect/>
          </a:stretch>
        </p:blipFill>
        <p:spPr>
          <a:xfrm>
            <a:off x="2588741" y="3175790"/>
            <a:ext cx="3818238" cy="1164006"/>
          </a:xfrm>
          <a:prstGeom prst="rect">
            <a:avLst/>
          </a:prstGeom>
        </p:spPr>
      </p:pic>
      <p:pic>
        <p:nvPicPr>
          <p:cNvPr id="2056" name="Picture 8" descr="いらすとや いらすとしょうかい">
            <a:extLst>
              <a:ext uri="{FF2B5EF4-FFF2-40B4-BE49-F238E27FC236}">
                <a16:creationId xmlns:a16="http://schemas.microsoft.com/office/drawing/2014/main" id="{D2E14DF0-B269-4B15-943E-4B3C7C65E1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8543" y="3450988"/>
            <a:ext cx="1078256" cy="1241489"/>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AFE8BA8F-6194-4362-A0B9-A12FB858D8D7}"/>
              </a:ext>
            </a:extLst>
          </p:cNvPr>
          <p:cNvSpPr txBox="1"/>
          <p:nvPr/>
        </p:nvSpPr>
        <p:spPr>
          <a:xfrm>
            <a:off x="3264919" y="4484332"/>
            <a:ext cx="2380156" cy="261610"/>
          </a:xfrm>
          <a:prstGeom prst="rect">
            <a:avLst/>
          </a:prstGeom>
          <a:noFill/>
        </p:spPr>
        <p:txBody>
          <a:bodyPr wrap="square" rtlCol="0">
            <a:spAutoFit/>
          </a:bodyPr>
          <a:lstStyle/>
          <a:p>
            <a:r>
              <a:rPr kumimoji="1" lang="en-US" altLang="ja-JP" sz="1100" dirty="0">
                <a:solidFill>
                  <a:schemeClr val="accent1"/>
                </a:solidFill>
              </a:rPr>
              <a:t>n:</a:t>
            </a:r>
            <a:r>
              <a:rPr kumimoji="1" lang="ja-JP" altLang="en-US" sz="1100" dirty="0">
                <a:solidFill>
                  <a:schemeClr val="accent1"/>
                </a:solidFill>
              </a:rPr>
              <a:t>データの総数 </a:t>
            </a:r>
            <a:r>
              <a:rPr kumimoji="1" lang="en-US" altLang="ja-JP" sz="1100" dirty="0">
                <a:solidFill>
                  <a:schemeClr val="accent1"/>
                </a:solidFill>
              </a:rPr>
              <a:t>yᵢ:</a:t>
            </a:r>
            <a:r>
              <a:rPr kumimoji="1" lang="ja-JP" altLang="en-US" sz="1100" dirty="0">
                <a:solidFill>
                  <a:schemeClr val="accent1"/>
                </a:solidFill>
              </a:rPr>
              <a:t>正解値 </a:t>
            </a:r>
            <a:r>
              <a:rPr kumimoji="1" lang="cy-GB" altLang="ja-JP" sz="1100" dirty="0">
                <a:solidFill>
                  <a:schemeClr val="accent1"/>
                </a:solidFill>
              </a:rPr>
              <a:t>ŷᵢ:</a:t>
            </a:r>
            <a:r>
              <a:rPr kumimoji="1" lang="ja-JP" altLang="en-US" sz="1100" dirty="0">
                <a:solidFill>
                  <a:schemeClr val="accent1"/>
                </a:solidFill>
              </a:rPr>
              <a:t>予測値 </a:t>
            </a:r>
          </a:p>
        </p:txBody>
      </p:sp>
    </p:spTree>
    <p:extLst>
      <p:ext uri="{BB962C8B-B14F-4D97-AF65-F5344CB8AC3E}">
        <p14:creationId xmlns:p14="http://schemas.microsoft.com/office/powerpoint/2010/main" val="1039859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500" y="618353"/>
            <a:ext cx="1967814" cy="310406"/>
          </a:xfrm>
          <a:prstGeom prst="rect">
            <a:avLst/>
          </a:prstGeom>
          <a:noFill/>
          <a:ln/>
        </p:spPr>
        <p:txBody>
          <a:bodyPr wrap="square" lIns="0" tIns="0" rIns="0" bIns="0" rtlCol="0" anchor="t">
            <a:spAutoFit/>
          </a:bodyPr>
          <a:lstStyle/>
          <a:p>
            <a:pPr marL="0" indent="0" algn="l">
              <a:lnSpc>
                <a:spcPts val="2200"/>
              </a:lnSpc>
              <a:buNone/>
            </a:pPr>
            <a:r>
              <a:rPr lang="ja-JP" altLang="en-US" sz="2800" b="1" dirty="0">
                <a:solidFill>
                  <a:srgbClr val="0070C0"/>
                </a:solidFill>
              </a:rPr>
              <a:t>評価方法②</a:t>
            </a:r>
            <a:endParaRPr lang="en-US" sz="2800" b="1" dirty="0">
              <a:solidFill>
                <a:srgbClr val="0070C0"/>
              </a:solidFill>
            </a:endParaRPr>
          </a:p>
        </p:txBody>
      </p:sp>
      <p:pic>
        <p:nvPicPr>
          <p:cNvPr id="2050" name="Picture 2" descr="みかん・オレンジのイラスト（フルーツ）">
            <a:extLst>
              <a:ext uri="{FF2B5EF4-FFF2-40B4-BE49-F238E27FC236}">
                <a16:creationId xmlns:a16="http://schemas.microsoft.com/office/drawing/2014/main" id="{71D9CF4C-9518-4CE8-A029-0D6443D698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7650" y="2943885"/>
            <a:ext cx="277828" cy="27367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りんごのイラスト（フルーツ）">
            <a:extLst>
              <a:ext uri="{FF2B5EF4-FFF2-40B4-BE49-F238E27FC236}">
                <a16:creationId xmlns:a16="http://schemas.microsoft.com/office/drawing/2014/main" id="{E3DC08F1-56E3-4A71-B704-B2BD0120DB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0017" y="3564696"/>
            <a:ext cx="357635" cy="37351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黒いスイカのイラスト">
            <a:extLst>
              <a:ext uri="{FF2B5EF4-FFF2-40B4-BE49-F238E27FC236}">
                <a16:creationId xmlns:a16="http://schemas.microsoft.com/office/drawing/2014/main" id="{38A0C433-D238-4F62-B61E-12F92649F5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7835" y="4214741"/>
            <a:ext cx="542001" cy="579681"/>
          </a:xfrm>
          <a:prstGeom prst="rect">
            <a:avLst/>
          </a:prstGeom>
          <a:noFill/>
          <a:extLst>
            <a:ext uri="{909E8E84-426E-40DD-AFC4-6F175D3DCCD1}">
              <a14:hiddenFill xmlns:a14="http://schemas.microsoft.com/office/drawing/2010/main">
                <a:solidFill>
                  <a:srgbClr val="FFFFFF"/>
                </a:solidFill>
              </a14:hiddenFill>
            </a:ext>
          </a:extLst>
        </p:spPr>
      </p:pic>
      <p:sp>
        <p:nvSpPr>
          <p:cNvPr id="30" name="テキスト ボックス 29">
            <a:extLst>
              <a:ext uri="{FF2B5EF4-FFF2-40B4-BE49-F238E27FC236}">
                <a16:creationId xmlns:a16="http://schemas.microsoft.com/office/drawing/2014/main" id="{4E136F73-1CC4-4FDF-872D-4EAF23E19BE5}"/>
              </a:ext>
            </a:extLst>
          </p:cNvPr>
          <p:cNvSpPr txBox="1"/>
          <p:nvPr/>
        </p:nvSpPr>
        <p:spPr>
          <a:xfrm>
            <a:off x="574602" y="1915732"/>
            <a:ext cx="3692352" cy="369332"/>
          </a:xfrm>
          <a:prstGeom prst="rect">
            <a:avLst/>
          </a:prstGeom>
          <a:noFill/>
        </p:spPr>
        <p:txBody>
          <a:bodyPr wrap="square" rtlCol="0">
            <a:spAutoFit/>
          </a:bodyPr>
          <a:lstStyle/>
          <a:p>
            <a:r>
              <a:rPr kumimoji="1" lang="en-US" altLang="ja-JP" dirty="0"/>
              <a:t>(</a:t>
            </a:r>
            <a:r>
              <a:rPr kumimoji="1" lang="ja-JP" altLang="en-US" dirty="0"/>
              <a:t>例</a:t>
            </a:r>
            <a:r>
              <a:rPr kumimoji="1" lang="en-US" altLang="ja-JP" dirty="0"/>
              <a:t>)</a:t>
            </a:r>
            <a:r>
              <a:rPr kumimoji="1" lang="ja-JP" altLang="en-US" dirty="0"/>
              <a:t>果物の重さを予測するモデル</a:t>
            </a:r>
          </a:p>
        </p:txBody>
      </p:sp>
      <p:sp>
        <p:nvSpPr>
          <p:cNvPr id="8" name="テキスト ボックス 7">
            <a:extLst>
              <a:ext uri="{FF2B5EF4-FFF2-40B4-BE49-F238E27FC236}">
                <a16:creationId xmlns:a16="http://schemas.microsoft.com/office/drawing/2014/main" id="{20F925D9-169F-4721-BC30-1E290F6F646D}"/>
              </a:ext>
            </a:extLst>
          </p:cNvPr>
          <p:cNvSpPr txBox="1"/>
          <p:nvPr/>
        </p:nvSpPr>
        <p:spPr>
          <a:xfrm>
            <a:off x="1672409" y="1288589"/>
            <a:ext cx="5799181" cy="369332"/>
          </a:xfrm>
          <a:prstGeom prst="rect">
            <a:avLst/>
          </a:prstGeom>
          <a:noFill/>
        </p:spPr>
        <p:txBody>
          <a:bodyPr wrap="square" rtlCol="0">
            <a:spAutoFit/>
          </a:bodyPr>
          <a:lstStyle/>
          <a:p>
            <a:r>
              <a:rPr kumimoji="1" lang="en-US" altLang="ja-JP" b="1" dirty="0"/>
              <a:t>MAPE</a:t>
            </a:r>
            <a:r>
              <a:rPr kumimoji="1" lang="ja-JP" altLang="en-US" dirty="0"/>
              <a:t>：正解値と予測値のズレの割合を平均化したもの</a:t>
            </a:r>
          </a:p>
        </p:txBody>
      </p:sp>
      <p:sp>
        <p:nvSpPr>
          <p:cNvPr id="2" name="テキスト ボックス 1">
            <a:extLst>
              <a:ext uri="{FF2B5EF4-FFF2-40B4-BE49-F238E27FC236}">
                <a16:creationId xmlns:a16="http://schemas.microsoft.com/office/drawing/2014/main" id="{0750AAC9-423F-49BC-A89C-D5450F9071CA}"/>
              </a:ext>
            </a:extLst>
          </p:cNvPr>
          <p:cNvSpPr txBox="1"/>
          <p:nvPr/>
        </p:nvSpPr>
        <p:spPr>
          <a:xfrm>
            <a:off x="3281721" y="2574553"/>
            <a:ext cx="710514" cy="369332"/>
          </a:xfrm>
          <a:prstGeom prst="rect">
            <a:avLst/>
          </a:prstGeom>
          <a:noFill/>
        </p:spPr>
        <p:txBody>
          <a:bodyPr wrap="square" rtlCol="0">
            <a:spAutoFit/>
          </a:bodyPr>
          <a:lstStyle/>
          <a:p>
            <a:r>
              <a:rPr kumimoji="1" lang="ja-JP" altLang="en-US" dirty="0"/>
              <a:t>実際</a:t>
            </a:r>
          </a:p>
        </p:txBody>
      </p:sp>
      <p:sp>
        <p:nvSpPr>
          <p:cNvPr id="10" name="テキスト ボックス 9">
            <a:extLst>
              <a:ext uri="{FF2B5EF4-FFF2-40B4-BE49-F238E27FC236}">
                <a16:creationId xmlns:a16="http://schemas.microsoft.com/office/drawing/2014/main" id="{6BD59708-523D-4237-82E5-82177CA0EE85}"/>
              </a:ext>
            </a:extLst>
          </p:cNvPr>
          <p:cNvSpPr txBox="1"/>
          <p:nvPr/>
        </p:nvSpPr>
        <p:spPr>
          <a:xfrm>
            <a:off x="2187152" y="2943885"/>
            <a:ext cx="710513" cy="369332"/>
          </a:xfrm>
          <a:prstGeom prst="rect">
            <a:avLst/>
          </a:prstGeom>
          <a:noFill/>
        </p:spPr>
        <p:txBody>
          <a:bodyPr wrap="square" rtlCol="0">
            <a:spAutoFit/>
          </a:bodyPr>
          <a:lstStyle/>
          <a:p>
            <a:r>
              <a:rPr kumimoji="1" lang="en-US" altLang="ja-JP" dirty="0"/>
              <a:t>70g</a:t>
            </a:r>
            <a:endParaRPr kumimoji="1" lang="ja-JP" altLang="en-US" dirty="0"/>
          </a:p>
        </p:txBody>
      </p:sp>
      <p:sp>
        <p:nvSpPr>
          <p:cNvPr id="11" name="テキスト ボックス 10">
            <a:extLst>
              <a:ext uri="{FF2B5EF4-FFF2-40B4-BE49-F238E27FC236}">
                <a16:creationId xmlns:a16="http://schemas.microsoft.com/office/drawing/2014/main" id="{F129D5F0-9D0F-4930-A805-17B0E4D67DC5}"/>
              </a:ext>
            </a:extLst>
          </p:cNvPr>
          <p:cNvSpPr txBox="1"/>
          <p:nvPr/>
        </p:nvSpPr>
        <p:spPr>
          <a:xfrm>
            <a:off x="2094480" y="3637810"/>
            <a:ext cx="710513" cy="369332"/>
          </a:xfrm>
          <a:prstGeom prst="rect">
            <a:avLst/>
          </a:prstGeom>
          <a:noFill/>
        </p:spPr>
        <p:txBody>
          <a:bodyPr wrap="square" rtlCol="0">
            <a:spAutoFit/>
          </a:bodyPr>
          <a:lstStyle/>
          <a:p>
            <a:r>
              <a:rPr kumimoji="1" lang="en-US" altLang="ja-JP" dirty="0"/>
              <a:t>350g</a:t>
            </a:r>
            <a:endParaRPr kumimoji="1" lang="ja-JP" altLang="en-US" dirty="0"/>
          </a:p>
        </p:txBody>
      </p:sp>
      <p:sp>
        <p:nvSpPr>
          <p:cNvPr id="12" name="テキスト ボックス 11">
            <a:extLst>
              <a:ext uri="{FF2B5EF4-FFF2-40B4-BE49-F238E27FC236}">
                <a16:creationId xmlns:a16="http://schemas.microsoft.com/office/drawing/2014/main" id="{5A25EACB-E650-43F1-9743-CAC257EBC7A0}"/>
              </a:ext>
            </a:extLst>
          </p:cNvPr>
          <p:cNvSpPr txBox="1"/>
          <p:nvPr/>
        </p:nvSpPr>
        <p:spPr>
          <a:xfrm>
            <a:off x="2054319" y="4319915"/>
            <a:ext cx="790833" cy="369332"/>
          </a:xfrm>
          <a:prstGeom prst="rect">
            <a:avLst/>
          </a:prstGeom>
          <a:noFill/>
        </p:spPr>
        <p:txBody>
          <a:bodyPr wrap="square" rtlCol="0">
            <a:spAutoFit/>
          </a:bodyPr>
          <a:lstStyle/>
          <a:p>
            <a:r>
              <a:rPr kumimoji="1" lang="en-US" altLang="ja-JP" dirty="0"/>
              <a:t>5100g</a:t>
            </a:r>
            <a:endParaRPr kumimoji="1" lang="ja-JP" altLang="en-US" dirty="0"/>
          </a:p>
        </p:txBody>
      </p:sp>
      <p:sp>
        <p:nvSpPr>
          <p:cNvPr id="14" name="テキスト ボックス 13">
            <a:extLst>
              <a:ext uri="{FF2B5EF4-FFF2-40B4-BE49-F238E27FC236}">
                <a16:creationId xmlns:a16="http://schemas.microsoft.com/office/drawing/2014/main" id="{687F7D65-DED9-4F48-BF91-D684E7925B10}"/>
              </a:ext>
            </a:extLst>
          </p:cNvPr>
          <p:cNvSpPr txBox="1"/>
          <p:nvPr/>
        </p:nvSpPr>
        <p:spPr>
          <a:xfrm>
            <a:off x="2054319" y="2569919"/>
            <a:ext cx="654907" cy="369332"/>
          </a:xfrm>
          <a:prstGeom prst="rect">
            <a:avLst/>
          </a:prstGeom>
          <a:noFill/>
        </p:spPr>
        <p:txBody>
          <a:bodyPr wrap="square" rtlCol="0">
            <a:spAutoFit/>
          </a:bodyPr>
          <a:lstStyle/>
          <a:p>
            <a:r>
              <a:rPr kumimoji="1" lang="ja-JP" altLang="en-US" dirty="0"/>
              <a:t>予測</a:t>
            </a:r>
          </a:p>
        </p:txBody>
      </p:sp>
      <p:sp>
        <p:nvSpPr>
          <p:cNvPr id="15" name="テキスト ボックス 14">
            <a:extLst>
              <a:ext uri="{FF2B5EF4-FFF2-40B4-BE49-F238E27FC236}">
                <a16:creationId xmlns:a16="http://schemas.microsoft.com/office/drawing/2014/main" id="{D8A41C7D-F898-4AB1-B1F9-A4324487E7C1}"/>
              </a:ext>
            </a:extLst>
          </p:cNvPr>
          <p:cNvSpPr txBox="1"/>
          <p:nvPr/>
        </p:nvSpPr>
        <p:spPr>
          <a:xfrm>
            <a:off x="3281722" y="2943885"/>
            <a:ext cx="653914" cy="369332"/>
          </a:xfrm>
          <a:prstGeom prst="rect">
            <a:avLst/>
          </a:prstGeom>
          <a:noFill/>
        </p:spPr>
        <p:txBody>
          <a:bodyPr wrap="square" rtlCol="0">
            <a:spAutoFit/>
          </a:bodyPr>
          <a:lstStyle/>
          <a:p>
            <a:r>
              <a:rPr kumimoji="1" lang="en-US" altLang="ja-JP" dirty="0"/>
              <a:t>100g</a:t>
            </a:r>
            <a:endParaRPr kumimoji="1" lang="ja-JP" altLang="en-US" dirty="0"/>
          </a:p>
        </p:txBody>
      </p:sp>
      <p:sp>
        <p:nvSpPr>
          <p:cNvPr id="16" name="テキスト ボックス 15">
            <a:extLst>
              <a:ext uri="{FF2B5EF4-FFF2-40B4-BE49-F238E27FC236}">
                <a16:creationId xmlns:a16="http://schemas.microsoft.com/office/drawing/2014/main" id="{D8DD990A-3630-4054-BB0E-DCFF697A0308}"/>
              </a:ext>
            </a:extLst>
          </p:cNvPr>
          <p:cNvSpPr txBox="1"/>
          <p:nvPr/>
        </p:nvSpPr>
        <p:spPr>
          <a:xfrm>
            <a:off x="3281722" y="3637810"/>
            <a:ext cx="710513" cy="369332"/>
          </a:xfrm>
          <a:prstGeom prst="rect">
            <a:avLst/>
          </a:prstGeom>
          <a:noFill/>
        </p:spPr>
        <p:txBody>
          <a:bodyPr wrap="square" rtlCol="0">
            <a:spAutoFit/>
          </a:bodyPr>
          <a:lstStyle/>
          <a:p>
            <a:r>
              <a:rPr kumimoji="1" lang="en-US" altLang="ja-JP" dirty="0"/>
              <a:t>250g</a:t>
            </a:r>
            <a:endParaRPr kumimoji="1" lang="ja-JP" altLang="en-US" dirty="0"/>
          </a:p>
        </p:txBody>
      </p:sp>
      <p:sp>
        <p:nvSpPr>
          <p:cNvPr id="17" name="テキスト ボックス 16">
            <a:extLst>
              <a:ext uri="{FF2B5EF4-FFF2-40B4-BE49-F238E27FC236}">
                <a16:creationId xmlns:a16="http://schemas.microsoft.com/office/drawing/2014/main" id="{05397D4E-F02E-4563-91E8-05F59C93EBB2}"/>
              </a:ext>
            </a:extLst>
          </p:cNvPr>
          <p:cNvSpPr txBox="1"/>
          <p:nvPr/>
        </p:nvSpPr>
        <p:spPr>
          <a:xfrm>
            <a:off x="3201403" y="4332964"/>
            <a:ext cx="790833" cy="369332"/>
          </a:xfrm>
          <a:prstGeom prst="rect">
            <a:avLst/>
          </a:prstGeom>
          <a:noFill/>
        </p:spPr>
        <p:txBody>
          <a:bodyPr wrap="square" rtlCol="0">
            <a:spAutoFit/>
          </a:bodyPr>
          <a:lstStyle/>
          <a:p>
            <a:r>
              <a:rPr kumimoji="1" lang="en-US" altLang="ja-JP" dirty="0"/>
              <a:t>5000g</a:t>
            </a:r>
            <a:endParaRPr kumimoji="1" lang="ja-JP" altLang="en-US" dirty="0"/>
          </a:p>
        </p:txBody>
      </p:sp>
      <p:sp>
        <p:nvSpPr>
          <p:cNvPr id="18" name="テキスト ボックス 17">
            <a:extLst>
              <a:ext uri="{FF2B5EF4-FFF2-40B4-BE49-F238E27FC236}">
                <a16:creationId xmlns:a16="http://schemas.microsoft.com/office/drawing/2014/main" id="{1AE8871B-DBC9-4031-A7D4-AAA6E5673836}"/>
              </a:ext>
            </a:extLst>
          </p:cNvPr>
          <p:cNvSpPr txBox="1"/>
          <p:nvPr/>
        </p:nvSpPr>
        <p:spPr>
          <a:xfrm>
            <a:off x="4376287" y="2571750"/>
            <a:ext cx="710514" cy="369332"/>
          </a:xfrm>
          <a:prstGeom prst="rect">
            <a:avLst/>
          </a:prstGeom>
          <a:noFill/>
        </p:spPr>
        <p:txBody>
          <a:bodyPr wrap="square" rtlCol="0">
            <a:spAutoFit/>
          </a:bodyPr>
          <a:lstStyle/>
          <a:p>
            <a:r>
              <a:rPr kumimoji="1" lang="ja-JP" altLang="en-US" dirty="0"/>
              <a:t>ズレ</a:t>
            </a:r>
          </a:p>
        </p:txBody>
      </p:sp>
      <p:sp>
        <p:nvSpPr>
          <p:cNvPr id="19" name="テキスト ボックス 18">
            <a:extLst>
              <a:ext uri="{FF2B5EF4-FFF2-40B4-BE49-F238E27FC236}">
                <a16:creationId xmlns:a16="http://schemas.microsoft.com/office/drawing/2014/main" id="{4FCD25E1-C221-4BD7-8133-978E0BE6DE67}"/>
              </a:ext>
            </a:extLst>
          </p:cNvPr>
          <p:cNvSpPr txBox="1"/>
          <p:nvPr/>
        </p:nvSpPr>
        <p:spPr>
          <a:xfrm>
            <a:off x="4348487" y="2942229"/>
            <a:ext cx="710513" cy="369332"/>
          </a:xfrm>
          <a:prstGeom prst="rect">
            <a:avLst/>
          </a:prstGeom>
          <a:noFill/>
        </p:spPr>
        <p:txBody>
          <a:bodyPr wrap="square" rtlCol="0">
            <a:spAutoFit/>
          </a:bodyPr>
          <a:lstStyle/>
          <a:p>
            <a:r>
              <a:rPr kumimoji="1" lang="en-US" altLang="ja-JP" dirty="0"/>
              <a:t>30g</a:t>
            </a:r>
            <a:endParaRPr kumimoji="1" lang="ja-JP" altLang="en-US" dirty="0"/>
          </a:p>
        </p:txBody>
      </p:sp>
      <p:sp>
        <p:nvSpPr>
          <p:cNvPr id="20" name="テキスト ボックス 19">
            <a:extLst>
              <a:ext uri="{FF2B5EF4-FFF2-40B4-BE49-F238E27FC236}">
                <a16:creationId xmlns:a16="http://schemas.microsoft.com/office/drawing/2014/main" id="{ADADDFC5-F363-4FD9-A16E-C30171F6C38F}"/>
              </a:ext>
            </a:extLst>
          </p:cNvPr>
          <p:cNvSpPr txBox="1"/>
          <p:nvPr/>
        </p:nvSpPr>
        <p:spPr>
          <a:xfrm>
            <a:off x="4348486" y="3636154"/>
            <a:ext cx="710513" cy="369332"/>
          </a:xfrm>
          <a:prstGeom prst="rect">
            <a:avLst/>
          </a:prstGeom>
          <a:noFill/>
        </p:spPr>
        <p:txBody>
          <a:bodyPr wrap="square" rtlCol="0">
            <a:spAutoFit/>
          </a:bodyPr>
          <a:lstStyle/>
          <a:p>
            <a:r>
              <a:rPr kumimoji="1" lang="en-US" altLang="ja-JP" dirty="0"/>
              <a:t>100g</a:t>
            </a:r>
            <a:endParaRPr kumimoji="1" lang="ja-JP" altLang="en-US" dirty="0"/>
          </a:p>
        </p:txBody>
      </p:sp>
      <p:sp>
        <p:nvSpPr>
          <p:cNvPr id="21" name="テキスト ボックス 20">
            <a:extLst>
              <a:ext uri="{FF2B5EF4-FFF2-40B4-BE49-F238E27FC236}">
                <a16:creationId xmlns:a16="http://schemas.microsoft.com/office/drawing/2014/main" id="{060C8133-EC75-4D04-B9B9-EABA11E52345}"/>
              </a:ext>
            </a:extLst>
          </p:cNvPr>
          <p:cNvSpPr txBox="1"/>
          <p:nvPr/>
        </p:nvSpPr>
        <p:spPr>
          <a:xfrm>
            <a:off x="4348487" y="4331308"/>
            <a:ext cx="790833" cy="369332"/>
          </a:xfrm>
          <a:prstGeom prst="rect">
            <a:avLst/>
          </a:prstGeom>
          <a:noFill/>
        </p:spPr>
        <p:txBody>
          <a:bodyPr wrap="square" rtlCol="0">
            <a:spAutoFit/>
          </a:bodyPr>
          <a:lstStyle/>
          <a:p>
            <a:r>
              <a:rPr kumimoji="1" lang="en-US" altLang="ja-JP" dirty="0"/>
              <a:t>100g</a:t>
            </a:r>
            <a:endParaRPr kumimoji="1" lang="ja-JP" altLang="en-US" dirty="0"/>
          </a:p>
        </p:txBody>
      </p:sp>
      <p:sp>
        <p:nvSpPr>
          <p:cNvPr id="26" name="テキスト ボックス 25">
            <a:extLst>
              <a:ext uri="{FF2B5EF4-FFF2-40B4-BE49-F238E27FC236}">
                <a16:creationId xmlns:a16="http://schemas.microsoft.com/office/drawing/2014/main" id="{1F969A85-36D8-4542-839D-7762F50BBAD1}"/>
              </a:ext>
            </a:extLst>
          </p:cNvPr>
          <p:cNvSpPr txBox="1"/>
          <p:nvPr/>
        </p:nvSpPr>
        <p:spPr>
          <a:xfrm>
            <a:off x="5183562" y="2569919"/>
            <a:ext cx="1343906" cy="369332"/>
          </a:xfrm>
          <a:prstGeom prst="rect">
            <a:avLst/>
          </a:prstGeom>
          <a:noFill/>
        </p:spPr>
        <p:txBody>
          <a:bodyPr wrap="square" rtlCol="0">
            <a:spAutoFit/>
          </a:bodyPr>
          <a:lstStyle/>
          <a:p>
            <a:r>
              <a:rPr kumimoji="1" lang="ja-JP" altLang="en-US" dirty="0">
                <a:solidFill>
                  <a:srgbClr val="FF0000"/>
                </a:solidFill>
              </a:rPr>
              <a:t>ズレの割合</a:t>
            </a:r>
          </a:p>
        </p:txBody>
      </p:sp>
      <p:sp>
        <p:nvSpPr>
          <p:cNvPr id="27" name="テキスト ボックス 26">
            <a:extLst>
              <a:ext uri="{FF2B5EF4-FFF2-40B4-BE49-F238E27FC236}">
                <a16:creationId xmlns:a16="http://schemas.microsoft.com/office/drawing/2014/main" id="{CD7BBEC1-2159-4657-8ED9-7F349F70A850}"/>
              </a:ext>
            </a:extLst>
          </p:cNvPr>
          <p:cNvSpPr txBox="1"/>
          <p:nvPr/>
        </p:nvSpPr>
        <p:spPr>
          <a:xfrm>
            <a:off x="5535729" y="2966941"/>
            <a:ext cx="710513" cy="369332"/>
          </a:xfrm>
          <a:prstGeom prst="rect">
            <a:avLst/>
          </a:prstGeom>
          <a:noFill/>
        </p:spPr>
        <p:txBody>
          <a:bodyPr wrap="square" rtlCol="0">
            <a:spAutoFit/>
          </a:bodyPr>
          <a:lstStyle/>
          <a:p>
            <a:r>
              <a:rPr kumimoji="1" lang="en-US" altLang="ja-JP" dirty="0">
                <a:solidFill>
                  <a:srgbClr val="FF0000"/>
                </a:solidFill>
              </a:rPr>
              <a:t>30%</a:t>
            </a:r>
            <a:endParaRPr kumimoji="1" lang="ja-JP" altLang="en-US" dirty="0">
              <a:solidFill>
                <a:srgbClr val="FF0000"/>
              </a:solidFill>
            </a:endParaRPr>
          </a:p>
        </p:txBody>
      </p:sp>
      <p:sp>
        <p:nvSpPr>
          <p:cNvPr id="28" name="テキスト ボックス 27">
            <a:extLst>
              <a:ext uri="{FF2B5EF4-FFF2-40B4-BE49-F238E27FC236}">
                <a16:creationId xmlns:a16="http://schemas.microsoft.com/office/drawing/2014/main" id="{ACE1DB0A-067E-40B8-9B28-4DFAF8D24C50}"/>
              </a:ext>
            </a:extLst>
          </p:cNvPr>
          <p:cNvSpPr txBox="1"/>
          <p:nvPr/>
        </p:nvSpPr>
        <p:spPr>
          <a:xfrm>
            <a:off x="5535728" y="3660866"/>
            <a:ext cx="710513" cy="369332"/>
          </a:xfrm>
          <a:prstGeom prst="rect">
            <a:avLst/>
          </a:prstGeom>
          <a:noFill/>
        </p:spPr>
        <p:txBody>
          <a:bodyPr wrap="square" rtlCol="0">
            <a:spAutoFit/>
          </a:bodyPr>
          <a:lstStyle/>
          <a:p>
            <a:r>
              <a:rPr kumimoji="1" lang="en-US" altLang="ja-JP" dirty="0">
                <a:solidFill>
                  <a:srgbClr val="FF0000"/>
                </a:solidFill>
              </a:rPr>
              <a:t>40%</a:t>
            </a:r>
            <a:endParaRPr kumimoji="1" lang="ja-JP" altLang="en-US" dirty="0">
              <a:solidFill>
                <a:srgbClr val="FF0000"/>
              </a:solidFill>
            </a:endParaRPr>
          </a:p>
        </p:txBody>
      </p:sp>
      <p:sp>
        <p:nvSpPr>
          <p:cNvPr id="29" name="テキスト ボックス 28">
            <a:extLst>
              <a:ext uri="{FF2B5EF4-FFF2-40B4-BE49-F238E27FC236}">
                <a16:creationId xmlns:a16="http://schemas.microsoft.com/office/drawing/2014/main" id="{7D7F90F1-C73A-4BD9-A2F8-0CD56ECDA2E3}"/>
              </a:ext>
            </a:extLst>
          </p:cNvPr>
          <p:cNvSpPr txBox="1"/>
          <p:nvPr/>
        </p:nvSpPr>
        <p:spPr>
          <a:xfrm>
            <a:off x="5535729" y="4356020"/>
            <a:ext cx="790833" cy="369332"/>
          </a:xfrm>
          <a:prstGeom prst="rect">
            <a:avLst/>
          </a:prstGeom>
          <a:noFill/>
        </p:spPr>
        <p:txBody>
          <a:bodyPr wrap="square" rtlCol="0">
            <a:spAutoFit/>
          </a:bodyPr>
          <a:lstStyle/>
          <a:p>
            <a:r>
              <a:rPr kumimoji="1" lang="en-US" altLang="ja-JP" dirty="0"/>
              <a:t> </a:t>
            </a:r>
            <a:r>
              <a:rPr kumimoji="1" lang="en-US" altLang="ja-JP" dirty="0">
                <a:solidFill>
                  <a:srgbClr val="FF0000"/>
                </a:solidFill>
              </a:rPr>
              <a:t> 2%</a:t>
            </a:r>
            <a:endParaRPr kumimoji="1" lang="ja-JP" altLang="en-US" dirty="0">
              <a:solidFill>
                <a:srgbClr val="FF0000"/>
              </a:solidFill>
            </a:endParaRPr>
          </a:p>
        </p:txBody>
      </p:sp>
      <p:sp>
        <p:nvSpPr>
          <p:cNvPr id="4" name="テキスト ボックス 3">
            <a:extLst>
              <a:ext uri="{FF2B5EF4-FFF2-40B4-BE49-F238E27FC236}">
                <a16:creationId xmlns:a16="http://schemas.microsoft.com/office/drawing/2014/main" id="{A5945F9A-6918-41ED-B9C5-D8B0F1A239AE}"/>
              </a:ext>
            </a:extLst>
          </p:cNvPr>
          <p:cNvSpPr txBox="1"/>
          <p:nvPr/>
        </p:nvSpPr>
        <p:spPr>
          <a:xfrm>
            <a:off x="6453327" y="2974968"/>
            <a:ext cx="654907" cy="1938992"/>
          </a:xfrm>
          <a:prstGeom prst="rect">
            <a:avLst/>
          </a:prstGeom>
          <a:noFill/>
        </p:spPr>
        <p:txBody>
          <a:bodyPr wrap="square" rtlCol="0">
            <a:spAutoFit/>
          </a:bodyPr>
          <a:lstStyle/>
          <a:p>
            <a:r>
              <a:rPr kumimoji="1" lang="ja-JP" altLang="en-US" sz="12000" dirty="0"/>
              <a:t>｝</a:t>
            </a:r>
          </a:p>
        </p:txBody>
      </p:sp>
      <p:sp>
        <p:nvSpPr>
          <p:cNvPr id="5" name="テキスト ボックス 4">
            <a:extLst>
              <a:ext uri="{FF2B5EF4-FFF2-40B4-BE49-F238E27FC236}">
                <a16:creationId xmlns:a16="http://schemas.microsoft.com/office/drawing/2014/main" id="{D19CD824-68F0-4284-82AF-9B11A645F884}"/>
              </a:ext>
            </a:extLst>
          </p:cNvPr>
          <p:cNvSpPr txBox="1"/>
          <p:nvPr/>
        </p:nvSpPr>
        <p:spPr>
          <a:xfrm>
            <a:off x="7279946" y="3568410"/>
            <a:ext cx="1595780" cy="923330"/>
          </a:xfrm>
          <a:prstGeom prst="rect">
            <a:avLst/>
          </a:prstGeom>
          <a:noFill/>
        </p:spPr>
        <p:txBody>
          <a:bodyPr wrap="square" rtlCol="0">
            <a:spAutoFit/>
          </a:bodyPr>
          <a:lstStyle/>
          <a:p>
            <a:r>
              <a:rPr kumimoji="1" lang="en-US" altLang="ja-JP" dirty="0"/>
              <a:t>(30+40+2) ÷3</a:t>
            </a:r>
          </a:p>
          <a:p>
            <a:r>
              <a:rPr kumimoji="1" lang="ja-JP" altLang="en-US" dirty="0"/>
              <a:t>           ↓</a:t>
            </a:r>
            <a:endParaRPr kumimoji="1" lang="en-US" altLang="ja-JP" dirty="0"/>
          </a:p>
          <a:p>
            <a:r>
              <a:rPr kumimoji="1" lang="ja-JP" altLang="en-US" dirty="0"/>
              <a:t>   </a:t>
            </a:r>
            <a:r>
              <a:rPr kumimoji="1" lang="en-US" altLang="ja-JP" dirty="0"/>
              <a:t>MAPE:</a:t>
            </a:r>
            <a:r>
              <a:rPr kumimoji="1" lang="en-US" altLang="ja-JP" b="1" dirty="0"/>
              <a:t>24.0</a:t>
            </a:r>
            <a:endParaRPr kumimoji="1" lang="ja-JP" altLang="en-US" b="1" dirty="0"/>
          </a:p>
        </p:txBody>
      </p:sp>
    </p:spTree>
    <p:extLst>
      <p:ext uri="{BB962C8B-B14F-4D97-AF65-F5344CB8AC3E}">
        <p14:creationId xmlns:p14="http://schemas.microsoft.com/office/powerpoint/2010/main" val="19389678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499" y="618353"/>
            <a:ext cx="1810273" cy="310406"/>
          </a:xfrm>
          <a:prstGeom prst="rect">
            <a:avLst/>
          </a:prstGeom>
          <a:noFill/>
          <a:ln/>
        </p:spPr>
        <p:txBody>
          <a:bodyPr wrap="square" lIns="0" tIns="0" rIns="0" bIns="0" rtlCol="0" anchor="t">
            <a:spAutoFit/>
          </a:bodyPr>
          <a:lstStyle/>
          <a:p>
            <a:pPr marL="0" indent="0" algn="l">
              <a:lnSpc>
                <a:spcPts val="2200"/>
              </a:lnSpc>
              <a:buNone/>
            </a:pPr>
            <a:r>
              <a:rPr lang="ja-JP" altLang="en-US" sz="2800" b="1" dirty="0">
                <a:solidFill>
                  <a:srgbClr val="0070C0"/>
                </a:solidFill>
              </a:rPr>
              <a:t>評価方法③</a:t>
            </a:r>
            <a:endParaRPr lang="en-US" sz="2800" b="1" dirty="0">
              <a:solidFill>
                <a:srgbClr val="0070C0"/>
              </a:solidFill>
            </a:endParaRPr>
          </a:p>
        </p:txBody>
      </p:sp>
      <p:pic>
        <p:nvPicPr>
          <p:cNvPr id="12" name="Picture 2" descr="みかん・オレンジのイラスト（フルーツ）">
            <a:extLst>
              <a:ext uri="{FF2B5EF4-FFF2-40B4-BE49-F238E27FC236}">
                <a16:creationId xmlns:a16="http://schemas.microsoft.com/office/drawing/2014/main" id="{C77CCE0F-7641-4C51-A75D-AF6D19CF29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7650" y="2060392"/>
            <a:ext cx="277828" cy="273679"/>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りんごのイラスト（フルーツ）">
            <a:extLst>
              <a:ext uri="{FF2B5EF4-FFF2-40B4-BE49-F238E27FC236}">
                <a16:creationId xmlns:a16="http://schemas.microsoft.com/office/drawing/2014/main" id="{EF709696-0B0D-4C50-A2C7-1F5F204D91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0017" y="2681203"/>
            <a:ext cx="357635" cy="37351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黒いスイカのイラスト">
            <a:extLst>
              <a:ext uri="{FF2B5EF4-FFF2-40B4-BE49-F238E27FC236}">
                <a16:creationId xmlns:a16="http://schemas.microsoft.com/office/drawing/2014/main" id="{541D2684-5975-4709-8643-0CB35F362B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7835" y="3331248"/>
            <a:ext cx="542001" cy="579681"/>
          </a:xfrm>
          <a:prstGeom prst="rect">
            <a:avLst/>
          </a:prstGeom>
          <a:noFill/>
          <a:extLst>
            <a:ext uri="{909E8E84-426E-40DD-AFC4-6F175D3DCCD1}">
              <a14:hiddenFill xmlns:a14="http://schemas.microsoft.com/office/drawing/2010/main">
                <a:solidFill>
                  <a:srgbClr val="FFFFFF"/>
                </a:solidFill>
              </a14:hiddenFill>
            </a:ext>
          </a:extLst>
        </p:spPr>
      </p:pic>
      <p:sp>
        <p:nvSpPr>
          <p:cNvPr id="16" name="テキスト ボックス 15">
            <a:extLst>
              <a:ext uri="{FF2B5EF4-FFF2-40B4-BE49-F238E27FC236}">
                <a16:creationId xmlns:a16="http://schemas.microsoft.com/office/drawing/2014/main" id="{3C40086D-96C0-46B6-B426-38DFBCA7273E}"/>
              </a:ext>
            </a:extLst>
          </p:cNvPr>
          <p:cNvSpPr txBox="1"/>
          <p:nvPr/>
        </p:nvSpPr>
        <p:spPr>
          <a:xfrm>
            <a:off x="3281721" y="1691060"/>
            <a:ext cx="710514" cy="369332"/>
          </a:xfrm>
          <a:prstGeom prst="rect">
            <a:avLst/>
          </a:prstGeom>
          <a:noFill/>
        </p:spPr>
        <p:txBody>
          <a:bodyPr wrap="square" rtlCol="0">
            <a:spAutoFit/>
          </a:bodyPr>
          <a:lstStyle/>
          <a:p>
            <a:r>
              <a:rPr kumimoji="1" lang="ja-JP" altLang="en-US" dirty="0"/>
              <a:t>実際</a:t>
            </a:r>
          </a:p>
        </p:txBody>
      </p:sp>
      <p:sp>
        <p:nvSpPr>
          <p:cNvPr id="17" name="テキスト ボックス 16">
            <a:extLst>
              <a:ext uri="{FF2B5EF4-FFF2-40B4-BE49-F238E27FC236}">
                <a16:creationId xmlns:a16="http://schemas.microsoft.com/office/drawing/2014/main" id="{F16E181C-94E0-4CA7-87CF-E64961092AC9}"/>
              </a:ext>
            </a:extLst>
          </p:cNvPr>
          <p:cNvSpPr txBox="1"/>
          <p:nvPr/>
        </p:nvSpPr>
        <p:spPr>
          <a:xfrm>
            <a:off x="2174794" y="2060392"/>
            <a:ext cx="710513" cy="369332"/>
          </a:xfrm>
          <a:prstGeom prst="rect">
            <a:avLst/>
          </a:prstGeom>
          <a:noFill/>
        </p:spPr>
        <p:txBody>
          <a:bodyPr wrap="square" rtlCol="0">
            <a:spAutoFit/>
          </a:bodyPr>
          <a:lstStyle/>
          <a:p>
            <a:r>
              <a:rPr kumimoji="1" lang="en-US" altLang="ja-JP" dirty="0"/>
              <a:t>70g</a:t>
            </a:r>
            <a:endParaRPr kumimoji="1" lang="ja-JP" altLang="en-US" dirty="0"/>
          </a:p>
        </p:txBody>
      </p:sp>
      <p:sp>
        <p:nvSpPr>
          <p:cNvPr id="18" name="テキスト ボックス 17">
            <a:extLst>
              <a:ext uri="{FF2B5EF4-FFF2-40B4-BE49-F238E27FC236}">
                <a16:creationId xmlns:a16="http://schemas.microsoft.com/office/drawing/2014/main" id="{5A13FD14-68FE-4324-B8D4-4BA30E2CA8EA}"/>
              </a:ext>
            </a:extLst>
          </p:cNvPr>
          <p:cNvSpPr txBox="1"/>
          <p:nvPr/>
        </p:nvSpPr>
        <p:spPr>
          <a:xfrm>
            <a:off x="2094480" y="2754317"/>
            <a:ext cx="710513" cy="369332"/>
          </a:xfrm>
          <a:prstGeom prst="rect">
            <a:avLst/>
          </a:prstGeom>
          <a:noFill/>
        </p:spPr>
        <p:txBody>
          <a:bodyPr wrap="square" rtlCol="0">
            <a:spAutoFit/>
          </a:bodyPr>
          <a:lstStyle/>
          <a:p>
            <a:r>
              <a:rPr kumimoji="1" lang="en-US" altLang="ja-JP" dirty="0"/>
              <a:t>350g</a:t>
            </a:r>
            <a:endParaRPr kumimoji="1" lang="ja-JP" altLang="en-US" dirty="0"/>
          </a:p>
        </p:txBody>
      </p:sp>
      <p:sp>
        <p:nvSpPr>
          <p:cNvPr id="19" name="テキスト ボックス 18">
            <a:extLst>
              <a:ext uri="{FF2B5EF4-FFF2-40B4-BE49-F238E27FC236}">
                <a16:creationId xmlns:a16="http://schemas.microsoft.com/office/drawing/2014/main" id="{4D0CE169-E1F6-4243-92D4-0FD99B6CA7CC}"/>
              </a:ext>
            </a:extLst>
          </p:cNvPr>
          <p:cNvSpPr txBox="1"/>
          <p:nvPr/>
        </p:nvSpPr>
        <p:spPr>
          <a:xfrm>
            <a:off x="2054319" y="3436422"/>
            <a:ext cx="790833" cy="369332"/>
          </a:xfrm>
          <a:prstGeom prst="rect">
            <a:avLst/>
          </a:prstGeom>
          <a:noFill/>
        </p:spPr>
        <p:txBody>
          <a:bodyPr wrap="square" rtlCol="0">
            <a:spAutoFit/>
          </a:bodyPr>
          <a:lstStyle/>
          <a:p>
            <a:r>
              <a:rPr kumimoji="1" lang="en-US" altLang="ja-JP" dirty="0"/>
              <a:t>5100g</a:t>
            </a:r>
            <a:endParaRPr kumimoji="1" lang="ja-JP" altLang="en-US" dirty="0"/>
          </a:p>
        </p:txBody>
      </p:sp>
      <p:sp>
        <p:nvSpPr>
          <p:cNvPr id="20" name="テキスト ボックス 19">
            <a:extLst>
              <a:ext uri="{FF2B5EF4-FFF2-40B4-BE49-F238E27FC236}">
                <a16:creationId xmlns:a16="http://schemas.microsoft.com/office/drawing/2014/main" id="{850E49E6-192D-4644-9BC4-B28F74B08CF6}"/>
              </a:ext>
            </a:extLst>
          </p:cNvPr>
          <p:cNvSpPr txBox="1"/>
          <p:nvPr/>
        </p:nvSpPr>
        <p:spPr>
          <a:xfrm>
            <a:off x="2054319" y="1686426"/>
            <a:ext cx="654907" cy="369332"/>
          </a:xfrm>
          <a:prstGeom prst="rect">
            <a:avLst/>
          </a:prstGeom>
          <a:noFill/>
        </p:spPr>
        <p:txBody>
          <a:bodyPr wrap="square" rtlCol="0">
            <a:spAutoFit/>
          </a:bodyPr>
          <a:lstStyle/>
          <a:p>
            <a:r>
              <a:rPr kumimoji="1" lang="ja-JP" altLang="en-US" dirty="0"/>
              <a:t>予測</a:t>
            </a:r>
          </a:p>
        </p:txBody>
      </p:sp>
      <p:sp>
        <p:nvSpPr>
          <p:cNvPr id="21" name="テキスト ボックス 20">
            <a:extLst>
              <a:ext uri="{FF2B5EF4-FFF2-40B4-BE49-F238E27FC236}">
                <a16:creationId xmlns:a16="http://schemas.microsoft.com/office/drawing/2014/main" id="{393DB706-D127-404C-A716-919E354C3836}"/>
              </a:ext>
            </a:extLst>
          </p:cNvPr>
          <p:cNvSpPr txBox="1"/>
          <p:nvPr/>
        </p:nvSpPr>
        <p:spPr>
          <a:xfrm>
            <a:off x="3281722" y="2060392"/>
            <a:ext cx="653914" cy="369332"/>
          </a:xfrm>
          <a:prstGeom prst="rect">
            <a:avLst/>
          </a:prstGeom>
          <a:noFill/>
        </p:spPr>
        <p:txBody>
          <a:bodyPr wrap="square" rtlCol="0">
            <a:spAutoFit/>
          </a:bodyPr>
          <a:lstStyle/>
          <a:p>
            <a:r>
              <a:rPr kumimoji="1" lang="en-US" altLang="ja-JP" dirty="0"/>
              <a:t>100g</a:t>
            </a:r>
            <a:endParaRPr kumimoji="1" lang="ja-JP" altLang="en-US" dirty="0"/>
          </a:p>
        </p:txBody>
      </p:sp>
      <p:sp>
        <p:nvSpPr>
          <p:cNvPr id="22" name="テキスト ボックス 21">
            <a:extLst>
              <a:ext uri="{FF2B5EF4-FFF2-40B4-BE49-F238E27FC236}">
                <a16:creationId xmlns:a16="http://schemas.microsoft.com/office/drawing/2014/main" id="{0B83CBBC-6A94-429A-8692-F9EB96015BE4}"/>
              </a:ext>
            </a:extLst>
          </p:cNvPr>
          <p:cNvSpPr txBox="1"/>
          <p:nvPr/>
        </p:nvSpPr>
        <p:spPr>
          <a:xfrm>
            <a:off x="3281722" y="2754317"/>
            <a:ext cx="710513" cy="369332"/>
          </a:xfrm>
          <a:prstGeom prst="rect">
            <a:avLst/>
          </a:prstGeom>
          <a:noFill/>
        </p:spPr>
        <p:txBody>
          <a:bodyPr wrap="square" rtlCol="0">
            <a:spAutoFit/>
          </a:bodyPr>
          <a:lstStyle/>
          <a:p>
            <a:r>
              <a:rPr kumimoji="1" lang="en-US" altLang="ja-JP" dirty="0"/>
              <a:t>250g</a:t>
            </a:r>
            <a:endParaRPr kumimoji="1" lang="ja-JP" altLang="en-US" dirty="0"/>
          </a:p>
        </p:txBody>
      </p:sp>
      <p:sp>
        <p:nvSpPr>
          <p:cNvPr id="24" name="テキスト ボックス 23">
            <a:extLst>
              <a:ext uri="{FF2B5EF4-FFF2-40B4-BE49-F238E27FC236}">
                <a16:creationId xmlns:a16="http://schemas.microsoft.com/office/drawing/2014/main" id="{03877C63-7F7D-43A3-9BAD-AA76DA71ECED}"/>
              </a:ext>
            </a:extLst>
          </p:cNvPr>
          <p:cNvSpPr txBox="1"/>
          <p:nvPr/>
        </p:nvSpPr>
        <p:spPr>
          <a:xfrm>
            <a:off x="3201403" y="3449471"/>
            <a:ext cx="790833" cy="369332"/>
          </a:xfrm>
          <a:prstGeom prst="rect">
            <a:avLst/>
          </a:prstGeom>
          <a:noFill/>
        </p:spPr>
        <p:txBody>
          <a:bodyPr wrap="square" rtlCol="0">
            <a:spAutoFit/>
          </a:bodyPr>
          <a:lstStyle/>
          <a:p>
            <a:r>
              <a:rPr kumimoji="1" lang="en-US" altLang="ja-JP" dirty="0"/>
              <a:t>5000g</a:t>
            </a:r>
            <a:endParaRPr kumimoji="1" lang="ja-JP" altLang="en-US" dirty="0"/>
          </a:p>
        </p:txBody>
      </p:sp>
      <p:sp>
        <p:nvSpPr>
          <p:cNvPr id="25" name="テキスト ボックス 24">
            <a:extLst>
              <a:ext uri="{FF2B5EF4-FFF2-40B4-BE49-F238E27FC236}">
                <a16:creationId xmlns:a16="http://schemas.microsoft.com/office/drawing/2014/main" id="{77F3BCAD-04DB-41EF-93EE-4605A587E69F}"/>
              </a:ext>
            </a:extLst>
          </p:cNvPr>
          <p:cNvSpPr txBox="1"/>
          <p:nvPr/>
        </p:nvSpPr>
        <p:spPr>
          <a:xfrm>
            <a:off x="4376287" y="1688257"/>
            <a:ext cx="710514" cy="369332"/>
          </a:xfrm>
          <a:prstGeom prst="rect">
            <a:avLst/>
          </a:prstGeom>
          <a:noFill/>
        </p:spPr>
        <p:txBody>
          <a:bodyPr wrap="square" rtlCol="0">
            <a:spAutoFit/>
          </a:bodyPr>
          <a:lstStyle/>
          <a:p>
            <a:r>
              <a:rPr kumimoji="1" lang="ja-JP" altLang="en-US" dirty="0"/>
              <a:t>ズレ</a:t>
            </a:r>
          </a:p>
        </p:txBody>
      </p:sp>
      <p:sp>
        <p:nvSpPr>
          <p:cNvPr id="26" name="テキスト ボックス 25">
            <a:extLst>
              <a:ext uri="{FF2B5EF4-FFF2-40B4-BE49-F238E27FC236}">
                <a16:creationId xmlns:a16="http://schemas.microsoft.com/office/drawing/2014/main" id="{C399B277-862A-4BF8-8331-DE44BB86B5B2}"/>
              </a:ext>
            </a:extLst>
          </p:cNvPr>
          <p:cNvSpPr txBox="1"/>
          <p:nvPr/>
        </p:nvSpPr>
        <p:spPr>
          <a:xfrm>
            <a:off x="4348487" y="2058736"/>
            <a:ext cx="710513" cy="369332"/>
          </a:xfrm>
          <a:prstGeom prst="rect">
            <a:avLst/>
          </a:prstGeom>
          <a:noFill/>
        </p:spPr>
        <p:txBody>
          <a:bodyPr wrap="square" rtlCol="0">
            <a:spAutoFit/>
          </a:bodyPr>
          <a:lstStyle/>
          <a:p>
            <a:r>
              <a:rPr kumimoji="1" lang="en-US" altLang="ja-JP" dirty="0"/>
              <a:t>30g</a:t>
            </a:r>
            <a:endParaRPr kumimoji="1" lang="ja-JP" altLang="en-US" dirty="0"/>
          </a:p>
        </p:txBody>
      </p:sp>
      <p:sp>
        <p:nvSpPr>
          <p:cNvPr id="27" name="テキスト ボックス 26">
            <a:extLst>
              <a:ext uri="{FF2B5EF4-FFF2-40B4-BE49-F238E27FC236}">
                <a16:creationId xmlns:a16="http://schemas.microsoft.com/office/drawing/2014/main" id="{D05CBC09-1BA2-4A4D-8249-E70F0DC881C0}"/>
              </a:ext>
            </a:extLst>
          </p:cNvPr>
          <p:cNvSpPr txBox="1"/>
          <p:nvPr/>
        </p:nvSpPr>
        <p:spPr>
          <a:xfrm>
            <a:off x="4348486" y="2752661"/>
            <a:ext cx="710513" cy="369332"/>
          </a:xfrm>
          <a:prstGeom prst="rect">
            <a:avLst/>
          </a:prstGeom>
          <a:noFill/>
        </p:spPr>
        <p:txBody>
          <a:bodyPr wrap="square" rtlCol="0">
            <a:spAutoFit/>
          </a:bodyPr>
          <a:lstStyle/>
          <a:p>
            <a:r>
              <a:rPr kumimoji="1" lang="en-US" altLang="ja-JP" u="sng" dirty="0">
                <a:solidFill>
                  <a:schemeClr val="accent1"/>
                </a:solidFill>
              </a:rPr>
              <a:t>100g</a:t>
            </a:r>
            <a:endParaRPr kumimoji="1" lang="ja-JP" altLang="en-US" u="sng" dirty="0">
              <a:solidFill>
                <a:schemeClr val="accent1"/>
              </a:solidFill>
            </a:endParaRPr>
          </a:p>
        </p:txBody>
      </p:sp>
      <p:sp>
        <p:nvSpPr>
          <p:cNvPr id="28" name="テキスト ボックス 27">
            <a:extLst>
              <a:ext uri="{FF2B5EF4-FFF2-40B4-BE49-F238E27FC236}">
                <a16:creationId xmlns:a16="http://schemas.microsoft.com/office/drawing/2014/main" id="{86C9057B-4B47-4095-A3AF-01769E14DA38}"/>
              </a:ext>
            </a:extLst>
          </p:cNvPr>
          <p:cNvSpPr txBox="1"/>
          <p:nvPr/>
        </p:nvSpPr>
        <p:spPr>
          <a:xfrm>
            <a:off x="4348487" y="3447815"/>
            <a:ext cx="790833" cy="369332"/>
          </a:xfrm>
          <a:prstGeom prst="rect">
            <a:avLst/>
          </a:prstGeom>
          <a:noFill/>
        </p:spPr>
        <p:txBody>
          <a:bodyPr wrap="square" rtlCol="0">
            <a:spAutoFit/>
          </a:bodyPr>
          <a:lstStyle/>
          <a:p>
            <a:r>
              <a:rPr kumimoji="1" lang="en-US" altLang="ja-JP" u="sng" dirty="0">
                <a:solidFill>
                  <a:schemeClr val="accent1"/>
                </a:solidFill>
              </a:rPr>
              <a:t>100g</a:t>
            </a:r>
            <a:endParaRPr kumimoji="1" lang="ja-JP" altLang="en-US" u="sng" dirty="0">
              <a:solidFill>
                <a:schemeClr val="accent1"/>
              </a:solidFill>
            </a:endParaRPr>
          </a:p>
        </p:txBody>
      </p:sp>
      <p:sp>
        <p:nvSpPr>
          <p:cNvPr id="29" name="テキスト ボックス 28">
            <a:extLst>
              <a:ext uri="{FF2B5EF4-FFF2-40B4-BE49-F238E27FC236}">
                <a16:creationId xmlns:a16="http://schemas.microsoft.com/office/drawing/2014/main" id="{6182CBB4-55E8-448D-8006-38D6F7AED78F}"/>
              </a:ext>
            </a:extLst>
          </p:cNvPr>
          <p:cNvSpPr txBox="1"/>
          <p:nvPr/>
        </p:nvSpPr>
        <p:spPr>
          <a:xfrm>
            <a:off x="5183562" y="1686426"/>
            <a:ext cx="1343906" cy="369332"/>
          </a:xfrm>
          <a:prstGeom prst="rect">
            <a:avLst/>
          </a:prstGeom>
          <a:noFill/>
        </p:spPr>
        <p:txBody>
          <a:bodyPr wrap="square" rtlCol="0">
            <a:spAutoFit/>
          </a:bodyPr>
          <a:lstStyle/>
          <a:p>
            <a:r>
              <a:rPr kumimoji="1" lang="ja-JP" altLang="en-US" dirty="0"/>
              <a:t>ズレの割合</a:t>
            </a:r>
          </a:p>
        </p:txBody>
      </p:sp>
      <p:sp>
        <p:nvSpPr>
          <p:cNvPr id="30" name="テキスト ボックス 29">
            <a:extLst>
              <a:ext uri="{FF2B5EF4-FFF2-40B4-BE49-F238E27FC236}">
                <a16:creationId xmlns:a16="http://schemas.microsoft.com/office/drawing/2014/main" id="{C9AE1D2D-4AC4-4F24-B1FB-1879A9EDC64D}"/>
              </a:ext>
            </a:extLst>
          </p:cNvPr>
          <p:cNvSpPr txBox="1"/>
          <p:nvPr/>
        </p:nvSpPr>
        <p:spPr>
          <a:xfrm>
            <a:off x="5535729" y="2083448"/>
            <a:ext cx="710513" cy="369332"/>
          </a:xfrm>
          <a:prstGeom prst="rect">
            <a:avLst/>
          </a:prstGeom>
          <a:noFill/>
        </p:spPr>
        <p:txBody>
          <a:bodyPr wrap="square" rtlCol="0">
            <a:spAutoFit/>
          </a:bodyPr>
          <a:lstStyle/>
          <a:p>
            <a:r>
              <a:rPr kumimoji="1" lang="en-US" altLang="ja-JP" dirty="0"/>
              <a:t>30%</a:t>
            </a:r>
            <a:endParaRPr kumimoji="1" lang="ja-JP" altLang="en-US" dirty="0"/>
          </a:p>
        </p:txBody>
      </p:sp>
      <p:sp>
        <p:nvSpPr>
          <p:cNvPr id="31" name="テキスト ボックス 30">
            <a:extLst>
              <a:ext uri="{FF2B5EF4-FFF2-40B4-BE49-F238E27FC236}">
                <a16:creationId xmlns:a16="http://schemas.microsoft.com/office/drawing/2014/main" id="{626E88F9-381D-41A5-8F30-91BB1F638BD2}"/>
              </a:ext>
            </a:extLst>
          </p:cNvPr>
          <p:cNvSpPr txBox="1"/>
          <p:nvPr/>
        </p:nvSpPr>
        <p:spPr>
          <a:xfrm>
            <a:off x="5535728" y="2777373"/>
            <a:ext cx="710513" cy="369332"/>
          </a:xfrm>
          <a:prstGeom prst="rect">
            <a:avLst/>
          </a:prstGeom>
          <a:noFill/>
        </p:spPr>
        <p:txBody>
          <a:bodyPr wrap="square" rtlCol="0">
            <a:spAutoFit/>
          </a:bodyPr>
          <a:lstStyle/>
          <a:p>
            <a:r>
              <a:rPr kumimoji="1" lang="en-US" altLang="ja-JP" u="sng" dirty="0">
                <a:solidFill>
                  <a:srgbClr val="FF0000"/>
                </a:solidFill>
              </a:rPr>
              <a:t>40%</a:t>
            </a:r>
            <a:endParaRPr kumimoji="1" lang="ja-JP" altLang="en-US" u="sng" dirty="0">
              <a:solidFill>
                <a:srgbClr val="FF0000"/>
              </a:solidFill>
            </a:endParaRPr>
          </a:p>
        </p:txBody>
      </p:sp>
      <p:sp>
        <p:nvSpPr>
          <p:cNvPr id="32" name="テキスト ボックス 31">
            <a:extLst>
              <a:ext uri="{FF2B5EF4-FFF2-40B4-BE49-F238E27FC236}">
                <a16:creationId xmlns:a16="http://schemas.microsoft.com/office/drawing/2014/main" id="{25A96FE3-4ADF-46B5-A371-B302606C351B}"/>
              </a:ext>
            </a:extLst>
          </p:cNvPr>
          <p:cNvSpPr txBox="1"/>
          <p:nvPr/>
        </p:nvSpPr>
        <p:spPr>
          <a:xfrm>
            <a:off x="5535729" y="3472527"/>
            <a:ext cx="790833" cy="369332"/>
          </a:xfrm>
          <a:prstGeom prst="rect">
            <a:avLst/>
          </a:prstGeom>
          <a:noFill/>
        </p:spPr>
        <p:txBody>
          <a:bodyPr wrap="square" rtlCol="0">
            <a:spAutoFit/>
          </a:bodyPr>
          <a:lstStyle/>
          <a:p>
            <a:r>
              <a:rPr kumimoji="1" lang="ja-JP" altLang="en-US" dirty="0">
                <a:solidFill>
                  <a:srgbClr val="00B050"/>
                </a:solidFill>
              </a:rPr>
              <a:t>  </a:t>
            </a:r>
            <a:r>
              <a:rPr kumimoji="1" lang="en-US" altLang="ja-JP" u="sng" dirty="0">
                <a:solidFill>
                  <a:srgbClr val="00B050"/>
                </a:solidFill>
              </a:rPr>
              <a:t>2%</a:t>
            </a:r>
            <a:endParaRPr kumimoji="1" lang="ja-JP" altLang="en-US" u="sng" dirty="0">
              <a:solidFill>
                <a:srgbClr val="00B050"/>
              </a:solidFill>
            </a:endParaRPr>
          </a:p>
        </p:txBody>
      </p:sp>
      <p:sp>
        <p:nvSpPr>
          <p:cNvPr id="33" name="テキスト ボックス 32">
            <a:extLst>
              <a:ext uri="{FF2B5EF4-FFF2-40B4-BE49-F238E27FC236}">
                <a16:creationId xmlns:a16="http://schemas.microsoft.com/office/drawing/2014/main" id="{B4E1A8B3-F00B-444E-B1C5-D51B8E42606B}"/>
              </a:ext>
            </a:extLst>
          </p:cNvPr>
          <p:cNvSpPr txBox="1"/>
          <p:nvPr/>
        </p:nvSpPr>
        <p:spPr>
          <a:xfrm>
            <a:off x="6453327" y="2091475"/>
            <a:ext cx="654907" cy="1938992"/>
          </a:xfrm>
          <a:prstGeom prst="rect">
            <a:avLst/>
          </a:prstGeom>
          <a:noFill/>
        </p:spPr>
        <p:txBody>
          <a:bodyPr wrap="square" rtlCol="0">
            <a:spAutoFit/>
          </a:bodyPr>
          <a:lstStyle/>
          <a:p>
            <a:r>
              <a:rPr kumimoji="1" lang="ja-JP" altLang="en-US" sz="12000" dirty="0"/>
              <a:t>｝</a:t>
            </a:r>
          </a:p>
        </p:txBody>
      </p:sp>
      <p:sp>
        <p:nvSpPr>
          <p:cNvPr id="34" name="テキスト ボックス 33">
            <a:extLst>
              <a:ext uri="{FF2B5EF4-FFF2-40B4-BE49-F238E27FC236}">
                <a16:creationId xmlns:a16="http://schemas.microsoft.com/office/drawing/2014/main" id="{9F4872A3-C4FA-40EE-842D-8882F0C7EA32}"/>
              </a:ext>
            </a:extLst>
          </p:cNvPr>
          <p:cNvSpPr txBox="1"/>
          <p:nvPr/>
        </p:nvSpPr>
        <p:spPr>
          <a:xfrm>
            <a:off x="7279946" y="2684917"/>
            <a:ext cx="1595780" cy="923330"/>
          </a:xfrm>
          <a:prstGeom prst="rect">
            <a:avLst/>
          </a:prstGeom>
          <a:noFill/>
        </p:spPr>
        <p:txBody>
          <a:bodyPr wrap="square" rtlCol="0">
            <a:spAutoFit/>
          </a:bodyPr>
          <a:lstStyle/>
          <a:p>
            <a:r>
              <a:rPr kumimoji="1" lang="en-US" altLang="ja-JP" dirty="0"/>
              <a:t>(30+40+2) ÷3</a:t>
            </a:r>
          </a:p>
          <a:p>
            <a:r>
              <a:rPr kumimoji="1" lang="ja-JP" altLang="en-US" dirty="0"/>
              <a:t>           ↓</a:t>
            </a:r>
            <a:endParaRPr kumimoji="1" lang="en-US" altLang="ja-JP" dirty="0"/>
          </a:p>
          <a:p>
            <a:r>
              <a:rPr kumimoji="1" lang="ja-JP" altLang="en-US" dirty="0"/>
              <a:t>   </a:t>
            </a:r>
            <a:r>
              <a:rPr kumimoji="1" lang="en-US" altLang="ja-JP" dirty="0"/>
              <a:t>MAPE:</a:t>
            </a:r>
            <a:r>
              <a:rPr kumimoji="1" lang="en-US" altLang="ja-JP" b="1" dirty="0"/>
              <a:t>24.0</a:t>
            </a:r>
            <a:endParaRPr kumimoji="1" lang="ja-JP" altLang="en-US" b="1" dirty="0"/>
          </a:p>
        </p:txBody>
      </p:sp>
      <p:sp>
        <p:nvSpPr>
          <p:cNvPr id="2" name="テキスト ボックス 1">
            <a:extLst>
              <a:ext uri="{FF2B5EF4-FFF2-40B4-BE49-F238E27FC236}">
                <a16:creationId xmlns:a16="http://schemas.microsoft.com/office/drawing/2014/main" id="{2712A33A-4B8B-4531-BF22-CA3A12C350AD}"/>
              </a:ext>
            </a:extLst>
          </p:cNvPr>
          <p:cNvSpPr txBox="1"/>
          <p:nvPr/>
        </p:nvSpPr>
        <p:spPr>
          <a:xfrm>
            <a:off x="785163" y="1159432"/>
            <a:ext cx="2538311" cy="369332"/>
          </a:xfrm>
          <a:prstGeom prst="rect">
            <a:avLst/>
          </a:prstGeom>
          <a:noFill/>
        </p:spPr>
        <p:txBody>
          <a:bodyPr wrap="square" rtlCol="0">
            <a:spAutoFit/>
          </a:bodyPr>
          <a:lstStyle/>
          <a:p>
            <a:r>
              <a:rPr kumimoji="1" lang="en-US" altLang="ja-JP" dirty="0"/>
              <a:t>MAPE</a:t>
            </a:r>
            <a:r>
              <a:rPr kumimoji="1" lang="ja-JP" altLang="en-US" dirty="0"/>
              <a:t>の計算方法は</a:t>
            </a:r>
            <a:r>
              <a:rPr kumimoji="1" lang="en-US" altLang="ja-JP" dirty="0"/>
              <a:t>……</a:t>
            </a:r>
            <a:endParaRPr kumimoji="1" lang="ja-JP" altLang="en-US" dirty="0"/>
          </a:p>
        </p:txBody>
      </p:sp>
      <p:sp>
        <p:nvSpPr>
          <p:cNvPr id="5" name="楕円 4">
            <a:extLst>
              <a:ext uri="{FF2B5EF4-FFF2-40B4-BE49-F238E27FC236}">
                <a16:creationId xmlns:a16="http://schemas.microsoft.com/office/drawing/2014/main" id="{CD9E99BC-FE31-4BFA-9DDC-8C823235279B}"/>
              </a:ext>
            </a:extLst>
          </p:cNvPr>
          <p:cNvSpPr/>
          <p:nvPr/>
        </p:nvSpPr>
        <p:spPr>
          <a:xfrm>
            <a:off x="2381772" y="4138025"/>
            <a:ext cx="4545290" cy="674427"/>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小さい値の方がズレの割合が大きくなりやすい</a:t>
            </a:r>
          </a:p>
        </p:txBody>
      </p:sp>
    </p:spTree>
    <p:extLst>
      <p:ext uri="{BB962C8B-B14F-4D97-AF65-F5344CB8AC3E}">
        <p14:creationId xmlns:p14="http://schemas.microsoft.com/office/powerpoint/2010/main" val="41010943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499" y="618353"/>
            <a:ext cx="3289987" cy="310406"/>
          </a:xfrm>
          <a:prstGeom prst="rect">
            <a:avLst/>
          </a:prstGeom>
          <a:noFill/>
          <a:ln/>
        </p:spPr>
        <p:txBody>
          <a:bodyPr wrap="square" lIns="0" tIns="0" rIns="0" bIns="0" rtlCol="0" anchor="t">
            <a:spAutoFit/>
          </a:bodyPr>
          <a:lstStyle/>
          <a:p>
            <a:pPr marL="0" indent="0" algn="l">
              <a:lnSpc>
                <a:spcPts val="2200"/>
              </a:lnSpc>
              <a:buNone/>
            </a:pPr>
            <a:r>
              <a:rPr lang="ja-JP" altLang="en-US" sz="2800" b="1" dirty="0">
                <a:solidFill>
                  <a:srgbClr val="0070C0"/>
                </a:solidFill>
              </a:rPr>
              <a:t>影響の大きい特徴量</a:t>
            </a:r>
            <a:endParaRPr lang="en-US" sz="2800" b="1" dirty="0">
              <a:solidFill>
                <a:srgbClr val="0070C0"/>
              </a:solidFill>
            </a:endParaRPr>
          </a:p>
        </p:txBody>
      </p:sp>
      <p:sp>
        <p:nvSpPr>
          <p:cNvPr id="2" name="テキスト ボックス 1">
            <a:extLst>
              <a:ext uri="{FF2B5EF4-FFF2-40B4-BE49-F238E27FC236}">
                <a16:creationId xmlns:a16="http://schemas.microsoft.com/office/drawing/2014/main" id="{45A75C11-92E5-4A9E-B210-5B7B34875C55}"/>
              </a:ext>
            </a:extLst>
          </p:cNvPr>
          <p:cNvSpPr txBox="1"/>
          <p:nvPr/>
        </p:nvSpPr>
        <p:spPr>
          <a:xfrm>
            <a:off x="1065769" y="1136135"/>
            <a:ext cx="7423323" cy="369332"/>
          </a:xfrm>
          <a:prstGeom prst="rect">
            <a:avLst/>
          </a:prstGeom>
          <a:noFill/>
        </p:spPr>
        <p:txBody>
          <a:bodyPr wrap="square" rtlCol="0">
            <a:spAutoFit/>
          </a:bodyPr>
          <a:lstStyle/>
          <a:p>
            <a:r>
              <a:rPr kumimoji="1" lang="en-US" altLang="ja-JP" dirty="0"/>
              <a:t>※gain ……</a:t>
            </a:r>
            <a:r>
              <a:rPr kumimoji="1" lang="ja-JP" altLang="en-US" dirty="0"/>
              <a:t> 各特徴量がどれだけ予測誤差の減少に貢献したかという指標</a:t>
            </a:r>
          </a:p>
        </p:txBody>
      </p:sp>
      <p:sp>
        <p:nvSpPr>
          <p:cNvPr id="5" name="テキスト ボックス 4">
            <a:extLst>
              <a:ext uri="{FF2B5EF4-FFF2-40B4-BE49-F238E27FC236}">
                <a16:creationId xmlns:a16="http://schemas.microsoft.com/office/drawing/2014/main" id="{54172FA4-0AA2-480D-A6E4-D1EABCE14E0E}"/>
              </a:ext>
            </a:extLst>
          </p:cNvPr>
          <p:cNvSpPr txBox="1"/>
          <p:nvPr/>
        </p:nvSpPr>
        <p:spPr>
          <a:xfrm>
            <a:off x="2792621" y="2431313"/>
            <a:ext cx="1606383" cy="307777"/>
          </a:xfrm>
          <a:prstGeom prst="rect">
            <a:avLst/>
          </a:prstGeom>
          <a:noFill/>
        </p:spPr>
        <p:txBody>
          <a:bodyPr wrap="square" rtlCol="0">
            <a:spAutoFit/>
          </a:bodyPr>
          <a:lstStyle/>
          <a:p>
            <a:pPr algn="r"/>
            <a:r>
              <a:rPr kumimoji="1" lang="ja-JP" altLang="en-US" sz="1400" dirty="0"/>
              <a:t>公示価格</a:t>
            </a:r>
          </a:p>
        </p:txBody>
      </p:sp>
      <p:sp>
        <p:nvSpPr>
          <p:cNvPr id="12" name="テキスト ボックス 11">
            <a:extLst>
              <a:ext uri="{FF2B5EF4-FFF2-40B4-BE49-F238E27FC236}">
                <a16:creationId xmlns:a16="http://schemas.microsoft.com/office/drawing/2014/main" id="{1D87F05E-554C-475E-A721-7739DF4F5A74}"/>
              </a:ext>
            </a:extLst>
          </p:cNvPr>
          <p:cNvSpPr txBox="1"/>
          <p:nvPr/>
        </p:nvSpPr>
        <p:spPr>
          <a:xfrm>
            <a:off x="4862391" y="2407847"/>
            <a:ext cx="988538" cy="307777"/>
          </a:xfrm>
          <a:prstGeom prst="rect">
            <a:avLst/>
          </a:prstGeom>
          <a:noFill/>
        </p:spPr>
        <p:txBody>
          <a:bodyPr wrap="square" rtlCol="0">
            <a:spAutoFit/>
          </a:bodyPr>
          <a:lstStyle/>
          <a:p>
            <a:r>
              <a:rPr kumimoji="1" lang="en-US" altLang="ja-JP" sz="1400" dirty="0"/>
              <a:t>213235</a:t>
            </a:r>
            <a:endParaRPr kumimoji="1" lang="ja-JP" altLang="en-US" sz="1400" dirty="0"/>
          </a:p>
        </p:txBody>
      </p:sp>
      <p:sp>
        <p:nvSpPr>
          <p:cNvPr id="6" name="正方形/長方形 5">
            <a:extLst>
              <a:ext uri="{FF2B5EF4-FFF2-40B4-BE49-F238E27FC236}">
                <a16:creationId xmlns:a16="http://schemas.microsoft.com/office/drawing/2014/main" id="{B4F3B8AA-CC47-47DF-932B-BD6146365A19}"/>
              </a:ext>
            </a:extLst>
          </p:cNvPr>
          <p:cNvSpPr/>
          <p:nvPr/>
        </p:nvSpPr>
        <p:spPr>
          <a:xfrm>
            <a:off x="3595813" y="1905573"/>
            <a:ext cx="685798" cy="307778"/>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項目</a:t>
            </a:r>
          </a:p>
        </p:txBody>
      </p:sp>
      <p:sp>
        <p:nvSpPr>
          <p:cNvPr id="14" name="正方形/長方形 13">
            <a:extLst>
              <a:ext uri="{FF2B5EF4-FFF2-40B4-BE49-F238E27FC236}">
                <a16:creationId xmlns:a16="http://schemas.microsoft.com/office/drawing/2014/main" id="{291978B7-86C8-431F-9E69-AD5D9FBA6565}"/>
              </a:ext>
            </a:extLst>
          </p:cNvPr>
          <p:cNvSpPr/>
          <p:nvPr/>
        </p:nvSpPr>
        <p:spPr>
          <a:xfrm>
            <a:off x="4862391" y="1905573"/>
            <a:ext cx="685798" cy="307778"/>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gain</a:t>
            </a:r>
            <a:endParaRPr kumimoji="1" lang="ja-JP" altLang="en-US" sz="1400" dirty="0">
              <a:solidFill>
                <a:schemeClr val="tx1"/>
              </a:solidFill>
            </a:endParaRPr>
          </a:p>
        </p:txBody>
      </p:sp>
      <p:sp>
        <p:nvSpPr>
          <p:cNvPr id="16" name="テキスト ボックス 15">
            <a:extLst>
              <a:ext uri="{FF2B5EF4-FFF2-40B4-BE49-F238E27FC236}">
                <a16:creationId xmlns:a16="http://schemas.microsoft.com/office/drawing/2014/main" id="{5F183EB8-36E7-45B0-AFC0-3CFC7035A9F4}"/>
              </a:ext>
            </a:extLst>
          </p:cNvPr>
          <p:cNvSpPr txBox="1"/>
          <p:nvPr/>
        </p:nvSpPr>
        <p:spPr>
          <a:xfrm>
            <a:off x="2792621" y="2826629"/>
            <a:ext cx="1606383" cy="307777"/>
          </a:xfrm>
          <a:prstGeom prst="rect">
            <a:avLst/>
          </a:prstGeom>
          <a:noFill/>
        </p:spPr>
        <p:txBody>
          <a:bodyPr wrap="square" rtlCol="0">
            <a:spAutoFit/>
          </a:bodyPr>
          <a:lstStyle/>
          <a:p>
            <a:pPr algn="r"/>
            <a:r>
              <a:rPr kumimoji="1" lang="ja-JP" altLang="en-US" sz="1400" dirty="0"/>
              <a:t>築年数</a:t>
            </a:r>
          </a:p>
        </p:txBody>
      </p:sp>
      <p:sp>
        <p:nvSpPr>
          <p:cNvPr id="17" name="テキスト ボックス 16">
            <a:extLst>
              <a:ext uri="{FF2B5EF4-FFF2-40B4-BE49-F238E27FC236}">
                <a16:creationId xmlns:a16="http://schemas.microsoft.com/office/drawing/2014/main" id="{AD1BD64F-843D-4A41-BDCB-3ACAD9CE6143}"/>
              </a:ext>
            </a:extLst>
          </p:cNvPr>
          <p:cNvSpPr txBox="1"/>
          <p:nvPr/>
        </p:nvSpPr>
        <p:spPr>
          <a:xfrm>
            <a:off x="4862391" y="2803163"/>
            <a:ext cx="988538" cy="307777"/>
          </a:xfrm>
          <a:prstGeom prst="rect">
            <a:avLst/>
          </a:prstGeom>
          <a:noFill/>
        </p:spPr>
        <p:txBody>
          <a:bodyPr wrap="square" rtlCol="0">
            <a:spAutoFit/>
          </a:bodyPr>
          <a:lstStyle/>
          <a:p>
            <a:r>
              <a:rPr kumimoji="1" lang="en-US" altLang="ja-JP" sz="1400" dirty="0"/>
              <a:t>163442</a:t>
            </a:r>
            <a:endParaRPr kumimoji="1" lang="ja-JP" altLang="en-US" sz="1400" dirty="0"/>
          </a:p>
        </p:txBody>
      </p:sp>
      <p:sp>
        <p:nvSpPr>
          <p:cNvPr id="18" name="テキスト ボックス 17">
            <a:extLst>
              <a:ext uri="{FF2B5EF4-FFF2-40B4-BE49-F238E27FC236}">
                <a16:creationId xmlns:a16="http://schemas.microsoft.com/office/drawing/2014/main" id="{A5264912-B69A-4D1D-9BDB-9DFDE67E9258}"/>
              </a:ext>
            </a:extLst>
          </p:cNvPr>
          <p:cNvSpPr txBox="1"/>
          <p:nvPr/>
        </p:nvSpPr>
        <p:spPr>
          <a:xfrm>
            <a:off x="2792621" y="3245411"/>
            <a:ext cx="1606383" cy="307777"/>
          </a:xfrm>
          <a:prstGeom prst="rect">
            <a:avLst/>
          </a:prstGeom>
          <a:noFill/>
        </p:spPr>
        <p:txBody>
          <a:bodyPr wrap="square" rtlCol="0">
            <a:spAutoFit/>
          </a:bodyPr>
          <a:lstStyle/>
          <a:p>
            <a:pPr algn="r"/>
            <a:r>
              <a:rPr kumimoji="1" lang="ja-JP" altLang="en-US" sz="1400" dirty="0"/>
              <a:t>何県何市の物件か</a:t>
            </a:r>
          </a:p>
        </p:txBody>
      </p:sp>
      <p:sp>
        <p:nvSpPr>
          <p:cNvPr id="19" name="テキスト ボックス 18">
            <a:extLst>
              <a:ext uri="{FF2B5EF4-FFF2-40B4-BE49-F238E27FC236}">
                <a16:creationId xmlns:a16="http://schemas.microsoft.com/office/drawing/2014/main" id="{A991BD4A-F0A4-4814-A62E-EEA44B35E37A}"/>
              </a:ext>
            </a:extLst>
          </p:cNvPr>
          <p:cNvSpPr txBox="1"/>
          <p:nvPr/>
        </p:nvSpPr>
        <p:spPr>
          <a:xfrm>
            <a:off x="4862391" y="3221945"/>
            <a:ext cx="988538" cy="307777"/>
          </a:xfrm>
          <a:prstGeom prst="rect">
            <a:avLst/>
          </a:prstGeom>
          <a:noFill/>
        </p:spPr>
        <p:txBody>
          <a:bodyPr wrap="square" rtlCol="0">
            <a:spAutoFit/>
          </a:bodyPr>
          <a:lstStyle/>
          <a:p>
            <a:r>
              <a:rPr kumimoji="1" lang="en-US" altLang="ja-JP" sz="1400" dirty="0"/>
              <a:t>132638</a:t>
            </a:r>
            <a:endParaRPr kumimoji="1" lang="ja-JP" altLang="en-US" sz="1400" dirty="0"/>
          </a:p>
        </p:txBody>
      </p:sp>
      <p:sp>
        <p:nvSpPr>
          <p:cNvPr id="20" name="テキスト ボックス 19">
            <a:extLst>
              <a:ext uri="{FF2B5EF4-FFF2-40B4-BE49-F238E27FC236}">
                <a16:creationId xmlns:a16="http://schemas.microsoft.com/office/drawing/2014/main" id="{4D8AF85E-6ACA-434E-8E92-92FFB8B430BA}"/>
              </a:ext>
            </a:extLst>
          </p:cNvPr>
          <p:cNvSpPr txBox="1"/>
          <p:nvPr/>
        </p:nvSpPr>
        <p:spPr>
          <a:xfrm>
            <a:off x="2792621" y="3664193"/>
            <a:ext cx="1606383" cy="307777"/>
          </a:xfrm>
          <a:prstGeom prst="rect">
            <a:avLst/>
          </a:prstGeom>
          <a:noFill/>
        </p:spPr>
        <p:txBody>
          <a:bodyPr wrap="square" rtlCol="0">
            <a:spAutoFit/>
          </a:bodyPr>
          <a:lstStyle/>
          <a:p>
            <a:pPr algn="r"/>
            <a:r>
              <a:rPr kumimoji="1" lang="ja-JP" altLang="en-US" sz="1400" dirty="0"/>
              <a:t>専有面積</a:t>
            </a:r>
          </a:p>
        </p:txBody>
      </p:sp>
      <p:sp>
        <p:nvSpPr>
          <p:cNvPr id="21" name="テキスト ボックス 20">
            <a:extLst>
              <a:ext uri="{FF2B5EF4-FFF2-40B4-BE49-F238E27FC236}">
                <a16:creationId xmlns:a16="http://schemas.microsoft.com/office/drawing/2014/main" id="{8AC1739C-3034-43A8-AB3E-542A517EE40B}"/>
              </a:ext>
            </a:extLst>
          </p:cNvPr>
          <p:cNvSpPr txBox="1"/>
          <p:nvPr/>
        </p:nvSpPr>
        <p:spPr>
          <a:xfrm>
            <a:off x="4862391" y="3640727"/>
            <a:ext cx="988538" cy="307777"/>
          </a:xfrm>
          <a:prstGeom prst="rect">
            <a:avLst/>
          </a:prstGeom>
          <a:noFill/>
        </p:spPr>
        <p:txBody>
          <a:bodyPr wrap="square" rtlCol="0">
            <a:spAutoFit/>
          </a:bodyPr>
          <a:lstStyle/>
          <a:p>
            <a:r>
              <a:rPr kumimoji="1" lang="en-US" altLang="ja-JP" sz="1400" dirty="0"/>
              <a:t>129773</a:t>
            </a:r>
            <a:endParaRPr kumimoji="1" lang="ja-JP" altLang="en-US" sz="1400" dirty="0"/>
          </a:p>
        </p:txBody>
      </p:sp>
      <p:sp>
        <p:nvSpPr>
          <p:cNvPr id="22" name="テキスト ボックス 21">
            <a:extLst>
              <a:ext uri="{FF2B5EF4-FFF2-40B4-BE49-F238E27FC236}">
                <a16:creationId xmlns:a16="http://schemas.microsoft.com/office/drawing/2014/main" id="{557DD5CF-3DC9-41D9-9DE7-90E605AFE51B}"/>
              </a:ext>
            </a:extLst>
          </p:cNvPr>
          <p:cNvSpPr txBox="1"/>
          <p:nvPr/>
        </p:nvSpPr>
        <p:spPr>
          <a:xfrm>
            <a:off x="2792621" y="4106441"/>
            <a:ext cx="1606383" cy="307777"/>
          </a:xfrm>
          <a:prstGeom prst="rect">
            <a:avLst/>
          </a:prstGeom>
          <a:noFill/>
        </p:spPr>
        <p:txBody>
          <a:bodyPr wrap="square" rtlCol="0">
            <a:spAutoFit/>
          </a:bodyPr>
          <a:lstStyle/>
          <a:p>
            <a:pPr algn="r"/>
            <a:r>
              <a:rPr kumimoji="1" lang="ja-JP" altLang="en-US" sz="1400" dirty="0"/>
              <a:t>間取り</a:t>
            </a:r>
          </a:p>
        </p:txBody>
      </p:sp>
      <p:sp>
        <p:nvSpPr>
          <p:cNvPr id="24" name="テキスト ボックス 23">
            <a:extLst>
              <a:ext uri="{FF2B5EF4-FFF2-40B4-BE49-F238E27FC236}">
                <a16:creationId xmlns:a16="http://schemas.microsoft.com/office/drawing/2014/main" id="{9FCD5333-741E-4FC9-917F-AB64CDEB3794}"/>
              </a:ext>
            </a:extLst>
          </p:cNvPr>
          <p:cNvSpPr txBox="1"/>
          <p:nvPr/>
        </p:nvSpPr>
        <p:spPr>
          <a:xfrm>
            <a:off x="4862391" y="4082975"/>
            <a:ext cx="988538" cy="307777"/>
          </a:xfrm>
          <a:prstGeom prst="rect">
            <a:avLst/>
          </a:prstGeom>
          <a:noFill/>
        </p:spPr>
        <p:txBody>
          <a:bodyPr wrap="square" rtlCol="0">
            <a:spAutoFit/>
          </a:bodyPr>
          <a:lstStyle/>
          <a:p>
            <a:r>
              <a:rPr kumimoji="1" lang="en-US" altLang="ja-JP" sz="1400" dirty="0"/>
              <a:t>102376</a:t>
            </a:r>
            <a:endParaRPr kumimoji="1" lang="ja-JP" altLang="en-US" sz="1400" dirty="0"/>
          </a:p>
        </p:txBody>
      </p:sp>
      <p:sp>
        <p:nvSpPr>
          <p:cNvPr id="25" name="テキスト ボックス 24">
            <a:extLst>
              <a:ext uri="{FF2B5EF4-FFF2-40B4-BE49-F238E27FC236}">
                <a16:creationId xmlns:a16="http://schemas.microsoft.com/office/drawing/2014/main" id="{0CA15835-587A-4ABD-A071-10D77B06437F}"/>
              </a:ext>
            </a:extLst>
          </p:cNvPr>
          <p:cNvSpPr txBox="1"/>
          <p:nvPr/>
        </p:nvSpPr>
        <p:spPr>
          <a:xfrm>
            <a:off x="2792621" y="4548689"/>
            <a:ext cx="1606383" cy="307777"/>
          </a:xfrm>
          <a:prstGeom prst="rect">
            <a:avLst/>
          </a:prstGeom>
          <a:noFill/>
        </p:spPr>
        <p:txBody>
          <a:bodyPr wrap="square" rtlCol="0">
            <a:spAutoFit/>
          </a:bodyPr>
          <a:lstStyle/>
          <a:p>
            <a:pPr algn="r"/>
            <a:r>
              <a:rPr kumimoji="1" lang="ja-JP" altLang="en-US" sz="1400" dirty="0"/>
              <a:t>浴室乾燥機有り</a:t>
            </a:r>
          </a:p>
        </p:txBody>
      </p:sp>
      <p:sp>
        <p:nvSpPr>
          <p:cNvPr id="26" name="テキスト ボックス 25">
            <a:extLst>
              <a:ext uri="{FF2B5EF4-FFF2-40B4-BE49-F238E27FC236}">
                <a16:creationId xmlns:a16="http://schemas.microsoft.com/office/drawing/2014/main" id="{A1A7ECCD-F3CA-41B2-966C-ACE3A97C72B9}"/>
              </a:ext>
            </a:extLst>
          </p:cNvPr>
          <p:cNvSpPr txBox="1"/>
          <p:nvPr/>
        </p:nvSpPr>
        <p:spPr>
          <a:xfrm>
            <a:off x="4862390" y="4525223"/>
            <a:ext cx="1464269" cy="307777"/>
          </a:xfrm>
          <a:prstGeom prst="rect">
            <a:avLst/>
          </a:prstGeom>
          <a:noFill/>
        </p:spPr>
        <p:txBody>
          <a:bodyPr wrap="square" rtlCol="0">
            <a:spAutoFit/>
          </a:bodyPr>
          <a:lstStyle/>
          <a:p>
            <a:r>
              <a:rPr kumimoji="1" lang="en-US" altLang="ja-JP" sz="1400" dirty="0"/>
              <a:t>52889</a:t>
            </a:r>
            <a:endParaRPr kumimoji="1" lang="ja-JP" altLang="en-US" sz="1400" dirty="0"/>
          </a:p>
        </p:txBody>
      </p:sp>
    </p:spTree>
    <p:extLst>
      <p:ext uri="{BB962C8B-B14F-4D97-AF65-F5344CB8AC3E}">
        <p14:creationId xmlns:p14="http://schemas.microsoft.com/office/powerpoint/2010/main" val="33721282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499" y="618353"/>
            <a:ext cx="2786924" cy="310406"/>
          </a:xfrm>
          <a:prstGeom prst="rect">
            <a:avLst/>
          </a:prstGeom>
          <a:noFill/>
          <a:ln/>
        </p:spPr>
        <p:txBody>
          <a:bodyPr wrap="square" lIns="0" tIns="0" rIns="0" bIns="0" rtlCol="0" anchor="t">
            <a:spAutoFit/>
          </a:bodyPr>
          <a:lstStyle/>
          <a:p>
            <a:pPr marL="0" indent="0" algn="l">
              <a:lnSpc>
                <a:spcPts val="2200"/>
              </a:lnSpc>
              <a:buNone/>
            </a:pPr>
            <a:r>
              <a:rPr lang="en-US" altLang="ja-JP" sz="2800" b="1" dirty="0">
                <a:solidFill>
                  <a:srgbClr val="0070C0"/>
                </a:solidFill>
              </a:rPr>
              <a:t>One-Stage</a:t>
            </a:r>
            <a:r>
              <a:rPr lang="ja-JP" altLang="en-US" sz="2800" b="1" dirty="0">
                <a:solidFill>
                  <a:srgbClr val="0070C0"/>
                </a:solidFill>
              </a:rPr>
              <a:t>モデル</a:t>
            </a:r>
            <a:endParaRPr lang="en-US" sz="2800" b="1" dirty="0">
              <a:solidFill>
                <a:srgbClr val="0070C0"/>
              </a:solidFill>
            </a:endParaRPr>
          </a:p>
        </p:txBody>
      </p:sp>
      <p:sp>
        <p:nvSpPr>
          <p:cNvPr id="8" name="フローチャート: データ 7">
            <a:extLst>
              <a:ext uri="{FF2B5EF4-FFF2-40B4-BE49-F238E27FC236}">
                <a16:creationId xmlns:a16="http://schemas.microsoft.com/office/drawing/2014/main" id="{CE7DD586-C2C1-4FBF-B001-488931A136C4}"/>
              </a:ext>
            </a:extLst>
          </p:cNvPr>
          <p:cNvSpPr/>
          <p:nvPr/>
        </p:nvSpPr>
        <p:spPr>
          <a:xfrm>
            <a:off x="912286" y="3036004"/>
            <a:ext cx="1512267" cy="545810"/>
          </a:xfrm>
          <a:prstGeom prst="flowChartInputOutp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rPr>
              <a:t>物件</a:t>
            </a:r>
            <a:endParaRPr kumimoji="1" lang="en-US" altLang="ja-JP" sz="1600" dirty="0">
              <a:solidFill>
                <a:schemeClr val="tx1"/>
              </a:solidFill>
            </a:endParaRPr>
          </a:p>
          <a:p>
            <a:pPr algn="ctr"/>
            <a:r>
              <a:rPr kumimoji="1" lang="ja-JP" altLang="en-US" sz="1600" dirty="0">
                <a:solidFill>
                  <a:schemeClr val="tx1"/>
                </a:solidFill>
              </a:rPr>
              <a:t>データ</a:t>
            </a:r>
          </a:p>
        </p:txBody>
      </p:sp>
      <p:sp>
        <p:nvSpPr>
          <p:cNvPr id="9" name="四角形: 角を丸くする 8">
            <a:extLst>
              <a:ext uri="{FF2B5EF4-FFF2-40B4-BE49-F238E27FC236}">
                <a16:creationId xmlns:a16="http://schemas.microsoft.com/office/drawing/2014/main" id="{1374AB1F-76C1-4C35-8A8C-11042453C007}"/>
              </a:ext>
            </a:extLst>
          </p:cNvPr>
          <p:cNvSpPr/>
          <p:nvPr/>
        </p:nvSpPr>
        <p:spPr>
          <a:xfrm>
            <a:off x="3358423" y="3037731"/>
            <a:ext cx="2066263" cy="545810"/>
          </a:xfrm>
          <a:prstGeom prst="round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rPr>
              <a:t>価格予測モデル</a:t>
            </a:r>
          </a:p>
        </p:txBody>
      </p:sp>
      <p:sp>
        <p:nvSpPr>
          <p:cNvPr id="11" name="矢印: 下 10">
            <a:extLst>
              <a:ext uri="{FF2B5EF4-FFF2-40B4-BE49-F238E27FC236}">
                <a16:creationId xmlns:a16="http://schemas.microsoft.com/office/drawing/2014/main" id="{791817C7-40DC-4666-98B8-D64CB602B79C}"/>
              </a:ext>
            </a:extLst>
          </p:cNvPr>
          <p:cNvSpPr/>
          <p:nvPr/>
        </p:nvSpPr>
        <p:spPr>
          <a:xfrm rot="16200000">
            <a:off x="2593038" y="3037731"/>
            <a:ext cx="596900" cy="494720"/>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矢印: 下 11">
            <a:extLst>
              <a:ext uri="{FF2B5EF4-FFF2-40B4-BE49-F238E27FC236}">
                <a16:creationId xmlns:a16="http://schemas.microsoft.com/office/drawing/2014/main" id="{85FE4D7B-214F-4F8A-9CAA-7848DF317BDC}"/>
              </a:ext>
            </a:extLst>
          </p:cNvPr>
          <p:cNvSpPr/>
          <p:nvPr/>
        </p:nvSpPr>
        <p:spPr>
          <a:xfrm rot="16200000">
            <a:off x="5632787" y="3071106"/>
            <a:ext cx="596900" cy="494720"/>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AAFA498B-2BAE-4257-85AF-E2DE5AA4524A}"/>
              </a:ext>
            </a:extLst>
          </p:cNvPr>
          <p:cNvSpPr/>
          <p:nvPr/>
        </p:nvSpPr>
        <p:spPr>
          <a:xfrm>
            <a:off x="6505835" y="3020015"/>
            <a:ext cx="1989437" cy="596901"/>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t>予測価格</a:t>
            </a:r>
          </a:p>
        </p:txBody>
      </p:sp>
      <p:sp>
        <p:nvSpPr>
          <p:cNvPr id="13" name="四角形: 角を丸くする 12">
            <a:extLst>
              <a:ext uri="{FF2B5EF4-FFF2-40B4-BE49-F238E27FC236}">
                <a16:creationId xmlns:a16="http://schemas.microsoft.com/office/drawing/2014/main" id="{D6E7DB34-B4C1-4DD1-AEF6-F2A907A27993}"/>
              </a:ext>
            </a:extLst>
          </p:cNvPr>
          <p:cNvSpPr/>
          <p:nvPr/>
        </p:nvSpPr>
        <p:spPr>
          <a:xfrm>
            <a:off x="510707" y="2328725"/>
            <a:ext cx="8182271" cy="184786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7B4722AE-B243-40EE-8981-83A2FB39561C}"/>
              </a:ext>
            </a:extLst>
          </p:cNvPr>
          <p:cNvSpPr/>
          <p:nvPr/>
        </p:nvSpPr>
        <p:spPr>
          <a:xfrm>
            <a:off x="3378231" y="1946074"/>
            <a:ext cx="1865873" cy="625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One-Stage</a:t>
            </a:r>
            <a:r>
              <a:rPr kumimoji="1" lang="ja-JP" altLang="en-US" dirty="0"/>
              <a:t>モデル</a:t>
            </a:r>
          </a:p>
        </p:txBody>
      </p:sp>
    </p:spTree>
    <p:extLst>
      <p:ext uri="{BB962C8B-B14F-4D97-AF65-F5344CB8AC3E}">
        <p14:creationId xmlns:p14="http://schemas.microsoft.com/office/powerpoint/2010/main" val="5024533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71499" y="618353"/>
            <a:ext cx="2801896" cy="310406"/>
          </a:xfrm>
          <a:prstGeom prst="rect">
            <a:avLst/>
          </a:prstGeom>
          <a:noFill/>
          <a:ln/>
        </p:spPr>
        <p:txBody>
          <a:bodyPr wrap="square" lIns="0" tIns="0" rIns="0" bIns="0" rtlCol="0" anchor="t">
            <a:spAutoFit/>
          </a:bodyPr>
          <a:lstStyle/>
          <a:p>
            <a:pPr marL="0" indent="0" algn="l">
              <a:lnSpc>
                <a:spcPts val="2200"/>
              </a:lnSpc>
              <a:buNone/>
            </a:pPr>
            <a:r>
              <a:rPr lang="en-US" altLang="ja-JP" sz="2800" b="1" dirty="0">
                <a:solidFill>
                  <a:srgbClr val="0070C0"/>
                </a:solidFill>
              </a:rPr>
              <a:t>Two-Stage</a:t>
            </a:r>
            <a:r>
              <a:rPr lang="ja-JP" altLang="en-US" sz="2800" b="1" dirty="0">
                <a:solidFill>
                  <a:srgbClr val="0070C0"/>
                </a:solidFill>
              </a:rPr>
              <a:t>モデル</a:t>
            </a:r>
            <a:endParaRPr lang="en-US" sz="2800" b="1" dirty="0">
              <a:solidFill>
                <a:srgbClr val="0070C0"/>
              </a:solidFill>
            </a:endParaRPr>
          </a:p>
        </p:txBody>
      </p:sp>
      <p:sp>
        <p:nvSpPr>
          <p:cNvPr id="8" name="フローチャート: データ 7">
            <a:extLst>
              <a:ext uri="{FF2B5EF4-FFF2-40B4-BE49-F238E27FC236}">
                <a16:creationId xmlns:a16="http://schemas.microsoft.com/office/drawing/2014/main" id="{CE7DD586-C2C1-4FBF-B001-488931A136C4}"/>
              </a:ext>
            </a:extLst>
          </p:cNvPr>
          <p:cNvSpPr/>
          <p:nvPr/>
        </p:nvSpPr>
        <p:spPr>
          <a:xfrm>
            <a:off x="686844" y="2828052"/>
            <a:ext cx="1215703" cy="545810"/>
          </a:xfrm>
          <a:prstGeom prst="flowChartInputOutp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物件</a:t>
            </a:r>
            <a:endParaRPr kumimoji="1" lang="en-US" altLang="ja-JP" sz="1200" dirty="0">
              <a:solidFill>
                <a:schemeClr val="tx1"/>
              </a:solidFill>
            </a:endParaRPr>
          </a:p>
          <a:p>
            <a:pPr algn="ctr"/>
            <a:r>
              <a:rPr kumimoji="1" lang="ja-JP" altLang="en-US" sz="1200" dirty="0">
                <a:solidFill>
                  <a:schemeClr val="tx1"/>
                </a:solidFill>
              </a:rPr>
              <a:t>データ</a:t>
            </a:r>
          </a:p>
        </p:txBody>
      </p:sp>
      <p:sp>
        <p:nvSpPr>
          <p:cNvPr id="9" name="四角形: 角を丸くする 8">
            <a:extLst>
              <a:ext uri="{FF2B5EF4-FFF2-40B4-BE49-F238E27FC236}">
                <a16:creationId xmlns:a16="http://schemas.microsoft.com/office/drawing/2014/main" id="{1374AB1F-76C1-4C35-8A8C-11042453C007}"/>
              </a:ext>
            </a:extLst>
          </p:cNvPr>
          <p:cNvSpPr/>
          <p:nvPr/>
        </p:nvSpPr>
        <p:spPr>
          <a:xfrm>
            <a:off x="2078684" y="3375259"/>
            <a:ext cx="1793096" cy="739542"/>
          </a:xfrm>
          <a:prstGeom prst="round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rPr>
              <a:t>価格予測モデル</a:t>
            </a:r>
            <a:r>
              <a:rPr kumimoji="1" lang="en-US" altLang="ja-JP" sz="1200" b="1" dirty="0">
                <a:solidFill>
                  <a:schemeClr val="tx1"/>
                </a:solidFill>
              </a:rPr>
              <a:t>(Low)</a:t>
            </a:r>
          </a:p>
          <a:p>
            <a:pPr algn="ctr"/>
            <a:r>
              <a:rPr kumimoji="1" lang="ja-JP" altLang="en-US" sz="1200" b="1" dirty="0">
                <a:solidFill>
                  <a:schemeClr val="tx1"/>
                </a:solidFill>
              </a:rPr>
              <a:t>価格予測モデル</a:t>
            </a:r>
            <a:r>
              <a:rPr kumimoji="1" lang="en-US" altLang="ja-JP" sz="1200" b="1" dirty="0">
                <a:solidFill>
                  <a:schemeClr val="tx1"/>
                </a:solidFill>
              </a:rPr>
              <a:t>(Mid)</a:t>
            </a:r>
          </a:p>
          <a:p>
            <a:pPr algn="ctr"/>
            <a:r>
              <a:rPr kumimoji="1" lang="ja-JP" altLang="en-US" sz="1200" b="1" dirty="0">
                <a:solidFill>
                  <a:schemeClr val="tx1"/>
                </a:solidFill>
              </a:rPr>
              <a:t>価格予測モデル</a:t>
            </a:r>
            <a:r>
              <a:rPr kumimoji="1" lang="en-US" altLang="ja-JP" sz="1200" b="1" dirty="0">
                <a:solidFill>
                  <a:schemeClr val="tx1"/>
                </a:solidFill>
              </a:rPr>
              <a:t>(High)</a:t>
            </a:r>
            <a:endParaRPr kumimoji="1" lang="ja-JP" altLang="en-US" sz="1200" b="1" dirty="0">
              <a:solidFill>
                <a:schemeClr val="tx1"/>
              </a:solidFill>
            </a:endParaRPr>
          </a:p>
        </p:txBody>
      </p:sp>
      <p:sp>
        <p:nvSpPr>
          <p:cNvPr id="5" name="楕円 4">
            <a:extLst>
              <a:ext uri="{FF2B5EF4-FFF2-40B4-BE49-F238E27FC236}">
                <a16:creationId xmlns:a16="http://schemas.microsoft.com/office/drawing/2014/main" id="{AAFA498B-2BAE-4257-85AF-E2DE5AA4524A}"/>
              </a:ext>
            </a:extLst>
          </p:cNvPr>
          <p:cNvSpPr/>
          <p:nvPr/>
        </p:nvSpPr>
        <p:spPr>
          <a:xfrm>
            <a:off x="7364628" y="2847872"/>
            <a:ext cx="1275545" cy="596901"/>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予測価格</a:t>
            </a:r>
          </a:p>
        </p:txBody>
      </p:sp>
      <p:sp>
        <p:nvSpPr>
          <p:cNvPr id="13" name="四角形: 角を丸くする 12">
            <a:extLst>
              <a:ext uri="{FF2B5EF4-FFF2-40B4-BE49-F238E27FC236}">
                <a16:creationId xmlns:a16="http://schemas.microsoft.com/office/drawing/2014/main" id="{D6E7DB34-B4C1-4DD1-AEF6-F2A907A27993}"/>
              </a:ext>
            </a:extLst>
          </p:cNvPr>
          <p:cNvSpPr/>
          <p:nvPr/>
        </p:nvSpPr>
        <p:spPr>
          <a:xfrm>
            <a:off x="510707" y="1471890"/>
            <a:ext cx="8182271" cy="3362178"/>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7B4722AE-B243-40EE-8981-83A2FB39561C}"/>
              </a:ext>
            </a:extLst>
          </p:cNvPr>
          <p:cNvSpPr/>
          <p:nvPr/>
        </p:nvSpPr>
        <p:spPr>
          <a:xfrm>
            <a:off x="3668905" y="1163467"/>
            <a:ext cx="1865873" cy="625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Two-Stage</a:t>
            </a:r>
            <a:r>
              <a:rPr kumimoji="1" lang="ja-JP" altLang="en-US" dirty="0"/>
              <a:t>モデル</a:t>
            </a:r>
          </a:p>
        </p:txBody>
      </p:sp>
      <p:sp>
        <p:nvSpPr>
          <p:cNvPr id="14" name="四角形: 角を丸くする 13">
            <a:extLst>
              <a:ext uri="{FF2B5EF4-FFF2-40B4-BE49-F238E27FC236}">
                <a16:creationId xmlns:a16="http://schemas.microsoft.com/office/drawing/2014/main" id="{F509F01C-86DB-4803-A610-102ABB0FA0CE}"/>
              </a:ext>
            </a:extLst>
          </p:cNvPr>
          <p:cNvSpPr/>
          <p:nvPr/>
        </p:nvSpPr>
        <p:spPr>
          <a:xfrm>
            <a:off x="2078684" y="2192560"/>
            <a:ext cx="1793096" cy="545810"/>
          </a:xfrm>
          <a:prstGeom prst="round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rPr>
              <a:t>価格帯確率予測モデル</a:t>
            </a:r>
          </a:p>
        </p:txBody>
      </p:sp>
      <p:sp>
        <p:nvSpPr>
          <p:cNvPr id="15" name="正方形/長方形 14">
            <a:extLst>
              <a:ext uri="{FF2B5EF4-FFF2-40B4-BE49-F238E27FC236}">
                <a16:creationId xmlns:a16="http://schemas.microsoft.com/office/drawing/2014/main" id="{53DD5514-5ABA-45EC-A45B-CBD6C1026053}"/>
              </a:ext>
            </a:extLst>
          </p:cNvPr>
          <p:cNvSpPr/>
          <p:nvPr/>
        </p:nvSpPr>
        <p:spPr>
          <a:xfrm>
            <a:off x="4336675" y="2054054"/>
            <a:ext cx="1736249" cy="7390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dirty="0">
                <a:solidFill>
                  <a:schemeClr val="tx1"/>
                </a:solidFill>
              </a:rPr>
              <a:t>Low</a:t>
            </a:r>
            <a:r>
              <a:rPr kumimoji="1" lang="ja-JP" altLang="en-US" sz="1200" dirty="0">
                <a:solidFill>
                  <a:schemeClr val="tx1"/>
                </a:solidFill>
              </a:rPr>
              <a:t>の確率：</a:t>
            </a:r>
            <a:r>
              <a:rPr kumimoji="1" lang="en-US" altLang="ja-JP" sz="1200" dirty="0" err="1">
                <a:solidFill>
                  <a:schemeClr val="tx1"/>
                </a:solidFill>
              </a:rPr>
              <a:t>p_Low</a:t>
            </a:r>
            <a:endParaRPr kumimoji="1" lang="en-US" altLang="ja-JP" sz="1200" dirty="0">
              <a:solidFill>
                <a:schemeClr val="tx1"/>
              </a:solidFill>
            </a:endParaRPr>
          </a:p>
          <a:p>
            <a:r>
              <a:rPr kumimoji="1" lang="en-US" altLang="ja-JP" sz="1200" dirty="0">
                <a:solidFill>
                  <a:schemeClr val="tx1"/>
                </a:solidFill>
              </a:rPr>
              <a:t>Mid</a:t>
            </a:r>
            <a:r>
              <a:rPr kumimoji="1" lang="ja-JP" altLang="en-US" sz="1200" dirty="0">
                <a:solidFill>
                  <a:schemeClr val="tx1"/>
                </a:solidFill>
              </a:rPr>
              <a:t>の確率：</a:t>
            </a:r>
            <a:r>
              <a:rPr kumimoji="1" lang="en-US" altLang="ja-JP" sz="1200" dirty="0" err="1">
                <a:solidFill>
                  <a:schemeClr val="tx1"/>
                </a:solidFill>
              </a:rPr>
              <a:t>p_Mid</a:t>
            </a:r>
            <a:endParaRPr kumimoji="1" lang="en-US" altLang="ja-JP" sz="1200" dirty="0">
              <a:solidFill>
                <a:schemeClr val="tx1"/>
              </a:solidFill>
            </a:endParaRPr>
          </a:p>
          <a:p>
            <a:r>
              <a:rPr kumimoji="1" lang="en-US" altLang="ja-JP" sz="1200" dirty="0">
                <a:solidFill>
                  <a:schemeClr val="tx1"/>
                </a:solidFill>
              </a:rPr>
              <a:t>High</a:t>
            </a:r>
            <a:r>
              <a:rPr kumimoji="1" lang="ja-JP" altLang="en-US" sz="1200" dirty="0">
                <a:solidFill>
                  <a:schemeClr val="tx1"/>
                </a:solidFill>
              </a:rPr>
              <a:t>の確率：</a:t>
            </a:r>
            <a:r>
              <a:rPr kumimoji="1" lang="en-US" altLang="ja-JP" sz="1200" dirty="0" err="1">
                <a:solidFill>
                  <a:schemeClr val="tx1"/>
                </a:solidFill>
              </a:rPr>
              <a:t>p_High</a:t>
            </a:r>
            <a:endParaRPr kumimoji="1" lang="en-US" altLang="ja-JP" sz="1200" dirty="0">
              <a:solidFill>
                <a:schemeClr val="tx1"/>
              </a:solidFill>
            </a:endParaRPr>
          </a:p>
        </p:txBody>
      </p:sp>
      <p:sp>
        <p:nvSpPr>
          <p:cNvPr id="16" name="矢印: 下 15">
            <a:extLst>
              <a:ext uri="{FF2B5EF4-FFF2-40B4-BE49-F238E27FC236}">
                <a16:creationId xmlns:a16="http://schemas.microsoft.com/office/drawing/2014/main" id="{FFA7B833-47BE-41CC-93D6-9C7768112B9E}"/>
              </a:ext>
            </a:extLst>
          </p:cNvPr>
          <p:cNvSpPr/>
          <p:nvPr/>
        </p:nvSpPr>
        <p:spPr>
          <a:xfrm rot="16200000">
            <a:off x="4004891" y="3648080"/>
            <a:ext cx="175503" cy="296787"/>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C9AD4DDA-6DD0-4D8A-A6D5-4ABC36E831A5}"/>
              </a:ext>
            </a:extLst>
          </p:cNvPr>
          <p:cNvSpPr/>
          <p:nvPr/>
        </p:nvSpPr>
        <p:spPr>
          <a:xfrm>
            <a:off x="4336677" y="3375259"/>
            <a:ext cx="1736250" cy="7395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solidFill>
              </a:rPr>
              <a:t>予測価格</a:t>
            </a:r>
            <a:r>
              <a:rPr kumimoji="1" lang="en-US" altLang="ja-JP" sz="1200" dirty="0">
                <a:solidFill>
                  <a:schemeClr val="tx1"/>
                </a:solidFill>
              </a:rPr>
              <a:t>Low</a:t>
            </a:r>
            <a:r>
              <a:rPr kumimoji="1" lang="ja-JP" altLang="en-US" sz="1200" dirty="0">
                <a:solidFill>
                  <a:schemeClr val="tx1"/>
                </a:solidFill>
              </a:rPr>
              <a:t> ：</a:t>
            </a:r>
            <a:r>
              <a:rPr kumimoji="1" lang="cy-GB" altLang="ja-JP" sz="1200" dirty="0">
                <a:solidFill>
                  <a:schemeClr val="tx1"/>
                </a:solidFill>
              </a:rPr>
              <a:t> ŷ</a:t>
            </a:r>
            <a:r>
              <a:rPr kumimoji="1" lang="en-US" altLang="ja-JP" sz="1200" dirty="0">
                <a:solidFill>
                  <a:schemeClr val="tx1"/>
                </a:solidFill>
              </a:rPr>
              <a:t>_Low</a:t>
            </a:r>
          </a:p>
          <a:p>
            <a:r>
              <a:rPr kumimoji="1" lang="ja-JP" altLang="en-US" sz="1200" dirty="0">
                <a:solidFill>
                  <a:schemeClr val="tx1"/>
                </a:solidFill>
              </a:rPr>
              <a:t>予測価格</a:t>
            </a:r>
            <a:r>
              <a:rPr kumimoji="1" lang="en-US" altLang="ja-JP" sz="1200" dirty="0">
                <a:solidFill>
                  <a:schemeClr val="tx1"/>
                </a:solidFill>
              </a:rPr>
              <a:t>Mid</a:t>
            </a:r>
            <a:r>
              <a:rPr kumimoji="1" lang="ja-JP" altLang="en-US" sz="1200" dirty="0">
                <a:solidFill>
                  <a:schemeClr val="tx1"/>
                </a:solidFill>
              </a:rPr>
              <a:t> ：</a:t>
            </a:r>
            <a:r>
              <a:rPr kumimoji="1" lang="cy-GB" altLang="ja-JP" sz="1200" dirty="0">
                <a:solidFill>
                  <a:schemeClr val="tx1"/>
                </a:solidFill>
              </a:rPr>
              <a:t> ŷ</a:t>
            </a:r>
            <a:r>
              <a:rPr kumimoji="1" lang="en-US" altLang="ja-JP" sz="1200" dirty="0">
                <a:solidFill>
                  <a:schemeClr val="tx1"/>
                </a:solidFill>
              </a:rPr>
              <a:t>_Mid</a:t>
            </a:r>
          </a:p>
          <a:p>
            <a:r>
              <a:rPr kumimoji="1" lang="ja-JP" altLang="en-US" sz="1200" dirty="0">
                <a:solidFill>
                  <a:schemeClr val="tx1"/>
                </a:solidFill>
              </a:rPr>
              <a:t>予測価格</a:t>
            </a:r>
            <a:r>
              <a:rPr kumimoji="1" lang="en-US" altLang="ja-JP" sz="1200" dirty="0">
                <a:solidFill>
                  <a:schemeClr val="tx1"/>
                </a:solidFill>
              </a:rPr>
              <a:t>High</a:t>
            </a:r>
            <a:r>
              <a:rPr kumimoji="1" lang="ja-JP" altLang="en-US" sz="1200" dirty="0">
                <a:solidFill>
                  <a:schemeClr val="tx1"/>
                </a:solidFill>
              </a:rPr>
              <a:t>：</a:t>
            </a:r>
            <a:r>
              <a:rPr kumimoji="1" lang="cy-GB" altLang="ja-JP" sz="1200" dirty="0">
                <a:solidFill>
                  <a:schemeClr val="tx1"/>
                </a:solidFill>
              </a:rPr>
              <a:t> ŷ</a:t>
            </a:r>
            <a:r>
              <a:rPr kumimoji="1" lang="en-US" altLang="ja-JP" sz="1200" dirty="0">
                <a:solidFill>
                  <a:schemeClr val="tx1"/>
                </a:solidFill>
              </a:rPr>
              <a:t>_High</a:t>
            </a:r>
            <a:endParaRPr kumimoji="1" lang="ja-JP" altLang="en-US" sz="1200" dirty="0">
              <a:solidFill>
                <a:schemeClr val="tx1"/>
              </a:solidFill>
            </a:endParaRPr>
          </a:p>
        </p:txBody>
      </p:sp>
      <p:sp>
        <p:nvSpPr>
          <p:cNvPr id="19" name="矢印: 下 18">
            <a:extLst>
              <a:ext uri="{FF2B5EF4-FFF2-40B4-BE49-F238E27FC236}">
                <a16:creationId xmlns:a16="http://schemas.microsoft.com/office/drawing/2014/main" id="{F73E5200-88F4-42A6-AC7F-3E308B0304EB}"/>
              </a:ext>
            </a:extLst>
          </p:cNvPr>
          <p:cNvSpPr/>
          <p:nvPr/>
        </p:nvSpPr>
        <p:spPr>
          <a:xfrm rot="16200000">
            <a:off x="4016477" y="2280685"/>
            <a:ext cx="175501" cy="296787"/>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矢印: 折線 3">
            <a:extLst>
              <a:ext uri="{FF2B5EF4-FFF2-40B4-BE49-F238E27FC236}">
                <a16:creationId xmlns:a16="http://schemas.microsoft.com/office/drawing/2014/main" id="{5DFD704C-7A95-4E4A-BB32-5AF2BE4809E1}"/>
              </a:ext>
            </a:extLst>
          </p:cNvPr>
          <p:cNvSpPr/>
          <p:nvPr/>
        </p:nvSpPr>
        <p:spPr>
          <a:xfrm>
            <a:off x="1291282" y="2326198"/>
            <a:ext cx="714934" cy="384749"/>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0" name="矢印: 折線 19">
            <a:extLst>
              <a:ext uri="{FF2B5EF4-FFF2-40B4-BE49-F238E27FC236}">
                <a16:creationId xmlns:a16="http://schemas.microsoft.com/office/drawing/2014/main" id="{758C6E2B-0BC1-403E-93AB-633BB35937C2}"/>
              </a:ext>
            </a:extLst>
          </p:cNvPr>
          <p:cNvSpPr/>
          <p:nvPr/>
        </p:nvSpPr>
        <p:spPr>
          <a:xfrm flipV="1">
            <a:off x="1291282" y="3490967"/>
            <a:ext cx="714934" cy="384749"/>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0" name="フローチャート: 準備 9">
            <a:extLst>
              <a:ext uri="{FF2B5EF4-FFF2-40B4-BE49-F238E27FC236}">
                <a16:creationId xmlns:a16="http://schemas.microsoft.com/office/drawing/2014/main" id="{280A834A-B4FF-4B2E-A4AE-4F8AAD767DA9}"/>
              </a:ext>
            </a:extLst>
          </p:cNvPr>
          <p:cNvSpPr/>
          <p:nvPr/>
        </p:nvSpPr>
        <p:spPr>
          <a:xfrm>
            <a:off x="6072927" y="2885486"/>
            <a:ext cx="852614" cy="430942"/>
          </a:xfrm>
          <a:prstGeom prst="flowChartPreparation">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rPr>
              <a:t>合成</a:t>
            </a:r>
          </a:p>
        </p:txBody>
      </p:sp>
      <p:sp>
        <p:nvSpPr>
          <p:cNvPr id="22" name="矢印: 下 21">
            <a:extLst>
              <a:ext uri="{FF2B5EF4-FFF2-40B4-BE49-F238E27FC236}">
                <a16:creationId xmlns:a16="http://schemas.microsoft.com/office/drawing/2014/main" id="{69C028A6-C329-4198-A93D-509E5C8336EC}"/>
              </a:ext>
            </a:extLst>
          </p:cNvPr>
          <p:cNvSpPr/>
          <p:nvPr/>
        </p:nvSpPr>
        <p:spPr>
          <a:xfrm rot="16200000">
            <a:off x="7054231" y="2978108"/>
            <a:ext cx="175501" cy="296787"/>
          </a:xfrm>
          <a:prstGeom prst="downArrow">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矢印: 折線 22">
            <a:extLst>
              <a:ext uri="{FF2B5EF4-FFF2-40B4-BE49-F238E27FC236}">
                <a16:creationId xmlns:a16="http://schemas.microsoft.com/office/drawing/2014/main" id="{C2C6DC7E-941A-4C76-AFB5-2A2BF56D3421}"/>
              </a:ext>
            </a:extLst>
          </p:cNvPr>
          <p:cNvSpPr/>
          <p:nvPr/>
        </p:nvSpPr>
        <p:spPr>
          <a:xfrm rot="5400000">
            <a:off x="6219782" y="2339501"/>
            <a:ext cx="357465" cy="440277"/>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4" name="矢印: 折線 23">
            <a:extLst>
              <a:ext uri="{FF2B5EF4-FFF2-40B4-BE49-F238E27FC236}">
                <a16:creationId xmlns:a16="http://schemas.microsoft.com/office/drawing/2014/main" id="{2DE8548F-7B91-4009-894D-10D17FB4BD42}"/>
              </a:ext>
            </a:extLst>
          </p:cNvPr>
          <p:cNvSpPr/>
          <p:nvPr/>
        </p:nvSpPr>
        <p:spPr>
          <a:xfrm rot="16200000" flipV="1">
            <a:off x="6183045" y="3440106"/>
            <a:ext cx="430941" cy="440277"/>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1" name="テキスト ボックス 20">
            <a:extLst>
              <a:ext uri="{FF2B5EF4-FFF2-40B4-BE49-F238E27FC236}">
                <a16:creationId xmlns:a16="http://schemas.microsoft.com/office/drawing/2014/main" id="{56EB9E97-A108-4914-9FA9-3D354BDA383C}"/>
              </a:ext>
            </a:extLst>
          </p:cNvPr>
          <p:cNvSpPr txBox="1"/>
          <p:nvPr/>
        </p:nvSpPr>
        <p:spPr>
          <a:xfrm>
            <a:off x="6161415" y="2839347"/>
            <a:ext cx="306124" cy="261610"/>
          </a:xfrm>
          <a:prstGeom prst="rect">
            <a:avLst/>
          </a:prstGeom>
          <a:noFill/>
        </p:spPr>
        <p:txBody>
          <a:bodyPr wrap="square" rtlCol="0">
            <a:spAutoFit/>
          </a:bodyPr>
          <a:lstStyle/>
          <a:p>
            <a:r>
              <a:rPr kumimoji="1" lang="en-US" altLang="ja-JP" sz="1100" dirty="0"/>
              <a:t>※</a:t>
            </a:r>
            <a:endParaRPr kumimoji="1" lang="ja-JP" altLang="en-US" sz="1100" dirty="0"/>
          </a:p>
        </p:txBody>
      </p:sp>
      <p:sp>
        <p:nvSpPr>
          <p:cNvPr id="26" name="テキスト ボックス 25">
            <a:extLst>
              <a:ext uri="{FF2B5EF4-FFF2-40B4-BE49-F238E27FC236}">
                <a16:creationId xmlns:a16="http://schemas.microsoft.com/office/drawing/2014/main" id="{B87F281A-F4EA-47E3-A3A9-249E39FCE4A2}"/>
              </a:ext>
            </a:extLst>
          </p:cNvPr>
          <p:cNvSpPr txBox="1"/>
          <p:nvPr/>
        </p:nvSpPr>
        <p:spPr>
          <a:xfrm>
            <a:off x="4856674" y="4383748"/>
            <a:ext cx="3523960" cy="261610"/>
          </a:xfrm>
          <a:prstGeom prst="rect">
            <a:avLst/>
          </a:prstGeom>
          <a:noFill/>
        </p:spPr>
        <p:txBody>
          <a:bodyPr wrap="square" rtlCol="0">
            <a:spAutoFit/>
          </a:bodyPr>
          <a:lstStyle/>
          <a:p>
            <a:r>
              <a:rPr kumimoji="1" lang="en-US" altLang="ja-JP" sz="1100" dirty="0"/>
              <a:t>※</a:t>
            </a:r>
            <a:r>
              <a:rPr kumimoji="1" lang="ja-JP" altLang="en-US" sz="1100" dirty="0"/>
              <a:t> </a:t>
            </a:r>
            <a:r>
              <a:rPr kumimoji="1" lang="en-US" altLang="ja-JP" sz="1100" dirty="0"/>
              <a:t>y = </a:t>
            </a:r>
            <a:r>
              <a:rPr kumimoji="1" lang="en-US" altLang="ja-JP" sz="1100" dirty="0" err="1"/>
              <a:t>p_Low</a:t>
            </a:r>
            <a:r>
              <a:rPr kumimoji="1" lang="en-US" altLang="ja-JP" sz="1100" dirty="0"/>
              <a:t> * </a:t>
            </a:r>
            <a:r>
              <a:rPr kumimoji="1" lang="cy-GB" altLang="ja-JP" sz="1100" dirty="0"/>
              <a:t>ŷ</a:t>
            </a:r>
            <a:r>
              <a:rPr kumimoji="1" lang="en-US" altLang="ja-JP" sz="1100" dirty="0"/>
              <a:t>_Low</a:t>
            </a:r>
            <a:r>
              <a:rPr kumimoji="1" lang="ja-JP" altLang="en-US" sz="1100" dirty="0"/>
              <a:t> </a:t>
            </a:r>
            <a:r>
              <a:rPr kumimoji="1" lang="en-US" altLang="ja-JP" sz="1100" dirty="0"/>
              <a:t>+ </a:t>
            </a:r>
            <a:r>
              <a:rPr kumimoji="1" lang="en-US" altLang="ja-JP" sz="1100" dirty="0" err="1"/>
              <a:t>p_Mid</a:t>
            </a:r>
            <a:r>
              <a:rPr kumimoji="1" lang="en-US" altLang="ja-JP" sz="1100" dirty="0"/>
              <a:t> * </a:t>
            </a:r>
            <a:r>
              <a:rPr kumimoji="1" lang="cy-GB" altLang="ja-JP" sz="1100" dirty="0"/>
              <a:t>ŷ</a:t>
            </a:r>
            <a:r>
              <a:rPr kumimoji="1" lang="en-US" altLang="ja-JP" sz="1100" dirty="0"/>
              <a:t>_Mid + </a:t>
            </a:r>
            <a:r>
              <a:rPr kumimoji="1" lang="en-US" altLang="ja-JP" sz="1100" dirty="0" err="1"/>
              <a:t>p_High</a:t>
            </a:r>
            <a:r>
              <a:rPr kumimoji="1" lang="en-US" altLang="ja-JP" sz="1100" dirty="0"/>
              <a:t> * </a:t>
            </a:r>
            <a:r>
              <a:rPr kumimoji="1" lang="cy-GB" altLang="ja-JP" sz="1100" dirty="0"/>
              <a:t>ŷ</a:t>
            </a:r>
            <a:r>
              <a:rPr kumimoji="1" lang="en-US" altLang="ja-JP" sz="1100" dirty="0"/>
              <a:t>_High </a:t>
            </a:r>
            <a:endParaRPr kumimoji="1" lang="ja-JP" altLang="en-US" sz="1100" dirty="0"/>
          </a:p>
        </p:txBody>
      </p:sp>
      <p:sp>
        <p:nvSpPr>
          <p:cNvPr id="6" name="正方形/長方形 5">
            <a:extLst>
              <a:ext uri="{FF2B5EF4-FFF2-40B4-BE49-F238E27FC236}">
                <a16:creationId xmlns:a16="http://schemas.microsoft.com/office/drawing/2014/main" id="{CBB071A1-EFF8-4D7F-B4FF-3B4E5C5DDBC2}"/>
              </a:ext>
            </a:extLst>
          </p:cNvPr>
          <p:cNvSpPr/>
          <p:nvPr/>
        </p:nvSpPr>
        <p:spPr>
          <a:xfrm>
            <a:off x="6618653" y="1611224"/>
            <a:ext cx="1865874" cy="7535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100" dirty="0">
                <a:solidFill>
                  <a:schemeClr val="tx1"/>
                </a:solidFill>
              </a:rPr>
              <a:t>Low</a:t>
            </a:r>
            <a:r>
              <a:rPr kumimoji="1" lang="ja-JP" altLang="en-US" sz="1100" dirty="0">
                <a:solidFill>
                  <a:schemeClr val="tx1"/>
                </a:solidFill>
              </a:rPr>
              <a:t>： ～</a:t>
            </a:r>
            <a:r>
              <a:rPr kumimoji="1" lang="en-US" altLang="ja-JP" sz="1100" dirty="0">
                <a:solidFill>
                  <a:schemeClr val="tx1"/>
                </a:solidFill>
              </a:rPr>
              <a:t>1500</a:t>
            </a:r>
            <a:r>
              <a:rPr kumimoji="1" lang="ja-JP" altLang="en-US" sz="1100" dirty="0">
                <a:solidFill>
                  <a:schemeClr val="tx1"/>
                </a:solidFill>
              </a:rPr>
              <a:t>万円</a:t>
            </a:r>
            <a:endParaRPr kumimoji="1" lang="en-US" altLang="ja-JP" sz="1100" dirty="0">
              <a:solidFill>
                <a:schemeClr val="tx1"/>
              </a:solidFill>
            </a:endParaRPr>
          </a:p>
          <a:p>
            <a:r>
              <a:rPr kumimoji="1" lang="en-US" altLang="ja-JP" sz="1100" dirty="0">
                <a:solidFill>
                  <a:schemeClr val="tx1"/>
                </a:solidFill>
              </a:rPr>
              <a:t>Mid</a:t>
            </a:r>
            <a:r>
              <a:rPr kumimoji="1" lang="ja-JP" altLang="en-US" sz="1100" dirty="0">
                <a:solidFill>
                  <a:schemeClr val="tx1"/>
                </a:solidFill>
              </a:rPr>
              <a:t>：</a:t>
            </a:r>
            <a:r>
              <a:rPr kumimoji="1" lang="en-US" altLang="ja-JP" sz="1100" dirty="0">
                <a:solidFill>
                  <a:schemeClr val="tx1"/>
                </a:solidFill>
              </a:rPr>
              <a:t>1500</a:t>
            </a:r>
            <a:r>
              <a:rPr kumimoji="1" lang="ja-JP" altLang="en-US" sz="1100" dirty="0">
                <a:solidFill>
                  <a:schemeClr val="tx1"/>
                </a:solidFill>
              </a:rPr>
              <a:t>万円～</a:t>
            </a:r>
            <a:r>
              <a:rPr kumimoji="1" lang="en-US" altLang="ja-JP" sz="1100" dirty="0">
                <a:solidFill>
                  <a:schemeClr val="tx1"/>
                </a:solidFill>
              </a:rPr>
              <a:t>3000</a:t>
            </a:r>
            <a:r>
              <a:rPr kumimoji="1" lang="ja-JP" altLang="en-US" sz="1100" dirty="0">
                <a:solidFill>
                  <a:schemeClr val="tx1"/>
                </a:solidFill>
              </a:rPr>
              <a:t>万円</a:t>
            </a:r>
            <a:endParaRPr kumimoji="1" lang="en-US" altLang="ja-JP" sz="1100" dirty="0">
              <a:solidFill>
                <a:schemeClr val="tx1"/>
              </a:solidFill>
            </a:endParaRPr>
          </a:p>
          <a:p>
            <a:r>
              <a:rPr kumimoji="1" lang="en-US" altLang="ja-JP" sz="1100" dirty="0">
                <a:solidFill>
                  <a:schemeClr val="tx1"/>
                </a:solidFill>
              </a:rPr>
              <a:t>High</a:t>
            </a:r>
            <a:r>
              <a:rPr kumimoji="1" lang="ja-JP" altLang="en-US" sz="1100" dirty="0">
                <a:solidFill>
                  <a:schemeClr val="tx1"/>
                </a:solidFill>
              </a:rPr>
              <a:t>：</a:t>
            </a:r>
            <a:r>
              <a:rPr kumimoji="1" lang="en-US" altLang="ja-JP" sz="1100" dirty="0">
                <a:solidFill>
                  <a:schemeClr val="tx1"/>
                </a:solidFill>
              </a:rPr>
              <a:t>3000</a:t>
            </a:r>
            <a:r>
              <a:rPr kumimoji="1" lang="ja-JP" altLang="en-US" sz="1100" dirty="0">
                <a:solidFill>
                  <a:schemeClr val="tx1"/>
                </a:solidFill>
              </a:rPr>
              <a:t>万円～</a:t>
            </a:r>
            <a:endParaRPr kumimoji="1" lang="ja-JP" altLang="en-US" sz="1600" dirty="0">
              <a:solidFill>
                <a:schemeClr val="tx1"/>
              </a:solidFill>
            </a:endParaRPr>
          </a:p>
        </p:txBody>
      </p:sp>
    </p:spTree>
    <p:extLst>
      <p:ext uri="{BB962C8B-B14F-4D97-AF65-F5344CB8AC3E}">
        <p14:creationId xmlns:p14="http://schemas.microsoft.com/office/powerpoint/2010/main" val="2210856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500"/>
                                        <p:tgtEl>
                                          <p:spTgt spid="2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500"/>
                                        <p:tgtEl>
                                          <p:spTgt spid="2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500"/>
                                        <p:tgtEl>
                                          <p:spTgt spid="1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5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fade">
                                      <p:cBhvr>
                                        <p:cTn id="6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 grpId="0" animBg="1"/>
      <p:bldP spid="14" grpId="0" animBg="1"/>
      <p:bldP spid="15" grpId="0" animBg="1"/>
      <p:bldP spid="16" grpId="0" animBg="1"/>
      <p:bldP spid="18" grpId="0" animBg="1"/>
      <p:bldP spid="19" grpId="0" animBg="1"/>
      <p:bldP spid="4" grpId="0" animBg="1"/>
      <p:bldP spid="20" grpId="0" animBg="1"/>
      <p:bldP spid="10" grpId="0" animBg="1"/>
      <p:bldP spid="22" grpId="0" animBg="1"/>
      <p:bldP spid="23" grpId="0" animBg="1"/>
      <p:bldP spid="24" grpId="0" animBg="1"/>
      <p:bldP spid="21" grpId="0"/>
      <p:bldP spid="26" grpId="0"/>
      <p:bldP spid="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3671</TotalTime>
  <Words>1833</Words>
  <Application>Microsoft Office PowerPoint</Application>
  <PresentationFormat>画面に合わせる (16:9)</PresentationFormat>
  <Paragraphs>377</Paragraphs>
  <Slides>27</Slides>
  <Notes>27</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27</vt:i4>
      </vt:variant>
    </vt:vector>
  </HeadingPairs>
  <TitlesOfParts>
    <vt:vector size="31" baseType="lpstr">
      <vt:lpstr>游ゴシック</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ND015</cp:lastModifiedBy>
  <cp:revision>183</cp:revision>
  <dcterms:created xsi:type="dcterms:W3CDTF">2026-01-15T06:03:09Z</dcterms:created>
  <dcterms:modified xsi:type="dcterms:W3CDTF">2026-03-20T05:18:46Z</dcterms:modified>
</cp:coreProperties>
</file>